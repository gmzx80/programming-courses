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6ad45d48c74bb2" /><Relationship Type="http://schemas.openxmlformats.org/officeDocument/2006/relationships/extended-properties" Target="/docProps/app.xml" Id="R210611a4670945bf" /><Relationship Type="http://schemas.openxmlformats.org/officeDocument/2006/relationships/officeDocument" Target="/ppt/presentation.xml" Id="Rde9ef267f8a6421b" /></Relationships>
</file>

<file path=ppt/presentation.xml><?xml version="1.0" encoding="utf-8"?>
<p:presentation xmlns:p="http://schemas.openxmlformats.org/presentationml/2006/main">
  <p:sldMasterIdLst>
    <p:sldMasterId xmlns:r="http://schemas.openxmlformats.org/officeDocument/2006/relationships" id="2147483648" r:id="Rd7b8156c22194b04"/>
  </p:sldMasterIdLst>
  <p:notesMasterIdLst>
    <p:notesMasterId xmlns:r="http://schemas.openxmlformats.org/officeDocument/2006/relationships" r:id="Rcabe5941eb114e8e"/>
  </p:notesMasterIdLst>
  <p:sldIdLst>
    <p:sldId xmlns:r="http://schemas.openxmlformats.org/officeDocument/2006/relationships" id="256" r:id="R21d74a6a46204d41"/>
    <p:sldId xmlns:r="http://schemas.openxmlformats.org/officeDocument/2006/relationships" id="257" r:id="Rbc06bacf6c064066"/>
    <p:sldId xmlns:r="http://schemas.openxmlformats.org/officeDocument/2006/relationships" id="258" r:id="R30c81a4e14ae4343"/>
    <p:sldId xmlns:r="http://schemas.openxmlformats.org/officeDocument/2006/relationships" id="259" r:id="R13895bdf869c488d"/>
    <p:sldId xmlns:r="http://schemas.openxmlformats.org/officeDocument/2006/relationships" id="260" r:id="Rae6136547c1a45cc"/>
    <p:sldId xmlns:r="http://schemas.openxmlformats.org/officeDocument/2006/relationships" id="261" r:id="R642a437e1f954292"/>
    <p:sldId xmlns:r="http://schemas.openxmlformats.org/officeDocument/2006/relationships" id="262" r:id="Rafc6529ae6834ad6"/>
    <p:sldId xmlns:r="http://schemas.openxmlformats.org/officeDocument/2006/relationships" id="263" r:id="R28b7f4d1f5b3481c"/>
    <p:sldId xmlns:r="http://schemas.openxmlformats.org/officeDocument/2006/relationships" id="264" r:id="R3dbf7cda4bfd492a"/>
    <p:sldId xmlns:r="http://schemas.openxmlformats.org/officeDocument/2006/relationships" id="265" r:id="R42115354d6074769"/>
    <p:sldId xmlns:r="http://schemas.openxmlformats.org/officeDocument/2006/relationships" id="266" r:id="Reb8796c68f074091"/>
    <p:sldId xmlns:r="http://schemas.openxmlformats.org/officeDocument/2006/relationships" id="267" r:id="Raa263024171346c6"/>
    <p:sldId xmlns:r="http://schemas.openxmlformats.org/officeDocument/2006/relationships" id="268" r:id="Rc495f8a101c64193"/>
    <p:sldId xmlns:r="http://schemas.openxmlformats.org/officeDocument/2006/relationships" id="269" r:id="R196677a455e64784"/>
    <p:sldId xmlns:r="http://schemas.openxmlformats.org/officeDocument/2006/relationships" id="270" r:id="R67404a8d031740f1"/>
    <p:sldId xmlns:r="http://schemas.openxmlformats.org/officeDocument/2006/relationships" id="271" r:id="Re7a42aa8f1434de4"/>
    <p:sldId xmlns:r="http://schemas.openxmlformats.org/officeDocument/2006/relationships" id="272" r:id="R8c094d624fdc4ebd"/>
    <p:sldId xmlns:r="http://schemas.openxmlformats.org/officeDocument/2006/relationships" id="273" r:id="Re812465737ae4f5e"/>
    <p:sldId xmlns:r="http://schemas.openxmlformats.org/officeDocument/2006/relationships" id="274" r:id="R7570a16ce5dd428b"/>
    <p:sldId xmlns:r="http://schemas.openxmlformats.org/officeDocument/2006/relationships" id="275" r:id="R2360249fc3a14587"/>
    <p:sldId xmlns:r="http://schemas.openxmlformats.org/officeDocument/2006/relationships" id="276" r:id="R36e86e45c0914bf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9d148f4aaa4423" /><Relationship Type="http://schemas.openxmlformats.org/officeDocument/2006/relationships/slideMaster" Target="/ppt/slideMasters/slideMaster1.xml" Id="Rd7b8156c22194b04" /><Relationship Type="http://schemas.openxmlformats.org/officeDocument/2006/relationships/notesMaster" Target="/ppt/notesMasters/notesMaster1.xml" Id="Rcabe5941eb114e8e" /><Relationship Type="http://schemas.openxmlformats.org/officeDocument/2006/relationships/presProps" Target="/ppt/presProps.xml" Id="Ra71af8fbbad24998" /><Relationship Type="http://schemas.openxmlformats.org/officeDocument/2006/relationships/tableStyles" Target="/ppt/tableStyles.xml" Id="Ra54b70a16e9b4c51" /><Relationship Type="http://schemas.openxmlformats.org/officeDocument/2006/relationships/slide" Target="/ppt/slides/slide1.xml" Id="R21d74a6a46204d41" /><Relationship Type="http://schemas.openxmlformats.org/officeDocument/2006/relationships/slide" Target="/ppt/slides/slide2.xml" Id="Rbc06bacf6c064066" /><Relationship Type="http://schemas.openxmlformats.org/officeDocument/2006/relationships/slide" Target="/ppt/slides/slide3.xml" Id="R30c81a4e14ae4343" /><Relationship Type="http://schemas.openxmlformats.org/officeDocument/2006/relationships/slide" Target="/ppt/slides/slide4.xml" Id="R13895bdf869c488d" /><Relationship Type="http://schemas.openxmlformats.org/officeDocument/2006/relationships/slide" Target="/ppt/slides/slide5.xml" Id="Rae6136547c1a45cc" /><Relationship Type="http://schemas.openxmlformats.org/officeDocument/2006/relationships/slide" Target="/ppt/slides/slide6.xml" Id="R642a437e1f954292" /><Relationship Type="http://schemas.openxmlformats.org/officeDocument/2006/relationships/slide" Target="/ppt/slides/slide7.xml" Id="Rafc6529ae6834ad6" /><Relationship Type="http://schemas.openxmlformats.org/officeDocument/2006/relationships/slide" Target="/ppt/slides/slide8.xml" Id="R28b7f4d1f5b3481c" /><Relationship Type="http://schemas.openxmlformats.org/officeDocument/2006/relationships/slide" Target="/ppt/slides/slide9.xml" Id="R3dbf7cda4bfd492a" /><Relationship Type="http://schemas.openxmlformats.org/officeDocument/2006/relationships/slide" Target="/ppt/slides/slide10.xml" Id="R42115354d6074769" /><Relationship Type="http://schemas.openxmlformats.org/officeDocument/2006/relationships/slide" Target="/ppt/slides/slide11.xml" Id="Reb8796c68f074091" /><Relationship Type="http://schemas.openxmlformats.org/officeDocument/2006/relationships/slide" Target="/ppt/slides/slide12.xml" Id="Raa263024171346c6" /><Relationship Type="http://schemas.openxmlformats.org/officeDocument/2006/relationships/slide" Target="/ppt/slides/slide13.xml" Id="Rc495f8a101c64193" /><Relationship Type="http://schemas.openxmlformats.org/officeDocument/2006/relationships/slide" Target="/ppt/slides/slide14.xml" Id="R196677a455e64784" /><Relationship Type="http://schemas.openxmlformats.org/officeDocument/2006/relationships/slide" Target="/ppt/slides/slide15.xml" Id="R67404a8d031740f1" /><Relationship Type="http://schemas.openxmlformats.org/officeDocument/2006/relationships/slide" Target="/ppt/slides/slide16.xml" Id="Re7a42aa8f1434de4" /><Relationship Type="http://schemas.openxmlformats.org/officeDocument/2006/relationships/slide" Target="/ppt/slides/slide17.xml" Id="R8c094d624fdc4ebd" /><Relationship Type="http://schemas.openxmlformats.org/officeDocument/2006/relationships/slide" Target="/ppt/slides/slide18.xml" Id="Re812465737ae4f5e" /><Relationship Type="http://schemas.openxmlformats.org/officeDocument/2006/relationships/slide" Target="/ppt/slides/slide19.xml" Id="R7570a16ce5dd428b" /><Relationship Type="http://schemas.openxmlformats.org/officeDocument/2006/relationships/slide" Target="/ppt/slides/slide20.xml" Id="R2360249fc3a14587" /><Relationship Type="http://schemas.openxmlformats.org/officeDocument/2006/relationships/slide" Target="/ppt/slides/slide21.xml" Id="R36e86e45c0914b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3dcd4df2464d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11dc19283548bb" /><Relationship Type="http://schemas.openxmlformats.org/officeDocument/2006/relationships/notesMaster" Target="/ppt/notesMasters/notesMaster1.xml" Id="R0304add39c1b4de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1682e015cc4227" /><Relationship Type="http://schemas.openxmlformats.org/officeDocument/2006/relationships/notesMaster" Target="/ppt/notesMasters/notesMaster1.xml" Id="R55b849747f4740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c52702f001a4116" /><Relationship Type="http://schemas.openxmlformats.org/officeDocument/2006/relationships/notesMaster" Target="/ppt/notesMasters/notesMaster1.xml" Id="R3803c384f30b47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9cf631a1a043ec" /><Relationship Type="http://schemas.openxmlformats.org/officeDocument/2006/relationships/notesMaster" Target="/ppt/notesMasters/notesMaster1.xml" Id="R51c6c59aa32c4f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85e9db075d40c1" /><Relationship Type="http://schemas.openxmlformats.org/officeDocument/2006/relationships/notesMaster" Target="/ppt/notesMasters/notesMaster1.xml" Id="Ra88a04e2837f4f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a22e70738a4ed7" /><Relationship Type="http://schemas.openxmlformats.org/officeDocument/2006/relationships/notesMaster" Target="/ppt/notesMasters/notesMaster1.xml" Id="R469abb39018649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b6c24f47aa4ab0" /><Relationship Type="http://schemas.openxmlformats.org/officeDocument/2006/relationships/notesMaster" Target="/ppt/notesMasters/notesMaster1.xml" Id="Rc3c9a0a6dff3478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e755d7540ba4a37" /><Relationship Type="http://schemas.openxmlformats.org/officeDocument/2006/relationships/notesMaster" Target="/ppt/notesMasters/notesMaster1.xml" Id="R9937f783f2954c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24517b53a94c1c" /><Relationship Type="http://schemas.openxmlformats.org/officeDocument/2006/relationships/notesMaster" Target="/ppt/notesMasters/notesMaster1.xml" Id="R03169d280837448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76e11f3295c4a06" /><Relationship Type="http://schemas.openxmlformats.org/officeDocument/2006/relationships/notesMaster" Target="/ppt/notesMasters/notesMaster1.xml" Id="R1240ae1f7b3d4b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42eddae7f342e8" /><Relationship Type="http://schemas.openxmlformats.org/officeDocument/2006/relationships/notesMaster" Target="/ppt/notesMasters/notesMaster1.xml" Id="Rb490426df3ad43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e878ba2321405e" /><Relationship Type="http://schemas.openxmlformats.org/officeDocument/2006/relationships/notesMaster" Target="/ppt/notesMasters/notesMaster1.xml" Id="R33456616faac45d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5379aafd7147a5" /><Relationship Type="http://schemas.openxmlformats.org/officeDocument/2006/relationships/notesMaster" Target="/ppt/notesMasters/notesMaster1.xml" Id="Re774f74bb8f948a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baf1e6ad434590" /><Relationship Type="http://schemas.openxmlformats.org/officeDocument/2006/relationships/notesMaster" Target="/ppt/notesMasters/notesMaster1.xml" Id="R293eb1b0ce2e41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57e9b5820541da" /><Relationship Type="http://schemas.openxmlformats.org/officeDocument/2006/relationships/notesMaster" Target="/ppt/notesMasters/notesMaster1.xml" Id="Rb9876eb5896447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a55771c601d4fc5" /><Relationship Type="http://schemas.openxmlformats.org/officeDocument/2006/relationships/notesMaster" Target="/ppt/notesMasters/notesMaster1.xml" Id="R7aac3ae0aac545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7ea90b2be6b4eef" /><Relationship Type="http://schemas.openxmlformats.org/officeDocument/2006/relationships/notesMaster" Target="/ppt/notesMasters/notesMaster1.xml" Id="R6fa7faec35544b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57d7fb571074585" /><Relationship Type="http://schemas.openxmlformats.org/officeDocument/2006/relationships/notesMaster" Target="/ppt/notesMasters/notesMaster1.xml" Id="R2e4f409c21f844b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61b4f930314d6e" /><Relationship Type="http://schemas.openxmlformats.org/officeDocument/2006/relationships/notesMaster" Target="/ppt/notesMasters/notesMaster1.xml" Id="R76e16109b2ee487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68367ad9351490e" /><Relationship Type="http://schemas.openxmlformats.org/officeDocument/2006/relationships/notesMaster" Target="/ppt/notesMasters/notesMaster1.xml" Id="R1c8bc7409de945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86632aa6a0a4eef" /><Relationship Type="http://schemas.openxmlformats.org/officeDocument/2006/relationships/notesMaster" Target="/ppt/notesMasters/notesMaster1.xml" Id="Rbf046b7f672947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0:00-1:00.</a:t>
            </a:r>
          </a:p>
          <a:p xmlns:a="http://schemas.openxmlformats.org/drawingml/2006/main">
            <a:r>
              <a:t/>
            </a:r>
          </a:p>
          <a:p xmlns:a="http://schemas.openxmlformats.org/drawingml/2006/main">
            <a:r>
              <a:t>A student can learn to type a program without learning to judge one. That distinction is the subject of this lecture. We are not going to begin with syntax because syntax is not the difficult decision. The difficult decision is whether the computation represented by the program is appropriate for the requirement, the workload and the people who must depend upon it.</a:t>
            </a:r>
          </a:p>
          <a:p xmlns:a="http://schemas.openxmlformats.org/drawingml/2006/main">
            <a:r>
              <a:t/>
            </a:r>
          </a:p>
          <a:p xmlns:a="http://schemas.openxmlformats.org/drawingml/2006/main">
            <a:r>
              <a:t>The title comes directly from Lesson 1. The lecture develops its seven rules through one continuous state example. By the end, you should be able to look at a small program and ask more useful questions than merely, "Does it run?" You should be able to identify the state, the permitted changes, the component responsible for those changes and the evidence that would justify accepting the result.</a:t>
            </a:r>
          </a:p>
          <a:p xmlns:a="http://schemas.openxmlformats.org/drawingml/2006/main">
            <a:r>
              <a:t/>
            </a:r>
          </a:p>
          <a:p xmlns:a="http://schemas.openxmlformats.org/drawingml/2006/main">
            <a:r>
              <a:t>The image behind the title is not a picture of memory. It is a visual motif for relationships: instructions, state, evidence and judgement are connected, but they are not interchangeable.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a:p xmlns:a="http://schemas.openxmlformats.org/drawingml/2006/main">
            <a:r>
              <a:t>- Existing course artwork: https://cpp-programming.staticcarnival.com/assets/images/lesson-art/lesson-01-appropriate-programmer.png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1:00-3:00.</a:t>
            </a:r>
          </a:p>
          <a:p xmlns:a="http://schemas.openxmlformats.org/drawingml/2006/main">
            <a:r>
              <a:t/>
            </a:r>
          </a:p>
          <a:p xmlns:a="http://schemas.openxmlformats.org/drawingml/2006/main">
            <a:r>
              <a:t>Suppose a program compiles without error, runs to completion and prints 42. This is the result we hoped to see. It is tempting to call the program correct and move on. What has actually been established?</a:t>
            </a:r>
          </a:p>
          <a:p xmlns:a="http://schemas.openxmlformats.org/drawingml/2006/main">
            <a:r>
              <a:t/>
            </a:r>
          </a:p>
          <a:p xmlns:a="http://schemas.openxmlformats.org/drawingml/2006/main">
            <a:r>
              <a:t>We have established three observations. One build completed. One execution reached the output. One path produced the number 42. These observations are useful, but they are narrower than the claim that the program is appropriate. We have not examined an empty input, an invalid value, a different build, a workload ten times larger or a resource that should have been released. We do not yet know whether 42 came from the required computation or from an accidental path that happens to agree with this example.</a:t>
            </a:r>
          </a:p>
          <a:p xmlns:a="http://schemas.openxmlformats.org/drawingml/2006/main">
            <a:r>
              <a:t/>
            </a:r>
          </a:p>
          <a:p xmlns:a="http://schemas.openxmlformats.org/drawingml/2006/main">
            <a:r>
              <a:t>Compiling, running and obtaining the expected answer are necessary in ordinary development. They are not sufficient evidence. The lecture will repeatedly preserve that distinction: observed success tells us something, but we must state exactly what it tells us.</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3:00-5:00.</a:t>
            </a:r>
          </a:p>
          <a:p xmlns:a="http://schemas.openxmlformats.org/drawingml/2006/main">
            <a:r>
              <a:t/>
            </a:r>
          </a:p>
          <a:p xmlns:a="http://schemas.openxmlformats.org/drawingml/2006/main">
            <a:r>
              <a:t>An appropriate program connects several things that are often discussed separately. There must be an observable requirement. The program must represent valid state and control the transitions between states. Important responsibilities and failure boundaries must be visible. The work must fit the relevant resource budget. Finally, the evidence must support the property we are claiming under the conditions in which we claim it.</a:t>
            </a:r>
          </a:p>
          <a:p xmlns:a="http://schemas.openxmlformats.org/drawingml/2006/main">
            <a:r>
              <a:t/>
            </a:r>
          </a:p>
          <a:p xmlns:a="http://schemas.openxmlformats.org/drawingml/2006/main">
            <a:r>
              <a:t>This is a chain rather than a checklist whose parts may be selected for convenience. An elegant implementation of a vague requirement is still vague. A perfect state model with no evidence remains a proposal. A fast result that corrupts state is not rescued by its speed. A passing demonstration does not establish that another programmer can safely change the system.</a:t>
            </a:r>
          </a:p>
          <a:p xmlns:a="http://schemas.openxmlformats.org/drawingml/2006/main">
            <a:r>
              <a:t/>
            </a:r>
          </a:p>
          <a:p xmlns:a="http://schemas.openxmlformats.org/drawingml/2006/main">
            <a:r>
              <a:t>Appropriateness is therefore a judgement earned by the connection between requirement, representation, implementation and evidence. The judgement belongs to the programmer even when somebody else, or a generative system, produced the source code.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5:00-10:00.</a:t>
            </a:r>
          </a:p>
          <a:p xmlns:a="http://schemas.openxmlformats.org/drawingml/2006/main">
            <a:r>
              <a:t/>
            </a:r>
          </a:p>
          <a:p xmlns:a="http://schemas.openxmlformats.org/drawingml/2006/main">
            <a:r>
              <a:t>Lesson 1 presents seven rules. The slide uses short review labels for legibility; they are not replacements for the full rule statements in Lesson 1. Here the rules are used as questions for a design review rather than seven slogans to memorise. Rule 1 asks which path threatens which measurable time or storage budget. Rule 2 asks where state exists, how it changes and where invalid state can enter. Rule 3 asks which claim each piece of evidence supports and where that support ends.</a:t>
            </a:r>
          </a:p>
          <a:p xmlns:a="http://schemas.openxmlformats.org/drawingml/2006/main">
            <a:r>
              <a:t/>
            </a:r>
          </a:p>
          <a:p xmlns:a="http://schemas.openxmlformats.org/drawingml/2006/main">
            <a:r>
              <a:t>Rule 4 concerns existing expertise. Modern programs depend on libraries, operating systems, compilers and drivers. The sensible requirement is not that every dependency be reimplemented. It is that the contract we rely upon, its ownership rules, failure behaviour and relevant cost are understood in proportion to the consequence of being wrong.</a:t>
            </a:r>
          </a:p>
          <a:p xmlns:a="http://schemas.openxmlformats.org/drawingml/2006/main">
            <a:r>
              <a:t/>
            </a:r>
          </a:p>
          <a:p xmlns:a="http://schemas.openxmlformats.org/drawingml/2006/main">
            <a:r>
              <a:t>Rule 5 asks what useful outcome a decision creates rather than how much visible activity surrounded it. Rule 6 asks whether another programmer can understand and safely extend the result. Rule 7 protects exploration and revision: discovering that the model was incomplete is progress if the evidence is used to improve it.</a:t>
            </a:r>
          </a:p>
          <a:p xmlns:a="http://schemas.openxmlformats.org/drawingml/2006/main">
            <a:r>
              <a:t/>
            </a:r>
          </a:p>
          <a:p xmlns:a="http://schemas.openxmlformats.org/drawingml/2006/main">
            <a:r>
              <a:t>The rules will now be tested against a small object.</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10:00-12:00.</a:t>
            </a:r>
          </a:p>
          <a:p xmlns:a="http://schemas.openxmlformats.org/drawingml/2006/main">
            <a:r>
              <a:t/>
            </a:r>
          </a:p>
          <a:p xmlns:a="http://schemas.openxmlformats.org/drawingml/2006/main">
            <a:r>
              <a:t>Return to the number 42. A successful demonstration is an event. An engineering argument connects that event to a requirement and explains why the observation is sufficient for the particular claim.</a:t>
            </a:r>
          </a:p>
          <a:p xmlns:a="http://schemas.openxmlformats.org/drawingml/2006/main">
            <a:r>
              <a:t/>
            </a:r>
          </a:p>
          <a:p xmlns:a="http://schemas.openxmlformats.org/drawingml/2006/main">
            <a:r>
              <a:t>If the requirement merely says that one fixed invocation must display 42, the demonstration may be enough. Most programs make broader claims. They accept more than one input, maintain state across more than one operation, allocate resources, respond to failure and operate under a workload. Every broader claim creates additional cases and relationships that a single path cannot expose.</a:t>
            </a:r>
          </a:p>
          <a:p xmlns:a="http://schemas.openxmlformats.org/drawingml/2006/main">
            <a:r>
              <a:t/>
            </a:r>
          </a:p>
          <a:p xmlns:a="http://schemas.openxmlformats.org/drawingml/2006/main">
            <a:r>
              <a:t>This does not mean testing every imaginable state by exhaustion. It means identifying the rule that must remain true and selecting evidence capable of challenging it. We will use a game-health example because the state is small enough to trace completely on the screen. The purpose is not to teach all of class syntax today. The purpose is to make the represented computation visible.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12:00-14:00.</a:t>
            </a:r>
          </a:p>
          <a:p xmlns:a="http://schemas.openxmlformats.org/drawingml/2006/main">
            <a:r>
              <a:t/>
            </a:r>
          </a:p>
          <a:p xmlns:a="http://schemas.openxmlformats.org/drawingml/2006/main">
            <a:r>
              <a:t>Novice programmers often follow execution as a stream of source lines. That is sometimes necessary, but it is a poor first model. The more useful question is: which object can change, and what will be true after the operation?</a:t>
            </a:r>
          </a:p>
          <a:p xmlns:a="http://schemas.openxmlformats.org/drawingml/2006/main">
            <a:r>
              <a:t/>
            </a:r>
          </a:p>
          <a:p xmlns:a="http://schemas.openxmlformats.org/drawingml/2006/main">
            <a:r>
              <a:t>The expression health.take_damage(3) is short. Its computational meaning is not the spelling of the line. There is an existing object. It contains state. The operation receives a request, checks a condition, calculates a candidate value and either changes the stored state or rejects the request. Other queries derive information from that state.</a:t>
            </a:r>
          </a:p>
          <a:p xmlns:a="http://schemas.openxmlformats.org/drawingml/2006/main">
            <a:r>
              <a:t/>
            </a:r>
          </a:p>
          <a:p xmlns:a="http://schemas.openxmlformats.org/drawingml/2006/main">
            <a:r>
              <a:t>A state trace records only the changes and the rules that govern them. The trace from 10 to 7 to 0 tells us more about this example than repeatedly pointing at the next line to execute. Later lectures will add function calls, addresses, ownership and lifetime. For the moment, we need a disciplined account of the object and its state.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14:00-17:00.</a:t>
            </a:r>
          </a:p>
          <a:p xmlns:a="http://schemas.openxmlformats.org/drawingml/2006/main">
            <a:r>
              <a:t/>
            </a:r>
          </a:p>
          <a:p xmlns:a="http://schemas.openxmlformats.org/drawingml/2006/main">
            <a:r>
              <a:t>This memory account will recur throughout all ten lectures. It begins with the source name, the C++ type, the object and the value or state represented by that object. We then record valid states, permitted changes, responsibility, lifetime and evidence. As the course progresses, we will add addresses, aliases, extent, subobjects and ownership.</a:t>
            </a:r>
          </a:p>
          <a:p xmlns:a="http://schemas.openxmlformats.org/drawingml/2006/main">
            <a:r>
              <a:t/>
            </a:r>
          </a:p>
          <a:p xmlns:a="http://schemas.openxmlformats.org/drawingml/2006/main">
            <a:r>
              <a:t>This is a language-level account. It is not yet a claim about exact physical bytes or a universal diagram of RAM. C++ lets us reason about objects and values without promising that every implementation uses the same byte pattern, address or amount of padding. When we later inspect a compiler result, we will label it as an observation of that implementation.</a:t>
            </a:r>
          </a:p>
          <a:p xmlns:a="http://schemas.openxmlformats.org/drawingml/2006/main">
            <a:r>
              <a:t/>
            </a:r>
          </a:p>
          <a:p xmlns:a="http://schemas.openxmlformats.org/drawingml/2006/main">
            <a:r>
              <a:t>For this lecture, the account performs one job: it prevents us from treating the source name, the stored state, a derived answer and the responsibility for changing that state as if they were the same thing. They are related. They are not interchangeable.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17:00-19:00.</a:t>
            </a:r>
          </a:p>
          <a:p xmlns:a="http://schemas.openxmlformats.org/drawingml/2006/main">
            <a:r>
              <a:t/>
            </a:r>
          </a:p>
          <a:p xmlns:a="http://schemas.openxmlformats.org/drawingml/2006/main">
            <a:r>
              <a:t>The proposed game requirement is deliberately small. Health must begin between zero and one hundred. Damage must never increase health. Damage must not reduce health below zero. Other code must be able to ask whether the player is alive.</a:t>
            </a:r>
          </a:p>
          <a:p xmlns:a="http://schemas.openxmlformats.org/drawingml/2006/main">
            <a:r>
              <a:t/>
            </a:r>
          </a:p>
          <a:p xmlns:a="http://schemas.openxmlformats.org/drawingml/2006/main">
            <a:r>
              <a:t>These sentences contain more design information than the phrase, "health is an integer". An integer could contain a negative value, a value above one hundred or a value changed directly by unrelated code. The requirement identifies a permitted range, two transition constraints and one query.</a:t>
            </a:r>
          </a:p>
          <a:p xmlns:a="http://schemas.openxmlformats.org/drawingml/2006/main">
            <a:r>
              <a:t/>
            </a:r>
          </a:p>
          <a:p xmlns:a="http://schemas.openxmlformats.org/drawingml/2006/main">
            <a:r>
              <a:t>Before choosing a class, we can now ask: what must be true, what state exists, who is responsible for preserving the rule, what may vary behind the boundary and what would count as evidence? The class becomes appropriate only if it provides a useful answer to those questions. A class used merely to make the diagram look settled adds ceremony, not architecture.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19:00-21:00.</a:t>
            </a:r>
          </a:p>
          <a:p xmlns:a="http://schemas.openxmlformats.org/drawingml/2006/main">
            <a:r>
              <a:t/>
            </a:r>
          </a:p>
          <a:p xmlns:a="http://schemas.openxmlformats.org/drawingml/2006/main">
            <a:r>
              <a:t>The invariant is the compact rule that must be true whenever a valid PlayerHealth object exists: points is at least zero and at most one hundred. The values outside that interval are not alternative health states. They are invalid states that the public operations must prevent.</a:t>
            </a:r>
          </a:p>
          <a:p xmlns:a="http://schemas.openxmlformats.org/drawingml/2006/main">
            <a:r>
              <a:t/>
            </a:r>
          </a:p>
          <a:p xmlns:a="http://schemas.openxmlformats.org/drawingml/2006/main">
            <a:r>
              <a:t>An invariant differs from a convenient example. Ten is a valid starting value, but the rule is not "health starts at ten". Seven is the result of one operation, but the rule is not "damage produces seven". The interval describes every completed state the object permits.</a:t>
            </a:r>
          </a:p>
          <a:p xmlns:a="http://schemas.openxmlformats.org/drawingml/2006/main">
            <a:r>
              <a:t/>
            </a:r>
          </a:p>
          <a:p xmlns:a="http://schemas.openxmlformats.org/drawingml/2006/main">
            <a:r>
              <a:t>The invariant also tells us where to look when reviewing the implementation. Construction must not complete with an invalid value. Every operation that mutates points must preserve the interval. Queries may report information derived from the state but must not silently change it. If another operation is added later, it inherits the same obligation.</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21:00-23:00.</a:t>
            </a:r>
          </a:p>
          <a:p xmlns:a="http://schemas.openxmlformats.org/drawingml/2006/main">
            <a:r>
              <a:t/>
            </a:r>
          </a:p>
          <a:p xmlns:a="http://schemas.openxmlformats.org/drawingml/2006/main">
            <a:r>
              <a:t>Now separate what the object stores from what the program can derive. Each PlayerHealth object has a data member named points_. That integer is the per-object stored state. The alive() member function computes whether points_ is greater than zero. The object does not need to store a second Boolean flag because the answer can be derived from the integer. Storing both would create two representations of the same fact and therefore a new possibility that they disagree.</a:t>
            </a:r>
          </a:p>
          <a:p xmlns:a="http://schemas.openxmlformats.org/drawingml/2006/main">
            <a:r>
              <a:t/>
            </a:r>
          </a:p>
          <a:p xmlns:a="http://schemas.openxmlformats.org/drawingml/2006/main">
            <a:r>
              <a:t>The maximum value is declared static constexpr. It is class-wide policy, not a separate integer data member stored inside every PlayerHealth object. This distinction matters because a diagram that draws points_, alive and maximum as three equal memory fields would misrepresent the program.</a:t>
            </a:r>
          </a:p>
          <a:p xmlns:a="http://schemas.openxmlformats.org/drawingml/2006/main">
            <a:r>
              <a:t/>
            </a:r>
          </a:p>
          <a:p xmlns:a="http://schemas.openxmlformats.org/drawingml/2006/main">
            <a:r>
              <a:t>We are still not claiming that the complete object occupies exactly four bytes. The size and representation of int, and any padding in a class, are implementation questions we will inspect later. Today we are identifying the language-level state and policy.</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a:p xmlns:a="http://schemas.openxmlformats.org/drawingml/2006/main">
            <a:r>
              <a:t>- C++ Core Guidelines C.2: https://isocpp.github.io/CppCoreGuidelines/CppCoreGuidelines#Rc-struct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23:00-26:00.</a:t>
            </a:r>
          </a:p>
          <a:p xmlns:a="http://schemas.openxmlformats.org/drawingml/2006/main">
            <a:r>
              <a:t/>
            </a:r>
          </a:p>
          <a:p xmlns:a="http://schemas.openxmlformats.org/drawingml/2006/main">
            <a:r>
              <a:t>Read the public names as promises. The constructor accepts an initial value and refuses to complete construction when the request lies outside the permitted range. points() reports the stored number. alive() derives a Boolean answer. take_damage() is the only public state-changing operation shown here.</a:t>
            </a:r>
          </a:p>
          <a:p xmlns:a="http://schemas.openxmlformats.org/drawingml/2006/main">
            <a:r>
              <a:t/>
            </a:r>
          </a:p>
          <a:p xmlns:a="http://schemas.openxmlformats.org/drawingml/2006/main">
            <a:r>
              <a:t>The important restriction is private points_. Ordinary calling code cannot assign an arbitrary value directly. It must request a transition through the public interface. This gives one component responsibility for the invariant. Private access is not a security boundary and it cannot protect the object from unrelated undefined behaviour or arbitrary memory corruption. Its job here is narrower and useful: normal C++ code using the type must pass through the stated interface.</a:t>
            </a:r>
          </a:p>
          <a:p xmlns:a="http://schemas.openxmlformats.org/drawingml/2006/main">
            <a:r>
              <a:t/>
            </a:r>
          </a:p>
          <a:p xmlns:a="http://schemas.openxmlformats.org/drawingml/2006/main">
            <a:r>
              <a:t>Inside take_damage, a negative request is rejected before mutation. A valid amount is subtracted and the result is clamped at zero. Every completed call therefore preserves the interval. The class earns its boundary because all permitted changes share the same rule.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a:p xmlns:a="http://schemas.openxmlformats.org/drawingml/2006/main">
            <a:r>
              <a:t>- C++ Core Guidelines C.2: https://isocpp.github.io/CppCoreGuidelines/CppCoreGuidelines#Rc-struct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26:00-28:00.</a:t>
            </a:r>
          </a:p>
          <a:p xmlns:a="http://schemas.openxmlformats.org/drawingml/2006/main">
            <a:r>
              <a:t/>
            </a:r>
          </a:p>
          <a:p xmlns:a="http://schemas.openxmlformats.org/drawingml/2006/main">
            <a:r>
              <a:t>The main function creates one local object named health with an initial request of ten. The object is then queried, changed twice and queried again. Every statement refers to the same object. No second PlayerHealth object is created by these calls.</a:t>
            </a:r>
          </a:p>
          <a:p xmlns:a="http://schemas.openxmlformats.org/drawingml/2006/main">
            <a:r>
              <a:t/>
            </a:r>
          </a:p>
          <a:p xmlns:a="http://schemas.openxmlformats.org/drawingml/2006/main">
            <a:r>
              <a:t>The output is start ten, after three damage seven and after twenty damage zero. Two assertions check selected observations in the shown program. Remember that an assertion may be removed when NDEBUG is defined, so the presence of assert in the source is not a universal production-time check. It is one form of development evidence.</a:t>
            </a:r>
          </a:p>
          <a:p xmlns:a="http://schemas.openxmlformats.org/drawingml/2006/main">
            <a:r>
              <a:t/>
            </a:r>
          </a:p>
          <a:p xmlns:a="http://schemas.openxmlformats.org/drawingml/2006/main">
            <a:r>
              <a:t>The local object exists during its scope in main. We will treat lifetime formally in a later lecture. For this trace, it is sufficient to record that the state changes belong to one completed object, and that its queries and transitions use the same stored points_ value.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28:00-30:00.</a:t>
            </a:r>
          </a:p>
          <a:p xmlns:a="http://schemas.openxmlformats.org/drawingml/2006/main">
            <a:r>
              <a:t/>
            </a:r>
          </a:p>
          <a:p xmlns:a="http://schemas.openxmlformats.org/drawingml/2006/main">
            <a:r>
              <a:t>Construction begins with a request: create PlayerHealth with the initial value ten. The constructor initialises points_ and checks whether the request lies within the permitted interval. Because ten is valid, construction completes and a PlayerHealth object exists with stored state ten. alive() would derive true.</a:t>
            </a:r>
          </a:p>
          <a:p xmlns:a="http://schemas.openxmlformats.org/drawingml/2006/main">
            <a:r>
              <a:t/>
            </a:r>
          </a:p>
          <a:p xmlns:a="http://schemas.openxmlformats.org/drawingml/2006/main">
            <a:r>
              <a:t>The wording matters when the input is invalid. The data member is initialised before the constructor body performs its check, but if the constructor throws, construction does not complete and no valid PlayerHealth object emerges for the caller to use. We should not draw an invalid completed object sitting beside the valid range.</a:t>
            </a:r>
          </a:p>
          <a:p xmlns:a="http://schemas.openxmlformats.org/drawingml/2006/main">
            <a:r>
              <a:t/>
            </a:r>
          </a:p>
          <a:p xmlns:a="http://schemas.openxmlformats.org/drawingml/2006/main">
            <a:r>
              <a:t>The first transition is therefore from no completed object to a valid object with state ten. The invariant is a property of completed valid objects. The constructor is responsible for ensuring that the boundary is satisfied before the object becomes available to the rest of the program.</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30:00-32:00.</a:t>
            </a:r>
          </a:p>
          <a:p xmlns:a="http://schemas.openxmlformats.org/drawingml/2006/main">
            <a:r>
              <a:t/>
            </a:r>
          </a:p>
          <a:p xmlns:a="http://schemas.openxmlformats.org/drawingml/2006/main">
            <a:r>
              <a:t>The next request is take_damage(3). The state before the call is ten. The amount is non-negative, so the request is permitted. The implementation calculates ten minus three and clamps the result at zero. The stored points_ value becomes seven.</a:t>
            </a:r>
          </a:p>
          <a:p xmlns:a="http://schemas.openxmlformats.org/drawingml/2006/main">
            <a:r>
              <a:t/>
            </a:r>
          </a:p>
          <a:p xmlns:a="http://schemas.openxmlformats.org/drawingml/2006/main">
            <a:r>
              <a:t>Two things remain true. Seven lies within the invariant, and alive() still derives true because seven is greater than zero. Notice that alive did not have to be updated. It is calculated from the one stored state whenever queried.</a:t>
            </a:r>
          </a:p>
          <a:p xmlns:a="http://schemas.openxmlformats.org/drawingml/2006/main">
            <a:r>
              <a:t/>
            </a:r>
          </a:p>
          <a:p xmlns:a="http://schemas.openxmlformats.org/drawingml/2006/main">
            <a:r>
              <a:t>This is a small transition, but it demonstrates the course method. Record the object, state before, condition checked, operation, state after and invariant. If the result were wrong, one of these entries would expose where the model and implementation diverged. Merely saying that the line executed would not tell us which rule it was supposed to preserve.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32:00-34:00.</a:t>
            </a:r>
          </a:p>
          <a:p xmlns:a="http://schemas.openxmlformats.org/drawingml/2006/main">
            <a:r>
              <a:t/>
            </a:r>
          </a:p>
          <a:p xmlns:a="http://schemas.openxmlformats.org/drawingml/2006/main">
            <a:r>
              <a:t>The second damage request is twenty while the stored state is seven. A naive subtraction would produce minus thirteen, which lies outside the valid interval. The implementation uses std::max with zero, so the candidate result is clamped at the lower boundary. points_ becomes zero rather than minus thirteen.</a:t>
            </a:r>
          </a:p>
          <a:p xmlns:a="http://schemas.openxmlformats.org/drawingml/2006/main">
            <a:r>
              <a:t/>
            </a:r>
          </a:p>
          <a:p xmlns:a="http://schemas.openxmlformats.org/drawingml/2006/main">
            <a:r>
              <a:t>The invariant remains true. alive() now derives false because zero is not greater than zero. Again, no separate alive flag changes. The query reports a consequence of the stored state.</a:t>
            </a:r>
          </a:p>
          <a:p xmlns:a="http://schemas.openxmlformats.org/drawingml/2006/main">
            <a:r>
              <a:t/>
            </a:r>
          </a:p>
          <a:p xmlns:a="http://schemas.openxmlformats.org/drawingml/2006/main">
            <a:r>
              <a:t>This transition demonstrates why the requirement must be visible in the implementation. If health were merely a public integer, every caller would have to remember the clamping policy. Some would apply it, some would forget it and some would implement a different interpretation. Centralising the operation gives one place responsibility for the shared rule.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34:00-36:00.</a:t>
            </a:r>
          </a:p>
          <a:p xmlns:a="http://schemas.openxmlformats.org/drawingml/2006/main">
            <a:r>
              <a:t/>
            </a:r>
          </a:p>
          <a:p xmlns:a="http://schemas.openxmlformats.org/drawingml/2006/main">
            <a:r>
              <a:t>The lesson's transition table also considers take_damage(-2). This call is not executed by the main function shown on the preceding slide, and it does not appear in the displayed output. It is an additional reasoned case.</a:t>
            </a:r>
          </a:p>
          <a:p xmlns:a="http://schemas.openxmlformats.org/drawingml/2006/main">
            <a:r>
              <a:t/>
            </a:r>
          </a:p>
          <a:p xmlns:a="http://schemas.openxmlformats.org/drawingml/2006/main">
            <a:r>
              <a:t>The request is rejected because a negative damage amount would contradict the operation's meaning. The exception is raised before points_ is mutated, so any existing valid state remains unchanged. The invariant is preserved by refusing the transition rather than by calculating a new state.</a:t>
            </a:r>
          </a:p>
          <a:p xmlns:a="http://schemas.openxmlformats.org/drawingml/2006/main">
            <a:r>
              <a:t/>
            </a:r>
          </a:p>
          <a:p xmlns:a="http://schemas.openxmlformats.org/drawingml/2006/main">
            <a:r>
              <a:t>That distinction is important. Failure behaviour is part of the state model. An operation may complete with a new state, complete without changing state, represent a failure in the object, or reject the request by throwing. The interface should make the selected policy clear enough for callers to use correctly. Evidence must then exercise that failure path rather than assuming the convenient cases describe it.</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36:00-39:00.</a:t>
            </a:r>
          </a:p>
          <a:p xmlns:a="http://schemas.openxmlformats.org/drawingml/2006/main">
            <a:r>
              <a:t/>
            </a:r>
          </a:p>
          <a:p xmlns:a="http://schemas.openxmlformats.org/drawingml/2006/main">
            <a:r>
              <a:t>The class boundary has now earned its place. First, the invariant has one owner. Callers request a change instead of rewriting the representation. Second, the interface uses the language of the requirement: take damage, report points and report whether the player is alive. The incidental arithmetic remains an implementation detail.</a:t>
            </a:r>
          </a:p>
          <a:p xmlns:a="http://schemas.openxmlformats.org/drawingml/2006/main">
            <a:r>
              <a:t/>
            </a:r>
          </a:p>
          <a:p xmlns:a="http://schemas.openxmlformats.org/drawingml/2006/main">
            <a:r>
              <a:t>Third, invalid requests fail close to their cause. They do not corrupt the state and travel through the program until a later output looks strange. Fourth, the representation may change while the public contract remains stable. The class could later store a different numeric type or adopt another internal strategy without forcing every caller to repeat the policy.</a:t>
            </a:r>
          </a:p>
          <a:p xmlns:a="http://schemas.openxmlformats.org/drawingml/2006/main">
            <a:r>
              <a:t/>
            </a:r>
          </a:p>
          <a:p xmlns:a="http://schemas.openxmlformats.org/drawingml/2006/main">
            <a:r>
              <a:t>These benefits are not automatic consequences of writing the word class. They follow from the restriction and the shared rule that justifies it. If the data had no invariant or coordinated behaviour, a class might add syntax without improving the design. Judge the effect of the boundary, not its appearance.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a:p xmlns:a="http://schemas.openxmlformats.org/drawingml/2006/main">
            <a:r>
              <a:t>- C++ Core Guidelines C.2: https://isocpp.github.io/CppCoreGuidelines/CppCoreGuidelines#Rc-struct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39:00-42:00.</a:t>
            </a:r>
          </a:p>
          <a:p xmlns:a="http://schemas.openxmlformats.org/drawingml/2006/main">
            <a:r>
              <a:t/>
            </a:r>
          </a:p>
          <a:p xmlns:a="http://schemas.openxmlformats.org/drawingml/2006/main">
            <a:r>
              <a:t>Return to the output and assertions. They establish that this build reached three observations on the shown path: ten, seven and zero. The assertions check selected expectations when assertions are enabled. This is useful evidence for those cases.</a:t>
            </a:r>
          </a:p>
          <a:p xmlns:a="http://schemas.openxmlformats.org/drawingml/2006/main">
            <a:r>
              <a:t/>
            </a:r>
          </a:p>
          <a:p xmlns:a="http://schemas.openxmlformats.org/drawingml/2006/main">
            <a:r>
              <a:t>They do not establish invalid construction at minus one or one hundred and one. They do not exercise construction at the exact boundaries zero and one hundred. They do not execute negative damage. They do not test damage equal to the current state, repeated calls, exception handling by a caller or integration with the rest of the game. They do not prove that every future operation preserves the invariant.</a:t>
            </a:r>
          </a:p>
          <a:p xmlns:a="http://schemas.openxmlformats.org/drawingml/2006/main">
            <a:r>
              <a:t/>
            </a:r>
          </a:p>
          <a:p xmlns:a="http://schemas.openxmlformats.org/drawingml/2006/main">
            <a:r>
              <a:t>This does not make the example worthless. It gives the evidence its correct boundary. We can now add cases because the invariant tells us what to challenge. Without the state model, adding tests tends to become a collection of convenient examples whose relationship to correctness remains vague.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42:00-44:00.</a:t>
            </a:r>
          </a:p>
          <a:p xmlns:a="http://schemas.openxmlformats.org/drawingml/2006/main">
            <a:r>
              <a:t/>
            </a:r>
          </a:p>
          <a:p xmlns:a="http://schemas.openxmlformats.org/drawingml/2006/main">
            <a:r>
              <a:t>Evidence works as a portfolio because different techniques expose different mistakes. Compiler diagnostics tell us whether the program is well formed and may warn about suspicious constructs. Focused tests demonstrate selected examples and boundaries. Property-based testing can explore the claim that every successfully completed public operation leaves points in the permitted interval. Static and dynamic analysis can expose certain lifetime, bounds and undefined-behaviour risks. Human review can challenge the requirement, interface and readability. Measurement is relevant only when there is a stated performance budget and a realistic workload.</a:t>
            </a:r>
          </a:p>
          <a:p xmlns:a="http://schemas.openxmlformats.org/drawingml/2006/main">
            <a:r>
              <a:t/>
            </a:r>
          </a:p>
          <a:p xmlns:a="http://schemas.openxmlformats.org/drawingml/2006/main">
            <a:r>
              <a:t>None of these techniques proves every property. The engineering statement must retain its boundary: this evidence supports this property under these conditions. Remove the property or the conditions and the same observation no longer justifies the same claim.</a:t>
            </a:r>
          </a:p>
          <a:p xmlns:a="http://schemas.openxmlformats.org/drawingml/2006/main">
            <a:r>
              <a:t/>
            </a:r>
          </a:p>
          <a:p xmlns:a="http://schemas.openxmlformats.org/drawingml/2006/main">
            <a:r>
              <a:t>Testing supplies observations. Evaluation decides what those observations permit us to conclude.</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44:00-47:00.</a:t>
            </a:r>
          </a:p>
          <a:p xmlns:a="http://schemas.openxmlformats.org/drawingml/2006/main">
            <a:r>
              <a:t/>
            </a:r>
          </a:p>
          <a:p xmlns:a="http://schemas.openxmlformats.org/drawingml/2006/main">
            <a:r>
              <a:t>After the trace, the seven rules are no longer abstract. Timeliness asks whether a measured path threatens a stated budget. Computational understanding is the state account and transition model we have just constructed. Evaluation is the bounded evidence portfolio. Existing expertise may supply std::max, the compiler and test tools, but their use rests on understood contracts.</a:t>
            </a:r>
          </a:p>
          <a:p xmlns:a="http://schemas.openxmlformats.org/drawingml/2006/main">
            <a:r>
              <a:t/>
            </a:r>
          </a:p>
          <a:p xmlns:a="http://schemas.openxmlformats.org/drawingml/2006/main">
            <a:r>
              <a:t>Value is the useful effect: valid health state, a smaller failure surface and a design another programmer can change. Nurturing means that the invariant, interface and rationale are visible enough to transfer understanding. Enjoying the journey means using a failed assumption or rejected request to improve the model rather than hiding it.</a:t>
            </a:r>
          </a:p>
          <a:p xmlns:a="http://schemas.openxmlformats.org/drawingml/2006/main">
            <a:r>
              <a:t/>
            </a:r>
          </a:p>
          <a:p xmlns:a="http://schemas.openxmlformats.org/drawingml/2006/main">
            <a:r>
              <a:t>The same responsibility applies when a library, colleague or generative system supplies the implementation. Received code is a proposal. The programmer must still recover the state model, identify ownership and failure, challenge assumptions and assemble proportionate evidence. Fluent output does not transfer that responsibility.</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47:00-50:00.</a:t>
            </a:r>
          </a:p>
          <a:p xmlns:a="http://schemas.openxmlformats.org/drawingml/2006/main">
            <a:r>
              <a:t/>
            </a:r>
          </a:p>
          <a:p xmlns:a="http://schemas.openxmlformats.org/drawingml/2006/main">
            <a:r>
              <a:t>Here is the transfer task. Someone proposes a struct with one public integer named points. Before accepting it, write four things. First, state the valid-state rule. Second, list the permitted transitions. Third, identify the component responsible for preserving the rule. Fourth, specify evidence that would challenge the attractive demonstration rather than merely repeat it.</a:t>
            </a:r>
          </a:p>
          <a:p xmlns:a="http://schemas.openxmlformats.org/drawingml/2006/main">
            <a:r>
              <a:t/>
            </a:r>
          </a:p>
          <a:p xmlns:a="http://schemas.openxmlformats.org/drawingml/2006/main">
            <a:r>
              <a:t>There may be more than one appropriate representation, but every answer must make the rule and responsibility inspectable. If the public integer is retained, explain how every writer is controlled. If a boundary is introduced, explain what restriction earns its cost. If the requirement is ambiguous, stop and repair the requirement before decorating the implementation.</a:t>
            </a:r>
          </a:p>
          <a:p xmlns:a="http://schemas.openxmlformats.org/drawingml/2006/main">
            <a:r>
              <a:t/>
            </a:r>
          </a:p>
          <a:p xmlns:a="http://schemas.openxmlformats.org/drawingml/2006/main">
            <a:r>
              <a:t>We have repeatedly called points_ stored state. That phrase now creates the question for Lecture 2. What, precisely, is a variable remembering? We will separate the identifier, the type, the object, the value and the representation rather than treating them as one convenient box.</a:t>
            </a:r>
          </a:p>
          <a:p xmlns:a="http://schemas.openxmlformats.org/drawingml/2006/main">
            <a:r>
              <a:t/>
            </a:r>
          </a:p>
          <a:p xmlns:a="http://schemas.openxmlformats.org/drawingml/2006/main">
            <a:r>
              <a:t>[Sources]</a:t>
            </a:r>
          </a:p>
          <a:p xmlns:a="http://schemas.openxmlformats.org/drawingml/2006/main">
            <a:r>
              <a:t>- C++ Programming, Lesson 1: https://cpp-programming.staticcarnival.com/lesson-01.html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026c5db59b4c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c38be452104327" /><Relationship Type="http://schemas.openxmlformats.org/officeDocument/2006/relationships/slideLayout" Target="/ppt/slideLayouts/slideLayout1.xml" Id="R2e7149326a8d4f2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7149326a8d4f2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234597d8dff4dba" /><Relationship Type="http://schemas.openxmlformats.org/officeDocument/2006/relationships/image" Target="/ppt/media/image.png" Id="R7f13254329234ef3" /><Relationship Type="http://schemas.openxmlformats.org/officeDocument/2006/relationships/notesSlide" Target="/ppt/notesSlides/notesSlide1.xml" Id="R15a3901c813a4f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3205cb38244a17" /><Relationship Type="http://schemas.openxmlformats.org/officeDocument/2006/relationships/notesSlide" Target="/ppt/notesSlides/notesSlide2.xml" Id="Rd9e649bb69a640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630d41e1b1b4708" /><Relationship Type="http://schemas.openxmlformats.org/officeDocument/2006/relationships/notesSlide" Target="/ppt/notesSlides/notesSlide3.xml" Id="Ref60f3d0953345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cce740e0854a83" /><Relationship Type="http://schemas.openxmlformats.org/officeDocument/2006/relationships/notesSlide" Target="/ppt/notesSlides/notesSlide4.xml" Id="Rc16095ce9ee940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9fb2662c0ba46fb" /><Relationship Type="http://schemas.openxmlformats.org/officeDocument/2006/relationships/notesSlide" Target="/ppt/notesSlides/notesSlide5.xml" Id="R8869791be69a4c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48da2cd3b894541" /><Relationship Type="http://schemas.openxmlformats.org/officeDocument/2006/relationships/notesSlide" Target="/ppt/notesSlides/notesSlide6.xml" Id="Re87f5e824bef42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0f0ccb084ea4bbb" /><Relationship Type="http://schemas.openxmlformats.org/officeDocument/2006/relationships/notesSlide" Target="/ppt/notesSlides/notesSlide7.xml" Id="R34dce4ace79842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17f851c3714877" /><Relationship Type="http://schemas.openxmlformats.org/officeDocument/2006/relationships/notesSlide" Target="/ppt/notesSlides/notesSlide8.xml" Id="R2dd7ac81fdc54c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ec52a3e91d04793" /><Relationship Type="http://schemas.openxmlformats.org/officeDocument/2006/relationships/notesSlide" Target="/ppt/notesSlides/notesSlide9.xml" Id="Ra2a04e678fdd430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5d632e407a447c" /><Relationship Type="http://schemas.openxmlformats.org/officeDocument/2006/relationships/notesSlide" Target="/ppt/notesSlides/notesSlide10.xml" Id="R46ed0082e73f4d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308deed9134596" /><Relationship Type="http://schemas.openxmlformats.org/officeDocument/2006/relationships/notesSlide" Target="/ppt/notesSlides/notesSlide11.xml" Id="Ra60156670a5444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45addcb28ba4819" /><Relationship Type="http://schemas.openxmlformats.org/officeDocument/2006/relationships/notesSlide" Target="/ppt/notesSlides/notesSlide12.xml" Id="R1ae273fb65b44c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d6eae6896c349aa" /><Relationship Type="http://schemas.openxmlformats.org/officeDocument/2006/relationships/notesSlide" Target="/ppt/notesSlides/notesSlide13.xml" Id="Rfb95529096074e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3dab3f435c14102" /><Relationship Type="http://schemas.openxmlformats.org/officeDocument/2006/relationships/notesSlide" Target="/ppt/notesSlides/notesSlide14.xml" Id="Rf08c2c03f36545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158d66860da461d" /><Relationship Type="http://schemas.openxmlformats.org/officeDocument/2006/relationships/notesSlide" Target="/ppt/notesSlides/notesSlide15.xml" Id="R6164871a0e81490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6edc8730d604e25" /><Relationship Type="http://schemas.openxmlformats.org/officeDocument/2006/relationships/notesSlide" Target="/ppt/notesSlides/notesSlide16.xml" Id="Rdfd94612d3304d8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917eb363c674846" /><Relationship Type="http://schemas.openxmlformats.org/officeDocument/2006/relationships/notesSlide" Target="/ppt/notesSlides/notesSlide17.xml" Id="Rf5d1d32b425e479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03a71de449e4cf0" /><Relationship Type="http://schemas.openxmlformats.org/officeDocument/2006/relationships/notesSlide" Target="/ppt/notesSlides/notesSlide18.xml" Id="R85ed72561fea45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b2752ce9d8154b2b" /><Relationship Type="http://schemas.openxmlformats.org/officeDocument/2006/relationships/notesSlide" Target="/ppt/notesSlides/notesSlide19.xml" Id="R8d8f17f8eb9e41f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eba1cde63494000" /><Relationship Type="http://schemas.openxmlformats.org/officeDocument/2006/relationships/notesSlide" Target="/ppt/notesSlides/notesSlide20.xml" Id="R543a91c448e7495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4354410e0d74def" /><Relationship Type="http://schemas.openxmlformats.org/officeDocument/2006/relationships/image" Target="/ppt/media/image2.png" Id="R46c30dd196c646e8" /><Relationship Type="http://schemas.openxmlformats.org/officeDocument/2006/relationships/notesSlide" Target="/ppt/notesSlides/notesSlide21.xml" Id="Rb17969b219314267" /></Relationships>
</file>

<file path=ppt/slides/slide1.xml><?xml version="1.0" encoding="utf-8"?>
<p:sld xmlns:p="http://schemas.openxmlformats.org/presentationml/2006/main">
  <p:cSld>
    <p:bg>
      <p:bgPr>
        <a:solidFill xmlns:a="http://schemas.openxmlformats.org/drawingml/2006/main">
          <a:srgbClr val="02080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f13254329234ef3"/>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1C82653-0CE8-4A4B-9F47-37D33F3160DB}"/>
              </a:ext>
            </a:extLst>
          </p:cNvPr>
          <p:cNvSpPr>
            <a:spLocks xmlns:a="http://schemas.openxmlformats.org/drawingml/2006/main" noGrp="1"/>
          </p:cNvSpPr>
          <p:nvPr/>
        </p:nvSpPr>
        <p:spPr>
          <a:xfrm xmlns:a="http://schemas.openxmlformats.org/drawingml/2006/main">
            <a:off x="0" y="0"/>
            <a:ext cx="7239000" cy="6858000"/>
          </a:xfrm>
          <a:prstGeom xmlns:a="http://schemas.openxmlformats.org/drawingml/2006/main" prst="rect">
            <a:avLst/>
          </a:prstGeom>
          <a:solidFill xmlns:a="http://schemas.openxmlformats.org/drawingml/2006/main">
            <a:srgbClr val="02080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928C1EE-3AE6-4657-A795-769C0D3B5E0C}"/>
              </a:ext>
            </a:extLst>
          </p:cNvPr>
          <p:cNvSpPr>
            <a:spLocks xmlns:a="http://schemas.openxmlformats.org/drawingml/2006/main" noGrp="1"/>
          </p:cNvSpPr>
          <p:nvPr/>
        </p:nvSpPr>
        <p:spPr>
          <a:xfrm xmlns:a="http://schemas.openxmlformats.org/drawingml/2006/main">
            <a:off x="685800" y="571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FD989"/>
                </a:solidFill>
                <a:latin typeface="Consolas"/>
                <a:ea typeface="Consolas"/>
                <a:cs typeface="Consolas"/>
              </a:defRPr>
            </a:pPr>
            <a:r>
              <a:rPr sz="1125" b="1">
                <a:solidFill>
                  <a:srgbClr val="FFD989"/>
                </a:solidFill>
                <a:latin typeface="Consolas"/>
                <a:ea typeface="Consolas"/>
                <a:cs typeface="Consolas"/>
              </a:rPr>
              <a:t>C++ PROGRAMMING  ·  LECTURE 01</a:t>
            </a:r>
          </a:p>
        </p:txBody>
      </p:sp>
      <p:sp>
        <p:nvSpPr>
          <p:cNvPr id="4" name="">
            <a:extLst xmlns:a="http://schemas.openxmlformats.org/drawingml/2006/main">
              <a:ext uri="{FF2B5EF4-FFF2-40B4-BE49-F238E27FC236}">
                <a16:creationId xmlns:a16="http://schemas.microsoft.com/office/drawing/2014/main" id="{6886CCB0-0030-48EA-B8C2-34A26DD0A903}"/>
              </a:ext>
            </a:extLst>
          </p:cNvPr>
          <p:cNvSpPr>
            <a:spLocks xmlns:a="http://schemas.openxmlformats.org/drawingml/2006/main" noGrp="1"/>
          </p:cNvSpPr>
          <p:nvPr/>
        </p:nvSpPr>
        <p:spPr>
          <a:xfrm xmlns:a="http://schemas.openxmlformats.org/drawingml/2006/main">
            <a:off x="685800" y="140970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8000"/>
              </a:lnSpc>
              <a:buNone/>
              <a:defRPr sz="4650" b="1">
                <a:solidFill>
                  <a:srgbClr val="F3FBF7"/>
                </a:solidFill>
                <a:latin typeface="Georgia"/>
                <a:ea typeface="Georgia"/>
                <a:cs typeface="Georgia"/>
              </a:defRPr>
            </a:pPr>
            <a:r>
              <a:rPr sz="4650" b="1">
                <a:solidFill>
                  <a:srgbClr val="F3FBF7"/>
                </a:solidFill>
                <a:latin typeface="Georgia"/>
                <a:ea typeface="Georgia"/>
                <a:cs typeface="Georgia"/>
              </a:rPr>
              <a:t>The Appropriate</a:t>
            </a:r>
          </a:p>
          <a:p xmlns:a="http://schemas.openxmlformats.org/drawingml/2006/main">
            <a:pPr algn="l">
              <a:lnSpc>
                <a:spcPct val="88000"/>
              </a:lnSpc>
              <a:buNone/>
              <a:defRPr sz="4650" b="1">
                <a:solidFill>
                  <a:srgbClr val="F3FBF7"/>
                </a:solidFill>
                <a:latin typeface="Georgia"/>
                <a:ea typeface="Georgia"/>
                <a:cs typeface="Georgia"/>
              </a:defRPr>
            </a:pPr>
            <a:r>
              <a:rPr sz="4650" b="1">
                <a:solidFill>
                  <a:srgbClr val="F3FBF7"/>
                </a:solidFill>
                <a:latin typeface="Georgia"/>
                <a:ea typeface="Georgia"/>
                <a:cs typeface="Georgia"/>
              </a:rPr>
              <a:t>Computer Programmer</a:t>
            </a:r>
          </a:p>
        </p:txBody>
      </p:sp>
      <p:sp>
        <p:nvSpPr>
          <p:cNvPr id="5" name="">
            <a:extLst xmlns:a="http://schemas.openxmlformats.org/drawingml/2006/main">
              <a:ext uri="{FF2B5EF4-FFF2-40B4-BE49-F238E27FC236}">
                <a16:creationId xmlns:a16="http://schemas.microsoft.com/office/drawing/2014/main" id="{E34E7B40-392A-4E71-8E0B-B9FB95F3F4A0}"/>
              </a:ext>
            </a:extLst>
          </p:cNvPr>
          <p:cNvSpPr>
            <a:spLocks xmlns:a="http://schemas.openxmlformats.org/drawingml/2006/main" noGrp="1"/>
          </p:cNvSpPr>
          <p:nvPr/>
        </p:nvSpPr>
        <p:spPr>
          <a:xfrm xmlns:a="http://schemas.openxmlformats.org/drawingml/2006/main">
            <a:off x="685800" y="3714750"/>
            <a:ext cx="1524000" cy="57150"/>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0632AD2-83C9-4059-AB6A-C0F3EC059B00}"/>
              </a:ext>
            </a:extLst>
          </p:cNvPr>
          <p:cNvSpPr>
            <a:spLocks xmlns:a="http://schemas.openxmlformats.org/drawingml/2006/main" noGrp="1"/>
          </p:cNvSpPr>
          <p:nvPr/>
        </p:nvSpPr>
        <p:spPr>
          <a:xfrm xmlns:a="http://schemas.openxmlformats.org/drawingml/2006/main">
            <a:off x="685800" y="4038600"/>
            <a:ext cx="5429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6D5CF"/>
                </a:solidFill>
                <a:latin typeface="Segoe UI"/>
                <a:ea typeface="Segoe UI"/>
                <a:cs typeface="Segoe UI"/>
              </a:defRPr>
            </a:pPr>
            <a:r>
              <a:rPr sz="1875" b="0">
                <a:solidFill>
                  <a:srgbClr val="C6D5CF"/>
                </a:solidFill>
                <a:latin typeface="Segoe UI"/>
                <a:ea typeface="Segoe UI"/>
                <a:cs typeface="Segoe UI"/>
              </a:rPr>
              <a:t>A 50-minute account of state, responsibility and evidence</a:t>
            </a:r>
          </a:p>
        </p:txBody>
      </p:sp>
      <p:sp>
        <p:nvSpPr>
          <p:cNvPr id="7" name="">
            <a:extLst xmlns:a="http://schemas.openxmlformats.org/drawingml/2006/main">
              <a:ext uri="{FF2B5EF4-FFF2-40B4-BE49-F238E27FC236}">
                <a16:creationId xmlns:a16="http://schemas.microsoft.com/office/drawing/2014/main" id="{6D4AB189-36FD-45FA-8CA6-C95465B83C80}"/>
              </a:ext>
            </a:extLst>
          </p:cNvPr>
          <p:cNvSpPr>
            <a:spLocks xmlns:a="http://schemas.openxmlformats.org/drawingml/2006/main" noGrp="1"/>
          </p:cNvSpPr>
          <p:nvPr/>
        </p:nvSpPr>
        <p:spPr>
          <a:xfrm xmlns:a="http://schemas.openxmlformats.org/drawingml/2006/main">
            <a:off x="685800" y="5791200"/>
            <a:ext cx="704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D989"/>
                </a:solidFill>
                <a:latin typeface="Segoe UI"/>
                <a:ea typeface="Segoe UI"/>
                <a:cs typeface="Segoe UI"/>
              </a:defRPr>
            </a:pPr>
            <a:r>
              <a:rPr sz="1350" b="1">
                <a:solidFill>
                  <a:srgbClr val="FFD989"/>
                </a:solidFill>
                <a:latin typeface="Segoe UI"/>
                <a:ea typeface="Segoe UI"/>
                <a:cs typeface="Segoe UI"/>
              </a:rPr>
              <a:t>Code is a proposal. Judgement remains the programmer’s work.</a:t>
            </a:r>
          </a:p>
        </p:txBody>
      </p:sp>
    </p:spTree>
    <p:extLst>
      <p:ext uri="{BB962C8B-B14F-4D97-AF65-F5344CB8AC3E}">
        <p14:creationId xmlns:p14="http://schemas.microsoft.com/office/powerpoint/2010/main" val="838109742"/>
      </p:ext>
    </p:extLst>
  </p:cSld>
</p:sld>
</file>

<file path=ppt/slides/slide2.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8" name="chrome-section-2">
            <a:extLst xmlns:a="http://schemas.openxmlformats.org/drawingml/2006/main">
              <a:ext uri="{FF2B5EF4-FFF2-40B4-BE49-F238E27FC236}">
                <a16:creationId xmlns:a16="http://schemas.microsoft.com/office/drawing/2014/main" id="{40B03D09-764F-4C7A-80B2-BF52EEED6485}"/>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THE APPROPRIATE COMPUTER PROGRAMMER</a:t>
            </a:r>
          </a:p>
        </p:txBody>
      </p:sp>
      <p:sp>
        <p:nvSpPr>
          <p:cNvPr id="2" name="chrome-number-2">
            <a:extLst xmlns:a="http://schemas.openxmlformats.org/drawingml/2006/main">
              <a:ext uri="{FF2B5EF4-FFF2-40B4-BE49-F238E27FC236}">
                <a16:creationId xmlns:a16="http://schemas.microsoft.com/office/drawing/2014/main" id="{B4B4DE04-0114-46F3-B93F-3D54E3446FA9}"/>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02</a:t>
            </a:r>
          </a:p>
        </p:txBody>
      </p:sp>
      <p:sp>
        <p:nvSpPr>
          <p:cNvPr id="3" name="slide-title-2">
            <a:extLst xmlns:a="http://schemas.openxmlformats.org/drawingml/2006/main">
              <a:ext uri="{FF2B5EF4-FFF2-40B4-BE49-F238E27FC236}">
                <a16:creationId xmlns:a16="http://schemas.microsoft.com/office/drawing/2014/main" id="{09799D2D-0198-46F7-A35D-0606FCF13AD2}"/>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Producing an answer is the tempting proxy</a:t>
            </a:r>
          </a:p>
        </p:txBody>
      </p:sp>
      <p:sp>
        <p:nvSpPr>
          <p:cNvPr id="4" name="title-rule-2">
            <a:extLst xmlns:a="http://schemas.openxmlformats.org/drawingml/2006/main">
              <a:ext uri="{FF2B5EF4-FFF2-40B4-BE49-F238E27FC236}">
                <a16:creationId xmlns:a16="http://schemas.microsoft.com/office/drawing/2014/main" id="{7E92A7AA-E8A9-45FE-A96B-5EF9AA093320}"/>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2">
            <a:extLst xmlns:a="http://schemas.openxmlformats.org/drawingml/2006/main">
              <a:ext uri="{FF2B5EF4-FFF2-40B4-BE49-F238E27FC236}">
                <a16:creationId xmlns:a16="http://schemas.microsoft.com/office/drawing/2014/main" id="{656FD990-04C4-481C-87C7-D301CB4A6F9B}"/>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Three useful observations do not establish the complete claim.</a:t>
            </a:r>
          </a:p>
        </p:txBody>
      </p:sp>
      <p:sp>
        <p:nvSpPr>
          <p:cNvPr id="6" name="">
            <a:extLst xmlns:a="http://schemas.openxmlformats.org/drawingml/2006/main">
              <a:ext uri="{FF2B5EF4-FFF2-40B4-BE49-F238E27FC236}">
                <a16:creationId xmlns:a16="http://schemas.microsoft.com/office/drawing/2014/main" id="{2AF13419-5861-4A24-8DCD-9A0B644EA713}"/>
              </a:ext>
            </a:extLst>
          </p:cNvPr>
          <p:cNvSpPr>
            <a:spLocks xmlns:a="http://schemas.openxmlformats.org/drawingml/2006/main" noGrp="1"/>
          </p:cNvSpPr>
          <p:nvPr/>
        </p:nvSpPr>
        <p:spPr>
          <a:xfrm xmlns:a="http://schemas.openxmlformats.org/drawingml/2006/main">
            <a:off x="952500" y="2838450"/>
            <a:ext cx="1428750" cy="1428750"/>
          </a:xfrm>
          <a:prstGeom xmlns:a="http://schemas.openxmlformats.org/drawingml/2006/main" prst="ellipse">
            <a:avLst/>
          </a:prstGeom>
          <a:solidFill xmlns:a="http://schemas.openxmlformats.org/drawingml/2006/main">
            <a:srgbClr val="0D251E"/>
          </a:solidFill>
          <a:ln xmlns:a="http://schemas.openxmlformats.org/drawingml/2006/main" w="19050">
            <a:solidFill>
              <a:srgbClr val="78F0B2"/>
            </a:solidFill>
            <a:prstDash val="solid"/>
          </a:ln>
        </p:spPr>
      </p:sp>
      <p:sp>
        <p:nvSpPr>
          <p:cNvPr id="7" name="">
            <a:extLst xmlns:a="http://schemas.openxmlformats.org/drawingml/2006/main">
              <a:ext uri="{FF2B5EF4-FFF2-40B4-BE49-F238E27FC236}">
                <a16:creationId xmlns:a16="http://schemas.microsoft.com/office/drawing/2014/main" id="{1B69ABD8-1A8B-47B3-B0F5-C5A83B96A47A}"/>
              </a:ext>
            </a:extLst>
          </p:cNvPr>
          <p:cNvSpPr>
            <a:spLocks xmlns:a="http://schemas.openxmlformats.org/drawingml/2006/main" noGrp="1"/>
          </p:cNvSpPr>
          <p:nvPr/>
        </p:nvSpPr>
        <p:spPr>
          <a:xfrm xmlns:a="http://schemas.openxmlformats.org/drawingml/2006/main">
            <a:off x="952500" y="32385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78F0B2"/>
                </a:solidFill>
                <a:latin typeface="Segoe UI"/>
                <a:ea typeface="Segoe UI"/>
                <a:cs typeface="Segoe UI"/>
              </a:defRPr>
            </a:pPr>
            <a:r>
              <a:rPr sz="1650" b="1">
                <a:solidFill>
                  <a:srgbClr val="78F0B2"/>
                </a:solidFill>
                <a:latin typeface="Segoe UI"/>
                <a:ea typeface="Segoe UI"/>
                <a:cs typeface="Segoe UI"/>
              </a:rPr>
              <a:t>COMPILES</a:t>
            </a:r>
          </a:p>
        </p:txBody>
      </p:sp>
      <p:sp>
        <p:nvSpPr>
          <p:cNvPr id="8" name="">
            <a:extLst xmlns:a="http://schemas.openxmlformats.org/drawingml/2006/main">
              <a:ext uri="{FF2B5EF4-FFF2-40B4-BE49-F238E27FC236}">
                <a16:creationId xmlns:a16="http://schemas.microsoft.com/office/drawing/2014/main" id="{1F0CFAA9-474D-4E75-A5CA-97425BCFCBB8}"/>
              </a:ext>
            </a:extLst>
          </p:cNvPr>
          <p:cNvSpPr>
            <a:spLocks xmlns:a="http://schemas.openxmlformats.org/drawingml/2006/main" noGrp="1"/>
          </p:cNvSpPr>
          <p:nvPr/>
        </p:nvSpPr>
        <p:spPr>
          <a:xfrm xmlns:a="http://schemas.openxmlformats.org/drawingml/2006/main">
            <a:off x="628650" y="447675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a:solidFill>
                  <a:srgbClr val="C6D5CF"/>
                </a:solidFill>
                <a:latin typeface="Segoe UI"/>
                <a:ea typeface="Segoe UI"/>
                <a:cs typeface="Segoe UI"/>
              </a:defRPr>
            </a:pPr>
            <a:r>
              <a:rPr sz="1275" b="0">
                <a:solidFill>
                  <a:srgbClr val="C6D5CF"/>
                </a:solidFill>
                <a:latin typeface="Segoe UI"/>
                <a:ea typeface="Segoe UI"/>
                <a:cs typeface="Segoe UI"/>
              </a:rPr>
              <a:t>one build completed</a:t>
            </a:r>
          </a:p>
        </p:txBody>
      </p:sp>
      <p:sp>
        <p:nvSpPr>
          <p:cNvPr id="9" name="">
            <a:extLst xmlns:a="http://schemas.openxmlformats.org/drawingml/2006/main">
              <a:ext uri="{FF2B5EF4-FFF2-40B4-BE49-F238E27FC236}">
                <a16:creationId xmlns:a16="http://schemas.microsoft.com/office/drawing/2014/main" id="{6EB77EF6-7B75-4C57-B4E1-2A50AD5B60E6}"/>
              </a:ext>
            </a:extLst>
          </p:cNvPr>
          <p:cNvSpPr>
            <a:spLocks xmlns:a="http://schemas.openxmlformats.org/drawingml/2006/main" noGrp="1"/>
          </p:cNvSpPr>
          <p:nvPr/>
        </p:nvSpPr>
        <p:spPr>
          <a:xfrm xmlns:a="http://schemas.openxmlformats.org/drawingml/2006/main">
            <a:off x="2905125" y="3476625"/>
            <a:ext cx="781050" cy="171450"/>
          </a:xfrm>
          <a:prstGeom xmlns:a="http://schemas.openxmlformats.org/drawingml/2006/main" prst="rightArrow">
            <a:avLst/>
          </a:prstGeom>
          <a:solidFill xmlns:a="http://schemas.openxmlformats.org/drawingml/2006/main">
            <a:srgbClr val="3156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37293E3-B35E-4BD0-BC5E-A11BF4CF8FF2}"/>
              </a:ext>
            </a:extLst>
          </p:cNvPr>
          <p:cNvSpPr>
            <a:spLocks xmlns:a="http://schemas.openxmlformats.org/drawingml/2006/main" noGrp="1"/>
          </p:cNvSpPr>
          <p:nvPr/>
        </p:nvSpPr>
        <p:spPr>
          <a:xfrm xmlns:a="http://schemas.openxmlformats.org/drawingml/2006/main">
            <a:off x="4095750" y="2838450"/>
            <a:ext cx="1428750" cy="1428750"/>
          </a:xfrm>
          <a:prstGeom xmlns:a="http://schemas.openxmlformats.org/drawingml/2006/main" prst="ellipse">
            <a:avLst/>
          </a:prstGeom>
          <a:solidFill xmlns:a="http://schemas.openxmlformats.org/drawingml/2006/main">
            <a:srgbClr val="0D251E"/>
          </a:solidFill>
          <a:ln xmlns:a="http://schemas.openxmlformats.org/drawingml/2006/main" w="19050">
            <a:solidFill>
              <a:srgbClr val="78F0B2"/>
            </a:solidFill>
            <a:prstDash val="solid"/>
          </a:ln>
        </p:spPr>
      </p:sp>
      <p:sp>
        <p:nvSpPr>
          <p:cNvPr id="11" name="">
            <a:extLst xmlns:a="http://schemas.openxmlformats.org/drawingml/2006/main">
              <a:ext uri="{FF2B5EF4-FFF2-40B4-BE49-F238E27FC236}">
                <a16:creationId xmlns:a16="http://schemas.microsoft.com/office/drawing/2014/main" id="{4FAAEB4E-CAB7-4282-BB76-4378FA360760}"/>
              </a:ext>
            </a:extLst>
          </p:cNvPr>
          <p:cNvSpPr>
            <a:spLocks xmlns:a="http://schemas.openxmlformats.org/drawingml/2006/main" noGrp="1"/>
          </p:cNvSpPr>
          <p:nvPr/>
        </p:nvSpPr>
        <p:spPr>
          <a:xfrm xmlns:a="http://schemas.openxmlformats.org/drawingml/2006/main">
            <a:off x="4095750" y="32385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78F0B2"/>
                </a:solidFill>
                <a:latin typeface="Segoe UI"/>
                <a:ea typeface="Segoe UI"/>
                <a:cs typeface="Segoe UI"/>
              </a:defRPr>
            </a:pPr>
            <a:r>
              <a:rPr sz="1650" b="1">
                <a:solidFill>
                  <a:srgbClr val="78F0B2"/>
                </a:solidFill>
                <a:latin typeface="Segoe UI"/>
                <a:ea typeface="Segoe UI"/>
                <a:cs typeface="Segoe UI"/>
              </a:rPr>
              <a:t>RUNS</a:t>
            </a:r>
          </a:p>
        </p:txBody>
      </p:sp>
      <p:sp>
        <p:nvSpPr>
          <p:cNvPr id="12" name="">
            <a:extLst xmlns:a="http://schemas.openxmlformats.org/drawingml/2006/main">
              <a:ext uri="{FF2B5EF4-FFF2-40B4-BE49-F238E27FC236}">
                <a16:creationId xmlns:a16="http://schemas.microsoft.com/office/drawing/2014/main" id="{249073A3-E727-4029-B683-EC9D29398E86}"/>
              </a:ext>
            </a:extLst>
          </p:cNvPr>
          <p:cNvSpPr>
            <a:spLocks xmlns:a="http://schemas.openxmlformats.org/drawingml/2006/main" noGrp="1"/>
          </p:cNvSpPr>
          <p:nvPr/>
        </p:nvSpPr>
        <p:spPr>
          <a:xfrm xmlns:a="http://schemas.openxmlformats.org/drawingml/2006/main">
            <a:off x="3771900" y="447675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a:solidFill>
                  <a:srgbClr val="C6D5CF"/>
                </a:solidFill>
                <a:latin typeface="Segoe UI"/>
                <a:ea typeface="Segoe UI"/>
                <a:cs typeface="Segoe UI"/>
              </a:defRPr>
            </a:pPr>
            <a:r>
              <a:rPr sz="1275" b="0">
                <a:solidFill>
                  <a:srgbClr val="C6D5CF"/>
                </a:solidFill>
                <a:latin typeface="Segoe UI"/>
                <a:ea typeface="Segoe UI"/>
                <a:cs typeface="Segoe UI"/>
              </a:rPr>
              <a:t>one path completed</a:t>
            </a:r>
          </a:p>
        </p:txBody>
      </p:sp>
      <p:sp>
        <p:nvSpPr>
          <p:cNvPr id="13" name="">
            <a:extLst xmlns:a="http://schemas.openxmlformats.org/drawingml/2006/main">
              <a:ext uri="{FF2B5EF4-FFF2-40B4-BE49-F238E27FC236}">
                <a16:creationId xmlns:a16="http://schemas.microsoft.com/office/drawing/2014/main" id="{356A4746-AF01-4D11-B7A7-651223CDF1AF}"/>
              </a:ext>
            </a:extLst>
          </p:cNvPr>
          <p:cNvSpPr>
            <a:spLocks xmlns:a="http://schemas.openxmlformats.org/drawingml/2006/main" noGrp="1"/>
          </p:cNvSpPr>
          <p:nvPr/>
        </p:nvSpPr>
        <p:spPr>
          <a:xfrm xmlns:a="http://schemas.openxmlformats.org/drawingml/2006/main">
            <a:off x="6048375" y="3476625"/>
            <a:ext cx="781050" cy="171450"/>
          </a:xfrm>
          <a:prstGeom xmlns:a="http://schemas.openxmlformats.org/drawingml/2006/main" prst="rightArrow">
            <a:avLst/>
          </a:prstGeom>
          <a:solidFill xmlns:a="http://schemas.openxmlformats.org/drawingml/2006/main">
            <a:srgbClr val="3156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88F7FF6-0957-4D92-BB5C-CD487A9C886E}"/>
              </a:ext>
            </a:extLst>
          </p:cNvPr>
          <p:cNvSpPr>
            <a:spLocks xmlns:a="http://schemas.openxmlformats.org/drawingml/2006/main" noGrp="1"/>
          </p:cNvSpPr>
          <p:nvPr/>
        </p:nvSpPr>
        <p:spPr>
          <a:xfrm xmlns:a="http://schemas.openxmlformats.org/drawingml/2006/main">
            <a:off x="7239000" y="2838450"/>
            <a:ext cx="1428750" cy="1428750"/>
          </a:xfrm>
          <a:prstGeom xmlns:a="http://schemas.openxmlformats.org/drawingml/2006/main" prst="ellipse">
            <a:avLst/>
          </a:prstGeom>
          <a:solidFill xmlns:a="http://schemas.openxmlformats.org/drawingml/2006/main">
            <a:srgbClr val="0D251E"/>
          </a:solidFill>
          <a:ln xmlns:a="http://schemas.openxmlformats.org/drawingml/2006/main" w="19050">
            <a:solidFill>
              <a:srgbClr val="F5B84B"/>
            </a:solidFill>
            <a:prstDash val="solid"/>
          </a:ln>
        </p:spPr>
      </p:sp>
      <p:sp>
        <p:nvSpPr>
          <p:cNvPr id="15" name="">
            <a:extLst xmlns:a="http://schemas.openxmlformats.org/drawingml/2006/main">
              <a:ext uri="{FF2B5EF4-FFF2-40B4-BE49-F238E27FC236}">
                <a16:creationId xmlns:a16="http://schemas.microsoft.com/office/drawing/2014/main" id="{BEE1B456-93B4-4EEA-A027-7A7EC5564EEA}"/>
              </a:ext>
            </a:extLst>
          </p:cNvPr>
          <p:cNvSpPr>
            <a:spLocks xmlns:a="http://schemas.openxmlformats.org/drawingml/2006/main" noGrp="1"/>
          </p:cNvSpPr>
          <p:nvPr/>
        </p:nvSpPr>
        <p:spPr>
          <a:xfrm xmlns:a="http://schemas.openxmlformats.org/drawingml/2006/main">
            <a:off x="7239000" y="3238500"/>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05"/>
          </a:bodyPr>
          <a:lstStyle xmlns:a="http://schemas.openxmlformats.org/drawingml/2006/main"/>
          <a:p xmlns:a="http://schemas.openxmlformats.org/drawingml/2006/main">
            <a:pPr algn="ctr">
              <a:lnSpc>
                <a:spcPct val="100000"/>
              </a:lnSpc>
              <a:buNone/>
              <a:defRPr sz="2850" b="1">
                <a:solidFill>
                  <a:srgbClr val="FFD989"/>
                </a:solidFill>
                <a:latin typeface="Segoe UI"/>
                <a:ea typeface="Segoe UI"/>
                <a:cs typeface="Segoe UI"/>
              </a:defRPr>
            </a:pPr>
            <a:r>
              <a:rPr sz="2850" b="1">
                <a:solidFill>
                  <a:srgbClr val="FFD989"/>
                </a:solidFill>
                <a:latin typeface="Segoe UI"/>
                <a:ea typeface="Segoe UI"/>
                <a:cs typeface="Segoe UI"/>
              </a:rPr>
              <a:t>42</a:t>
            </a:r>
          </a:p>
        </p:txBody>
      </p:sp>
      <p:sp>
        <p:nvSpPr>
          <p:cNvPr id="16" name="">
            <a:extLst xmlns:a="http://schemas.openxmlformats.org/drawingml/2006/main">
              <a:ext uri="{FF2B5EF4-FFF2-40B4-BE49-F238E27FC236}">
                <a16:creationId xmlns:a16="http://schemas.microsoft.com/office/drawing/2014/main" id="{4BC6FE9D-E4A3-4A7C-BF8C-66C8BE55E86B}"/>
              </a:ext>
            </a:extLst>
          </p:cNvPr>
          <p:cNvSpPr>
            <a:spLocks xmlns:a="http://schemas.openxmlformats.org/drawingml/2006/main" noGrp="1"/>
          </p:cNvSpPr>
          <p:nvPr/>
        </p:nvSpPr>
        <p:spPr>
          <a:xfrm xmlns:a="http://schemas.openxmlformats.org/drawingml/2006/main">
            <a:off x="6915150" y="4476750"/>
            <a:ext cx="20764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75" b="0">
                <a:solidFill>
                  <a:srgbClr val="C6D5CF"/>
                </a:solidFill>
                <a:latin typeface="Segoe UI"/>
                <a:ea typeface="Segoe UI"/>
                <a:cs typeface="Segoe UI"/>
              </a:defRPr>
            </a:pPr>
            <a:r>
              <a:rPr sz="1275" b="0">
                <a:solidFill>
                  <a:srgbClr val="C6D5CF"/>
                </a:solidFill>
                <a:latin typeface="Segoe UI"/>
                <a:ea typeface="Segoe UI"/>
                <a:cs typeface="Segoe UI"/>
              </a:rPr>
              <a:t>one answer appeared</a:t>
            </a:r>
          </a:p>
        </p:txBody>
      </p:sp>
      <p:sp>
        <p:nvSpPr>
          <p:cNvPr id="17" name="">
            <a:extLst xmlns:a="http://schemas.openxmlformats.org/drawingml/2006/main">
              <a:ext uri="{FF2B5EF4-FFF2-40B4-BE49-F238E27FC236}">
                <a16:creationId xmlns:a16="http://schemas.microsoft.com/office/drawing/2014/main" id="{9855C3E8-C9D5-48AD-9FC0-62E98AEDEFC1}"/>
              </a:ext>
            </a:extLst>
          </p:cNvPr>
          <p:cNvSpPr>
            <a:spLocks xmlns:a="http://schemas.openxmlformats.org/drawingml/2006/main" noGrp="1"/>
          </p:cNvSpPr>
          <p:nvPr/>
        </p:nvSpPr>
        <p:spPr>
          <a:xfrm xmlns:a="http://schemas.openxmlformats.org/drawingml/2006/main">
            <a:off x="8667750" y="3095625"/>
            <a:ext cx="257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250" b="1">
                <a:solidFill>
                  <a:srgbClr val="74D7FF"/>
                </a:solidFill>
                <a:latin typeface="Georgia"/>
                <a:ea typeface="Georgia"/>
                <a:cs typeface="Georgia"/>
              </a:defRPr>
            </a:pPr>
            <a:r>
              <a:rPr sz="2250" b="1">
                <a:solidFill>
                  <a:srgbClr val="74D7FF"/>
                </a:solidFill>
                <a:latin typeface="Georgia"/>
                <a:ea typeface="Georgia"/>
                <a:cs typeface="Georgia"/>
              </a:rPr>
              <a:t>Necessary. Not sufficient.</a:t>
            </a:r>
          </a:p>
        </p:txBody>
      </p:sp>
    </p:spTree>
    <p:extLst>
      <p:ext uri="{BB962C8B-B14F-4D97-AF65-F5344CB8AC3E}">
        <p14:creationId xmlns:p14="http://schemas.microsoft.com/office/powerpoint/2010/main" val="420248300"/>
      </p:ext>
    </p:extLst>
  </p:cSld>
</p:sld>
</file>

<file path=ppt/slides/slide3.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1" name="chrome-section-3">
            <a:extLst xmlns:a="http://schemas.openxmlformats.org/drawingml/2006/main">
              <a:ext uri="{FF2B5EF4-FFF2-40B4-BE49-F238E27FC236}">
                <a16:creationId xmlns:a16="http://schemas.microsoft.com/office/drawing/2014/main" id="{9FA402A3-AF91-41E3-926F-365B6ED4A7EB}"/>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THE APPROPRIATE COMPUTER PROGRAMMER</a:t>
            </a:r>
          </a:p>
        </p:txBody>
      </p:sp>
      <p:sp>
        <p:nvSpPr>
          <p:cNvPr id="2" name="chrome-number-3">
            <a:extLst xmlns:a="http://schemas.openxmlformats.org/drawingml/2006/main">
              <a:ext uri="{FF2B5EF4-FFF2-40B4-BE49-F238E27FC236}">
                <a16:creationId xmlns:a16="http://schemas.microsoft.com/office/drawing/2014/main" id="{4947604B-D148-4AE4-A8E4-DCD73C469B82}"/>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03</a:t>
            </a:r>
          </a:p>
        </p:txBody>
      </p:sp>
      <p:sp>
        <p:nvSpPr>
          <p:cNvPr id="3" name="slide-title-3">
            <a:extLst xmlns:a="http://schemas.openxmlformats.org/drawingml/2006/main">
              <a:ext uri="{FF2B5EF4-FFF2-40B4-BE49-F238E27FC236}">
                <a16:creationId xmlns:a16="http://schemas.microsoft.com/office/drawing/2014/main" id="{9287C364-F344-4D2F-9FCE-8C3A69E1F940}"/>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Appropriateness is a judgement</a:t>
            </a:r>
          </a:p>
        </p:txBody>
      </p:sp>
      <p:sp>
        <p:nvSpPr>
          <p:cNvPr id="4" name="title-rule-3">
            <a:extLst xmlns:a="http://schemas.openxmlformats.org/drawingml/2006/main">
              <a:ext uri="{FF2B5EF4-FFF2-40B4-BE49-F238E27FC236}">
                <a16:creationId xmlns:a16="http://schemas.microsoft.com/office/drawing/2014/main" id="{089FF1F0-6AA7-46B2-8C67-79F79B43FF7E}"/>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3">
            <a:extLst xmlns:a="http://schemas.openxmlformats.org/drawingml/2006/main">
              <a:ext uri="{FF2B5EF4-FFF2-40B4-BE49-F238E27FC236}">
                <a16:creationId xmlns:a16="http://schemas.microsoft.com/office/drawing/2014/main" id="{56F85138-E732-4D55-B20D-0C44F8D356EA}"/>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decision is earned by the connection between five things.</a:t>
            </a:r>
          </a:p>
        </p:txBody>
      </p:sp>
      <p:sp>
        <p:nvSpPr>
          <p:cNvPr id="6" name="">
            <a:extLst xmlns:a="http://schemas.openxmlformats.org/drawingml/2006/main">
              <a:ext uri="{FF2B5EF4-FFF2-40B4-BE49-F238E27FC236}">
                <a16:creationId xmlns:a16="http://schemas.microsoft.com/office/drawing/2014/main" id="{660306F4-D9C1-463B-848D-76BCF43F33E5}"/>
              </a:ext>
            </a:extLst>
          </p:cNvPr>
          <p:cNvSpPr>
            <a:spLocks xmlns:a="http://schemas.openxmlformats.org/drawingml/2006/main" noGrp="1"/>
          </p:cNvSpPr>
          <p:nvPr/>
        </p:nvSpPr>
        <p:spPr>
          <a:xfrm xmlns:a="http://schemas.openxmlformats.org/drawingml/2006/main">
            <a:off x="590550" y="3048000"/>
            <a:ext cx="1809750" cy="952500"/>
          </a:xfrm>
          <a:prstGeom xmlns:a="http://schemas.openxmlformats.org/drawingml/2006/main" prst="roundRect">
            <a:avLst>
              <a:gd name="adj" fmla="val 16000"/>
            </a:avLst>
          </a:prstGeom>
          <a:solidFill xmlns:a="http://schemas.openxmlformats.org/drawingml/2006/main">
            <a:srgbClr val="0D251E"/>
          </a:solidFill>
          <a:ln xmlns:a="http://schemas.openxmlformats.org/drawingml/2006/main" w="19050">
            <a:solidFill>
              <a:srgbClr val="74D7FF"/>
            </a:solidFill>
            <a:prstDash val="solid"/>
          </a:ln>
        </p:spPr>
      </p:sp>
      <p:sp>
        <p:nvSpPr>
          <p:cNvPr id="7" name="">
            <a:extLst xmlns:a="http://schemas.openxmlformats.org/drawingml/2006/main">
              <a:ext uri="{FF2B5EF4-FFF2-40B4-BE49-F238E27FC236}">
                <a16:creationId xmlns:a16="http://schemas.microsoft.com/office/drawing/2014/main" id="{913E1E96-7E69-4C9C-89FB-6E034A8B4285}"/>
              </a:ext>
            </a:extLst>
          </p:cNvPr>
          <p:cNvSpPr>
            <a:spLocks xmlns:a="http://schemas.openxmlformats.org/drawingml/2006/main" noGrp="1"/>
          </p:cNvSpPr>
          <p:nvPr/>
        </p:nvSpPr>
        <p:spPr>
          <a:xfrm xmlns:a="http://schemas.openxmlformats.org/drawingml/2006/main">
            <a:off x="742950" y="3200400"/>
            <a:ext cx="150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Requirement</a:t>
            </a:r>
          </a:p>
        </p:txBody>
      </p:sp>
      <p:sp>
        <p:nvSpPr>
          <p:cNvPr id="8" name="">
            <a:extLst xmlns:a="http://schemas.openxmlformats.org/drawingml/2006/main">
              <a:ext uri="{FF2B5EF4-FFF2-40B4-BE49-F238E27FC236}">
                <a16:creationId xmlns:a16="http://schemas.microsoft.com/office/drawing/2014/main" id="{0F6E20FD-4CFD-4F12-A8E9-041E162AA5AC}"/>
              </a:ext>
            </a:extLst>
          </p:cNvPr>
          <p:cNvSpPr>
            <a:spLocks xmlns:a="http://schemas.openxmlformats.org/drawingml/2006/main" noGrp="1"/>
          </p:cNvSpPr>
          <p:nvPr/>
        </p:nvSpPr>
        <p:spPr>
          <a:xfrm xmlns:a="http://schemas.openxmlformats.org/drawingml/2006/main">
            <a:off x="2438400" y="3429000"/>
            <a:ext cx="342900" cy="15240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308CF26-E436-4EBA-A48C-F569D6ACFB1E}"/>
              </a:ext>
            </a:extLst>
          </p:cNvPr>
          <p:cNvSpPr>
            <a:spLocks xmlns:a="http://schemas.openxmlformats.org/drawingml/2006/main" noGrp="1"/>
          </p:cNvSpPr>
          <p:nvPr/>
        </p:nvSpPr>
        <p:spPr>
          <a:xfrm xmlns:a="http://schemas.openxmlformats.org/drawingml/2006/main">
            <a:off x="2800350" y="3048000"/>
            <a:ext cx="1809750" cy="952500"/>
          </a:xfrm>
          <a:prstGeom xmlns:a="http://schemas.openxmlformats.org/drawingml/2006/main" prst="roundRect">
            <a:avLst>
              <a:gd name="adj" fmla="val 16000"/>
            </a:avLst>
          </a:prstGeom>
          <a:solidFill xmlns:a="http://schemas.openxmlformats.org/drawingml/2006/main">
            <a:srgbClr val="0D251E"/>
          </a:solidFill>
          <a:ln xmlns:a="http://schemas.openxmlformats.org/drawingml/2006/main" w="19050">
            <a:solidFill>
              <a:srgbClr val="74D7FF"/>
            </a:solidFill>
            <a:prstDash val="solid"/>
          </a:ln>
        </p:spPr>
      </p:sp>
      <p:sp>
        <p:nvSpPr>
          <p:cNvPr id="10" name="">
            <a:extLst xmlns:a="http://schemas.openxmlformats.org/drawingml/2006/main">
              <a:ext uri="{FF2B5EF4-FFF2-40B4-BE49-F238E27FC236}">
                <a16:creationId xmlns:a16="http://schemas.microsoft.com/office/drawing/2014/main" id="{10508A79-D667-4710-B779-81CF430C5FC6}"/>
              </a:ext>
            </a:extLst>
          </p:cNvPr>
          <p:cNvSpPr>
            <a:spLocks xmlns:a="http://schemas.openxmlformats.org/drawingml/2006/main" noGrp="1"/>
          </p:cNvSpPr>
          <p:nvPr/>
        </p:nvSpPr>
        <p:spPr>
          <a:xfrm xmlns:a="http://schemas.openxmlformats.org/drawingml/2006/main">
            <a:off x="2952750" y="3200400"/>
            <a:ext cx="150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State model</a:t>
            </a:r>
          </a:p>
        </p:txBody>
      </p:sp>
      <p:sp>
        <p:nvSpPr>
          <p:cNvPr id="11" name="">
            <a:extLst xmlns:a="http://schemas.openxmlformats.org/drawingml/2006/main">
              <a:ext uri="{FF2B5EF4-FFF2-40B4-BE49-F238E27FC236}">
                <a16:creationId xmlns:a16="http://schemas.microsoft.com/office/drawing/2014/main" id="{6E1DF205-4D71-431D-8F76-944763516FA8}"/>
              </a:ext>
            </a:extLst>
          </p:cNvPr>
          <p:cNvSpPr>
            <a:spLocks xmlns:a="http://schemas.openxmlformats.org/drawingml/2006/main" noGrp="1"/>
          </p:cNvSpPr>
          <p:nvPr/>
        </p:nvSpPr>
        <p:spPr>
          <a:xfrm xmlns:a="http://schemas.openxmlformats.org/drawingml/2006/main">
            <a:off x="4648200" y="3429000"/>
            <a:ext cx="342900" cy="15240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BC57A50-25CB-42DC-BF3C-30D8326E7953}"/>
              </a:ext>
            </a:extLst>
          </p:cNvPr>
          <p:cNvSpPr>
            <a:spLocks xmlns:a="http://schemas.openxmlformats.org/drawingml/2006/main" noGrp="1"/>
          </p:cNvSpPr>
          <p:nvPr/>
        </p:nvSpPr>
        <p:spPr>
          <a:xfrm xmlns:a="http://schemas.openxmlformats.org/drawingml/2006/main">
            <a:off x="5010150" y="3048000"/>
            <a:ext cx="1809750" cy="952500"/>
          </a:xfrm>
          <a:prstGeom xmlns:a="http://schemas.openxmlformats.org/drawingml/2006/main" prst="roundRect">
            <a:avLst>
              <a:gd name="adj" fmla="val 16000"/>
            </a:avLst>
          </a:prstGeom>
          <a:solidFill xmlns:a="http://schemas.openxmlformats.org/drawingml/2006/main">
            <a:srgbClr val="0D251E"/>
          </a:solidFill>
          <a:ln xmlns:a="http://schemas.openxmlformats.org/drawingml/2006/main" w="19050">
            <a:solidFill>
              <a:srgbClr val="74D7FF"/>
            </a:solidFill>
            <a:prstDash val="solid"/>
          </a:ln>
        </p:spPr>
      </p:sp>
      <p:sp>
        <p:nvSpPr>
          <p:cNvPr id="13" name="">
            <a:extLst xmlns:a="http://schemas.openxmlformats.org/drawingml/2006/main">
              <a:ext uri="{FF2B5EF4-FFF2-40B4-BE49-F238E27FC236}">
                <a16:creationId xmlns:a16="http://schemas.microsoft.com/office/drawing/2014/main" id="{EAD5C9BD-2450-40B7-B94A-ADA3E24BE6D7}"/>
              </a:ext>
            </a:extLst>
          </p:cNvPr>
          <p:cNvSpPr>
            <a:spLocks xmlns:a="http://schemas.openxmlformats.org/drawingml/2006/main" noGrp="1"/>
          </p:cNvSpPr>
          <p:nvPr/>
        </p:nvSpPr>
        <p:spPr>
          <a:xfrm xmlns:a="http://schemas.openxmlformats.org/drawingml/2006/main">
            <a:off x="5162550" y="3200400"/>
            <a:ext cx="150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Implementation</a:t>
            </a:r>
          </a:p>
        </p:txBody>
      </p:sp>
      <p:sp>
        <p:nvSpPr>
          <p:cNvPr id="14" name="">
            <a:extLst xmlns:a="http://schemas.openxmlformats.org/drawingml/2006/main">
              <a:ext uri="{FF2B5EF4-FFF2-40B4-BE49-F238E27FC236}">
                <a16:creationId xmlns:a16="http://schemas.microsoft.com/office/drawing/2014/main" id="{3B568930-5C49-4CF7-9A97-A58E2DC4154F}"/>
              </a:ext>
            </a:extLst>
          </p:cNvPr>
          <p:cNvSpPr>
            <a:spLocks xmlns:a="http://schemas.openxmlformats.org/drawingml/2006/main" noGrp="1"/>
          </p:cNvSpPr>
          <p:nvPr/>
        </p:nvSpPr>
        <p:spPr>
          <a:xfrm xmlns:a="http://schemas.openxmlformats.org/drawingml/2006/main">
            <a:off x="6858000" y="3429000"/>
            <a:ext cx="342900" cy="15240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EE4F298-5D1A-4503-824A-EA66E893F9F8}"/>
              </a:ext>
            </a:extLst>
          </p:cNvPr>
          <p:cNvSpPr>
            <a:spLocks xmlns:a="http://schemas.openxmlformats.org/drawingml/2006/main" noGrp="1"/>
          </p:cNvSpPr>
          <p:nvPr/>
        </p:nvSpPr>
        <p:spPr>
          <a:xfrm xmlns:a="http://schemas.openxmlformats.org/drawingml/2006/main">
            <a:off x="7219950" y="3048000"/>
            <a:ext cx="1809750" cy="952500"/>
          </a:xfrm>
          <a:prstGeom xmlns:a="http://schemas.openxmlformats.org/drawingml/2006/main" prst="roundRect">
            <a:avLst>
              <a:gd name="adj" fmla="val 16000"/>
            </a:avLst>
          </a:prstGeom>
          <a:solidFill xmlns:a="http://schemas.openxmlformats.org/drawingml/2006/main">
            <a:srgbClr val="0D251E"/>
          </a:solidFill>
          <a:ln xmlns:a="http://schemas.openxmlformats.org/drawingml/2006/main" w="19050">
            <a:solidFill>
              <a:srgbClr val="74D7FF"/>
            </a:solidFill>
            <a:prstDash val="solid"/>
          </a:ln>
        </p:spPr>
      </p:sp>
      <p:sp>
        <p:nvSpPr>
          <p:cNvPr id="16" name="">
            <a:extLst xmlns:a="http://schemas.openxmlformats.org/drawingml/2006/main">
              <a:ext uri="{FF2B5EF4-FFF2-40B4-BE49-F238E27FC236}">
                <a16:creationId xmlns:a16="http://schemas.microsoft.com/office/drawing/2014/main" id="{C2484EC0-AA0C-4EB9-A072-148BEBE8DC9A}"/>
              </a:ext>
            </a:extLst>
          </p:cNvPr>
          <p:cNvSpPr>
            <a:spLocks xmlns:a="http://schemas.openxmlformats.org/drawingml/2006/main" noGrp="1"/>
          </p:cNvSpPr>
          <p:nvPr/>
        </p:nvSpPr>
        <p:spPr>
          <a:xfrm xmlns:a="http://schemas.openxmlformats.org/drawingml/2006/main">
            <a:off x="7372350" y="3200400"/>
            <a:ext cx="150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Evidence</a:t>
            </a:r>
          </a:p>
        </p:txBody>
      </p:sp>
      <p:sp>
        <p:nvSpPr>
          <p:cNvPr id="17" name="">
            <a:extLst xmlns:a="http://schemas.openxmlformats.org/drawingml/2006/main">
              <a:ext uri="{FF2B5EF4-FFF2-40B4-BE49-F238E27FC236}">
                <a16:creationId xmlns:a16="http://schemas.microsoft.com/office/drawing/2014/main" id="{C6AAB268-76A1-4791-BBE5-4D401B386779}"/>
              </a:ext>
            </a:extLst>
          </p:cNvPr>
          <p:cNvSpPr>
            <a:spLocks xmlns:a="http://schemas.openxmlformats.org/drawingml/2006/main" noGrp="1"/>
          </p:cNvSpPr>
          <p:nvPr/>
        </p:nvSpPr>
        <p:spPr>
          <a:xfrm xmlns:a="http://schemas.openxmlformats.org/drawingml/2006/main">
            <a:off x="9067800" y="3429000"/>
            <a:ext cx="342900" cy="15240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43F3DAE-3BB2-4FB2-8B0E-24446C5954AB}"/>
              </a:ext>
            </a:extLst>
          </p:cNvPr>
          <p:cNvSpPr>
            <a:spLocks xmlns:a="http://schemas.openxmlformats.org/drawingml/2006/main" noGrp="1"/>
          </p:cNvSpPr>
          <p:nvPr/>
        </p:nvSpPr>
        <p:spPr>
          <a:xfrm xmlns:a="http://schemas.openxmlformats.org/drawingml/2006/main">
            <a:off x="9429750" y="3048000"/>
            <a:ext cx="1809750" cy="952500"/>
          </a:xfrm>
          <a:prstGeom xmlns:a="http://schemas.openxmlformats.org/drawingml/2006/main" prst="roundRect">
            <a:avLst>
              <a:gd name="adj" fmla="val 16000"/>
            </a:avLst>
          </a:prstGeom>
          <a:solidFill xmlns:a="http://schemas.openxmlformats.org/drawingml/2006/main">
            <a:srgbClr val="0D251E"/>
          </a:solidFill>
          <a:ln xmlns:a="http://schemas.openxmlformats.org/drawingml/2006/main" w="19050">
            <a:solidFill>
              <a:srgbClr val="F5B84B"/>
            </a:solidFill>
            <a:prstDash val="solid"/>
          </a:ln>
        </p:spPr>
      </p:sp>
      <p:sp>
        <p:nvSpPr>
          <p:cNvPr id="19" name="">
            <a:extLst xmlns:a="http://schemas.openxmlformats.org/drawingml/2006/main">
              <a:ext uri="{FF2B5EF4-FFF2-40B4-BE49-F238E27FC236}">
                <a16:creationId xmlns:a16="http://schemas.microsoft.com/office/drawing/2014/main" id="{0374C9D3-6367-4040-9E07-A9BAA3905004}"/>
              </a:ext>
            </a:extLst>
          </p:cNvPr>
          <p:cNvSpPr>
            <a:spLocks xmlns:a="http://schemas.openxmlformats.org/drawingml/2006/main" noGrp="1"/>
          </p:cNvSpPr>
          <p:nvPr/>
        </p:nvSpPr>
        <p:spPr>
          <a:xfrm xmlns:a="http://schemas.openxmlformats.org/drawingml/2006/main">
            <a:off x="9582150" y="3200400"/>
            <a:ext cx="15049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Judgement</a:t>
            </a:r>
          </a:p>
        </p:txBody>
      </p:sp>
      <p:sp>
        <p:nvSpPr>
          <p:cNvPr id="20" name="">
            <a:extLst xmlns:a="http://schemas.openxmlformats.org/drawingml/2006/main">
              <a:ext uri="{FF2B5EF4-FFF2-40B4-BE49-F238E27FC236}">
                <a16:creationId xmlns:a16="http://schemas.microsoft.com/office/drawing/2014/main" id="{2924361D-AC7F-40ED-8D89-CF4ED20A17F2}"/>
              </a:ext>
            </a:extLst>
          </p:cNvPr>
          <p:cNvSpPr>
            <a:spLocks xmlns:a="http://schemas.openxmlformats.org/drawingml/2006/main" noGrp="1"/>
          </p:cNvSpPr>
          <p:nvPr/>
        </p:nvSpPr>
        <p:spPr>
          <a:xfrm xmlns:a="http://schemas.openxmlformats.org/drawingml/2006/main">
            <a:off x="1619250" y="4762500"/>
            <a:ext cx="895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025" b="1">
                <a:solidFill>
                  <a:srgbClr val="FFD989"/>
                </a:solidFill>
                <a:latin typeface="Georgia"/>
                <a:ea typeface="Georgia"/>
                <a:cs typeface="Georgia"/>
              </a:defRPr>
            </a:pPr>
            <a:r>
              <a:rPr sz="2025" b="1">
                <a:solidFill>
                  <a:srgbClr val="FFD989"/>
                </a:solidFill>
                <a:latin typeface="Georgia"/>
                <a:ea typeface="Georgia"/>
                <a:cs typeface="Georgia"/>
              </a:rPr>
              <a:t>If one link is vague, the conclusion must remain bounded.</a:t>
            </a:r>
          </a:p>
        </p:txBody>
      </p:sp>
    </p:spTree>
    <p:extLst>
      <p:ext uri="{BB962C8B-B14F-4D97-AF65-F5344CB8AC3E}">
        <p14:creationId xmlns:p14="http://schemas.microsoft.com/office/powerpoint/2010/main" val="141467201"/>
      </p:ext>
    </p:extLst>
  </p:cSld>
</p:sld>
</file>

<file path=ppt/slides/slide4.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34" name="chrome-section-4">
            <a:extLst xmlns:a="http://schemas.openxmlformats.org/drawingml/2006/main">
              <a:ext uri="{FF2B5EF4-FFF2-40B4-BE49-F238E27FC236}">
                <a16:creationId xmlns:a16="http://schemas.microsoft.com/office/drawing/2014/main" id="{7017D497-E20E-4FBF-AF87-0D739F455E2A}"/>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THE SEVEN RULES</a:t>
            </a:r>
          </a:p>
        </p:txBody>
      </p:sp>
      <p:sp>
        <p:nvSpPr>
          <p:cNvPr id="2" name="chrome-number-4">
            <a:extLst xmlns:a="http://schemas.openxmlformats.org/drawingml/2006/main">
              <a:ext uri="{FF2B5EF4-FFF2-40B4-BE49-F238E27FC236}">
                <a16:creationId xmlns:a16="http://schemas.microsoft.com/office/drawing/2014/main" id="{E7CBA13A-D110-48A6-B1EC-4716B3B4DC13}"/>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04</a:t>
            </a:r>
          </a:p>
        </p:txBody>
      </p:sp>
      <p:sp>
        <p:nvSpPr>
          <p:cNvPr id="3" name="slide-title-4">
            <a:extLst xmlns:a="http://schemas.openxmlformats.org/drawingml/2006/main">
              <a:ext uri="{FF2B5EF4-FFF2-40B4-BE49-F238E27FC236}">
                <a16:creationId xmlns:a16="http://schemas.microsoft.com/office/drawing/2014/main" id="{B64F36F7-61D7-4162-892F-D1D7694CF242}"/>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Seven rules become seven review questions</a:t>
            </a:r>
          </a:p>
        </p:txBody>
      </p:sp>
      <p:sp>
        <p:nvSpPr>
          <p:cNvPr id="4" name="title-rule-4">
            <a:extLst xmlns:a="http://schemas.openxmlformats.org/drawingml/2006/main">
              <a:ext uri="{FF2B5EF4-FFF2-40B4-BE49-F238E27FC236}">
                <a16:creationId xmlns:a16="http://schemas.microsoft.com/office/drawing/2014/main" id="{59ACFCEC-CB84-45D2-A5C6-325CC0F1CBF5}"/>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4">
            <a:extLst xmlns:a="http://schemas.openxmlformats.org/drawingml/2006/main">
              <a:ext uri="{FF2B5EF4-FFF2-40B4-BE49-F238E27FC236}">
                <a16:creationId xmlns:a16="http://schemas.microsoft.com/office/drawing/2014/main" id="{843CACF1-3633-40A2-9BAF-00F8592544C0}"/>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Short lecture labels are used here; Lesson 1 contains the full rule statements.</a:t>
            </a:r>
          </a:p>
        </p:txBody>
      </p:sp>
      <p:sp>
        <p:nvSpPr>
          <p:cNvPr id="6" name="">
            <a:extLst xmlns:a="http://schemas.openxmlformats.org/drawingml/2006/main">
              <a:ext uri="{FF2B5EF4-FFF2-40B4-BE49-F238E27FC236}">
                <a16:creationId xmlns:a16="http://schemas.microsoft.com/office/drawing/2014/main" id="{9B8DDDC2-00CA-48DA-B569-51B6445247AC}"/>
              </a:ext>
            </a:extLst>
          </p:cNvPr>
          <p:cNvSpPr>
            <a:spLocks xmlns:a="http://schemas.openxmlformats.org/drawingml/2006/main" noGrp="1"/>
          </p:cNvSpPr>
          <p:nvPr/>
        </p:nvSpPr>
        <p:spPr>
          <a:xfrm xmlns:a="http://schemas.openxmlformats.org/drawingml/2006/main">
            <a:off x="666750" y="24003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1</a:t>
            </a:r>
          </a:p>
        </p:txBody>
      </p:sp>
      <p:sp>
        <p:nvSpPr>
          <p:cNvPr id="7" name="">
            <a:extLst xmlns:a="http://schemas.openxmlformats.org/drawingml/2006/main">
              <a:ext uri="{FF2B5EF4-FFF2-40B4-BE49-F238E27FC236}">
                <a16:creationId xmlns:a16="http://schemas.microsoft.com/office/drawing/2014/main" id="{768BFFDD-CAB2-492C-B023-7306FB40A114}"/>
              </a:ext>
            </a:extLst>
          </p:cNvPr>
          <p:cNvSpPr>
            <a:spLocks xmlns:a="http://schemas.openxmlformats.org/drawingml/2006/main" noGrp="1"/>
          </p:cNvSpPr>
          <p:nvPr/>
        </p:nvSpPr>
        <p:spPr>
          <a:xfrm xmlns:a="http://schemas.openxmlformats.org/drawingml/2006/main">
            <a:off x="1257300" y="2400300"/>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Estimate timeliness</a:t>
            </a:r>
          </a:p>
        </p:txBody>
      </p:sp>
      <p:sp>
        <p:nvSpPr>
          <p:cNvPr id="8" name="">
            <a:extLst xmlns:a="http://schemas.openxmlformats.org/drawingml/2006/main">
              <a:ext uri="{FF2B5EF4-FFF2-40B4-BE49-F238E27FC236}">
                <a16:creationId xmlns:a16="http://schemas.microsoft.com/office/drawing/2014/main" id="{F1A8A93D-E9F2-4745-96BE-EB44C5CE0AED}"/>
              </a:ext>
            </a:extLst>
          </p:cNvPr>
          <p:cNvSpPr>
            <a:spLocks xmlns:a="http://schemas.openxmlformats.org/drawingml/2006/main" noGrp="1"/>
          </p:cNvSpPr>
          <p:nvPr/>
        </p:nvSpPr>
        <p:spPr>
          <a:xfrm xmlns:a="http://schemas.openxmlformats.org/drawingml/2006/main">
            <a:off x="4629150" y="2562225"/>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9" name="">
            <a:extLst xmlns:a="http://schemas.openxmlformats.org/drawingml/2006/main">
              <a:ext uri="{FF2B5EF4-FFF2-40B4-BE49-F238E27FC236}">
                <a16:creationId xmlns:a16="http://schemas.microsoft.com/office/drawing/2014/main" id="{35585B4D-5C89-47E0-9211-BC343C705AD2}"/>
              </a:ext>
            </a:extLst>
          </p:cNvPr>
          <p:cNvSpPr>
            <a:spLocks xmlns:a="http://schemas.openxmlformats.org/drawingml/2006/main" noGrp="1"/>
          </p:cNvSpPr>
          <p:nvPr/>
        </p:nvSpPr>
        <p:spPr>
          <a:xfrm xmlns:a="http://schemas.openxmlformats.org/drawingml/2006/main">
            <a:off x="5562600" y="24003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Which path threatens which budget?</a:t>
            </a:r>
          </a:p>
        </p:txBody>
      </p:sp>
      <p:sp>
        <p:nvSpPr>
          <p:cNvPr id="10" name="">
            <a:extLst xmlns:a="http://schemas.openxmlformats.org/drawingml/2006/main">
              <a:ext uri="{FF2B5EF4-FFF2-40B4-BE49-F238E27FC236}">
                <a16:creationId xmlns:a16="http://schemas.microsoft.com/office/drawing/2014/main" id="{50CDCF04-74A7-47BD-86F4-37B7A564A980}"/>
              </a:ext>
            </a:extLst>
          </p:cNvPr>
          <p:cNvSpPr>
            <a:spLocks xmlns:a="http://schemas.openxmlformats.org/drawingml/2006/main" noGrp="1"/>
          </p:cNvSpPr>
          <p:nvPr/>
        </p:nvSpPr>
        <p:spPr>
          <a:xfrm xmlns:a="http://schemas.openxmlformats.org/drawingml/2006/main">
            <a:off x="666750" y="2924175"/>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2</a:t>
            </a:r>
          </a:p>
        </p:txBody>
      </p:sp>
      <p:sp>
        <p:nvSpPr>
          <p:cNvPr id="11" name="">
            <a:extLst xmlns:a="http://schemas.openxmlformats.org/drawingml/2006/main">
              <a:ext uri="{FF2B5EF4-FFF2-40B4-BE49-F238E27FC236}">
                <a16:creationId xmlns:a16="http://schemas.microsoft.com/office/drawing/2014/main" id="{D87114B3-3D01-42FE-AC14-BF41CDEF9305}"/>
              </a:ext>
            </a:extLst>
          </p:cNvPr>
          <p:cNvSpPr>
            <a:spLocks xmlns:a="http://schemas.openxmlformats.org/drawingml/2006/main" noGrp="1"/>
          </p:cNvSpPr>
          <p:nvPr/>
        </p:nvSpPr>
        <p:spPr>
          <a:xfrm xmlns:a="http://schemas.openxmlformats.org/drawingml/2006/main">
            <a:off x="1257300" y="2924175"/>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Understand the computation</a:t>
            </a:r>
          </a:p>
        </p:txBody>
      </p:sp>
      <p:sp>
        <p:nvSpPr>
          <p:cNvPr id="12" name="">
            <a:extLst xmlns:a="http://schemas.openxmlformats.org/drawingml/2006/main">
              <a:ext uri="{FF2B5EF4-FFF2-40B4-BE49-F238E27FC236}">
                <a16:creationId xmlns:a16="http://schemas.microsoft.com/office/drawing/2014/main" id="{CE7D6757-6F59-4BD1-A880-894AB6C41232}"/>
              </a:ext>
            </a:extLst>
          </p:cNvPr>
          <p:cNvSpPr>
            <a:spLocks xmlns:a="http://schemas.openxmlformats.org/drawingml/2006/main" noGrp="1"/>
          </p:cNvSpPr>
          <p:nvPr/>
        </p:nvSpPr>
        <p:spPr>
          <a:xfrm xmlns:a="http://schemas.openxmlformats.org/drawingml/2006/main">
            <a:off x="4629150" y="3086100"/>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3" name="">
            <a:extLst xmlns:a="http://schemas.openxmlformats.org/drawingml/2006/main">
              <a:ext uri="{FF2B5EF4-FFF2-40B4-BE49-F238E27FC236}">
                <a16:creationId xmlns:a16="http://schemas.microsoft.com/office/drawing/2014/main" id="{1BB159B7-223D-4EF7-B476-B4C4949820F2}"/>
              </a:ext>
            </a:extLst>
          </p:cNvPr>
          <p:cNvSpPr>
            <a:spLocks xmlns:a="http://schemas.openxmlformats.org/drawingml/2006/main" noGrp="1"/>
          </p:cNvSpPr>
          <p:nvPr/>
        </p:nvSpPr>
        <p:spPr>
          <a:xfrm xmlns:a="http://schemas.openxmlformats.org/drawingml/2006/main">
            <a:off x="5562600" y="292417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Where can invalid state enter?</a:t>
            </a:r>
          </a:p>
        </p:txBody>
      </p:sp>
      <p:sp>
        <p:nvSpPr>
          <p:cNvPr id="14" name="">
            <a:extLst xmlns:a="http://schemas.openxmlformats.org/drawingml/2006/main">
              <a:ext uri="{FF2B5EF4-FFF2-40B4-BE49-F238E27FC236}">
                <a16:creationId xmlns:a16="http://schemas.microsoft.com/office/drawing/2014/main" id="{7338EF86-4700-4031-BD91-9610F635A5E2}"/>
              </a:ext>
            </a:extLst>
          </p:cNvPr>
          <p:cNvSpPr>
            <a:spLocks xmlns:a="http://schemas.openxmlformats.org/drawingml/2006/main" noGrp="1"/>
          </p:cNvSpPr>
          <p:nvPr/>
        </p:nvSpPr>
        <p:spPr>
          <a:xfrm xmlns:a="http://schemas.openxmlformats.org/drawingml/2006/main">
            <a:off x="666750" y="34480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3</a:t>
            </a:r>
          </a:p>
        </p:txBody>
      </p:sp>
      <p:sp>
        <p:nvSpPr>
          <p:cNvPr id="15" name="">
            <a:extLst xmlns:a="http://schemas.openxmlformats.org/drawingml/2006/main">
              <a:ext uri="{FF2B5EF4-FFF2-40B4-BE49-F238E27FC236}">
                <a16:creationId xmlns:a16="http://schemas.microsoft.com/office/drawing/2014/main" id="{02EEC9F3-0FEA-4944-A849-B362B603E4B4}"/>
              </a:ext>
            </a:extLst>
          </p:cNvPr>
          <p:cNvSpPr>
            <a:spLocks xmlns:a="http://schemas.openxmlformats.org/drawingml/2006/main" noGrp="1"/>
          </p:cNvSpPr>
          <p:nvPr/>
        </p:nvSpPr>
        <p:spPr>
          <a:xfrm xmlns:a="http://schemas.openxmlformats.org/drawingml/2006/main">
            <a:off x="1257300" y="3448050"/>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Evaluate correctness</a:t>
            </a:r>
          </a:p>
        </p:txBody>
      </p:sp>
      <p:sp>
        <p:nvSpPr>
          <p:cNvPr id="16" name="">
            <a:extLst xmlns:a="http://schemas.openxmlformats.org/drawingml/2006/main">
              <a:ext uri="{FF2B5EF4-FFF2-40B4-BE49-F238E27FC236}">
                <a16:creationId xmlns:a16="http://schemas.microsoft.com/office/drawing/2014/main" id="{1F40AD61-DD0F-4771-BE13-C4E8EAAA2F3B}"/>
              </a:ext>
            </a:extLst>
          </p:cNvPr>
          <p:cNvSpPr>
            <a:spLocks xmlns:a="http://schemas.openxmlformats.org/drawingml/2006/main" noGrp="1"/>
          </p:cNvSpPr>
          <p:nvPr/>
        </p:nvSpPr>
        <p:spPr>
          <a:xfrm xmlns:a="http://schemas.openxmlformats.org/drawingml/2006/main">
            <a:off x="4629150" y="3609975"/>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7" name="">
            <a:extLst xmlns:a="http://schemas.openxmlformats.org/drawingml/2006/main">
              <a:ext uri="{FF2B5EF4-FFF2-40B4-BE49-F238E27FC236}">
                <a16:creationId xmlns:a16="http://schemas.microsoft.com/office/drawing/2014/main" id="{DF7D27F1-B678-4AEA-8C4A-54C67D9A4667}"/>
              </a:ext>
            </a:extLst>
          </p:cNvPr>
          <p:cNvSpPr>
            <a:spLocks xmlns:a="http://schemas.openxmlformats.org/drawingml/2006/main" noGrp="1"/>
          </p:cNvSpPr>
          <p:nvPr/>
        </p:nvSpPr>
        <p:spPr>
          <a:xfrm xmlns:a="http://schemas.openxmlformats.org/drawingml/2006/main">
            <a:off x="5562600" y="34480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What does this evidence justify?</a:t>
            </a:r>
          </a:p>
        </p:txBody>
      </p:sp>
      <p:sp>
        <p:nvSpPr>
          <p:cNvPr id="18" name="">
            <a:extLst xmlns:a="http://schemas.openxmlformats.org/drawingml/2006/main">
              <a:ext uri="{FF2B5EF4-FFF2-40B4-BE49-F238E27FC236}">
                <a16:creationId xmlns:a16="http://schemas.microsoft.com/office/drawing/2014/main" id="{13BCD396-4F7E-4BA9-BE33-407BF878909D}"/>
              </a:ext>
            </a:extLst>
          </p:cNvPr>
          <p:cNvSpPr>
            <a:spLocks xmlns:a="http://schemas.openxmlformats.org/drawingml/2006/main" noGrp="1"/>
          </p:cNvSpPr>
          <p:nvPr/>
        </p:nvSpPr>
        <p:spPr>
          <a:xfrm xmlns:a="http://schemas.openxmlformats.org/drawingml/2006/main">
            <a:off x="666750" y="3971925"/>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4</a:t>
            </a:r>
          </a:p>
        </p:txBody>
      </p:sp>
      <p:sp>
        <p:nvSpPr>
          <p:cNvPr id="19" name="">
            <a:extLst xmlns:a="http://schemas.openxmlformats.org/drawingml/2006/main">
              <a:ext uri="{FF2B5EF4-FFF2-40B4-BE49-F238E27FC236}">
                <a16:creationId xmlns:a16="http://schemas.microsoft.com/office/drawing/2014/main" id="{E13C2FD2-82E0-49C1-8841-B60949FC7893}"/>
              </a:ext>
            </a:extLst>
          </p:cNvPr>
          <p:cNvSpPr>
            <a:spLocks xmlns:a="http://schemas.openxmlformats.org/drawingml/2006/main" noGrp="1"/>
          </p:cNvSpPr>
          <p:nvPr/>
        </p:nvSpPr>
        <p:spPr>
          <a:xfrm xmlns:a="http://schemas.openxmlformats.org/drawingml/2006/main">
            <a:off x="1257300" y="3971925"/>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Use existing expertise</a:t>
            </a:r>
          </a:p>
        </p:txBody>
      </p:sp>
      <p:sp>
        <p:nvSpPr>
          <p:cNvPr id="20" name="">
            <a:extLst xmlns:a="http://schemas.openxmlformats.org/drawingml/2006/main">
              <a:ext uri="{FF2B5EF4-FFF2-40B4-BE49-F238E27FC236}">
                <a16:creationId xmlns:a16="http://schemas.microsoft.com/office/drawing/2014/main" id="{CE341E2A-6E57-4936-A13A-820BF19CBA6E}"/>
              </a:ext>
            </a:extLst>
          </p:cNvPr>
          <p:cNvSpPr>
            <a:spLocks xmlns:a="http://schemas.openxmlformats.org/drawingml/2006/main" noGrp="1"/>
          </p:cNvSpPr>
          <p:nvPr/>
        </p:nvSpPr>
        <p:spPr>
          <a:xfrm xmlns:a="http://schemas.openxmlformats.org/drawingml/2006/main">
            <a:off x="4629150" y="4133850"/>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21" name="">
            <a:extLst xmlns:a="http://schemas.openxmlformats.org/drawingml/2006/main">
              <a:ext uri="{FF2B5EF4-FFF2-40B4-BE49-F238E27FC236}">
                <a16:creationId xmlns:a16="http://schemas.microsoft.com/office/drawing/2014/main" id="{B2762F9F-16DC-455B-AEE1-68CC276DB3D0}"/>
              </a:ext>
            </a:extLst>
          </p:cNvPr>
          <p:cNvSpPr>
            <a:spLocks xmlns:a="http://schemas.openxmlformats.org/drawingml/2006/main" noGrp="1"/>
          </p:cNvSpPr>
          <p:nvPr/>
        </p:nvSpPr>
        <p:spPr>
          <a:xfrm xmlns:a="http://schemas.openxmlformats.org/drawingml/2006/main">
            <a:off x="5562600" y="397192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Which contract are we trusting?</a:t>
            </a:r>
          </a:p>
        </p:txBody>
      </p:sp>
      <p:sp>
        <p:nvSpPr>
          <p:cNvPr id="22" name="">
            <a:extLst xmlns:a="http://schemas.openxmlformats.org/drawingml/2006/main">
              <a:ext uri="{FF2B5EF4-FFF2-40B4-BE49-F238E27FC236}">
                <a16:creationId xmlns:a16="http://schemas.microsoft.com/office/drawing/2014/main" id="{A2678BBC-4691-4218-9F87-3BAD7F11ED2A}"/>
              </a:ext>
            </a:extLst>
          </p:cNvPr>
          <p:cNvSpPr>
            <a:spLocks xmlns:a="http://schemas.openxmlformats.org/drawingml/2006/main" noGrp="1"/>
          </p:cNvSpPr>
          <p:nvPr/>
        </p:nvSpPr>
        <p:spPr>
          <a:xfrm xmlns:a="http://schemas.openxmlformats.org/drawingml/2006/main">
            <a:off x="666750" y="449580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5</a:t>
            </a:r>
          </a:p>
        </p:txBody>
      </p:sp>
      <p:sp>
        <p:nvSpPr>
          <p:cNvPr id="23" name="">
            <a:extLst xmlns:a="http://schemas.openxmlformats.org/drawingml/2006/main">
              <a:ext uri="{FF2B5EF4-FFF2-40B4-BE49-F238E27FC236}">
                <a16:creationId xmlns:a16="http://schemas.microsoft.com/office/drawing/2014/main" id="{C14CC24D-FB6A-4162-AEE8-E579DEF1CA4D}"/>
              </a:ext>
            </a:extLst>
          </p:cNvPr>
          <p:cNvSpPr>
            <a:spLocks xmlns:a="http://schemas.openxmlformats.org/drawingml/2006/main" noGrp="1"/>
          </p:cNvSpPr>
          <p:nvPr/>
        </p:nvSpPr>
        <p:spPr>
          <a:xfrm xmlns:a="http://schemas.openxmlformats.org/drawingml/2006/main">
            <a:off x="1257300" y="4495800"/>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Realise value</a:t>
            </a:r>
          </a:p>
        </p:txBody>
      </p:sp>
      <p:sp>
        <p:nvSpPr>
          <p:cNvPr id="24" name="">
            <a:extLst xmlns:a="http://schemas.openxmlformats.org/drawingml/2006/main">
              <a:ext uri="{FF2B5EF4-FFF2-40B4-BE49-F238E27FC236}">
                <a16:creationId xmlns:a16="http://schemas.microsoft.com/office/drawing/2014/main" id="{3A0C069D-E326-44D2-931A-796598D51497}"/>
              </a:ext>
            </a:extLst>
          </p:cNvPr>
          <p:cNvSpPr>
            <a:spLocks xmlns:a="http://schemas.openxmlformats.org/drawingml/2006/main" noGrp="1"/>
          </p:cNvSpPr>
          <p:nvPr/>
        </p:nvSpPr>
        <p:spPr>
          <a:xfrm xmlns:a="http://schemas.openxmlformats.org/drawingml/2006/main">
            <a:off x="4629150" y="4657725"/>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25" name="">
            <a:extLst xmlns:a="http://schemas.openxmlformats.org/drawingml/2006/main">
              <a:ext uri="{FF2B5EF4-FFF2-40B4-BE49-F238E27FC236}">
                <a16:creationId xmlns:a16="http://schemas.microsoft.com/office/drawing/2014/main" id="{6B4E335C-6594-44FD-8081-5EC736AE49EF}"/>
              </a:ext>
            </a:extLst>
          </p:cNvPr>
          <p:cNvSpPr>
            <a:spLocks xmlns:a="http://schemas.openxmlformats.org/drawingml/2006/main" noGrp="1"/>
          </p:cNvSpPr>
          <p:nvPr/>
        </p:nvSpPr>
        <p:spPr>
          <a:xfrm xmlns:a="http://schemas.openxmlformats.org/drawingml/2006/main">
            <a:off x="5562600" y="449580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What useful consequence changed?</a:t>
            </a:r>
          </a:p>
        </p:txBody>
      </p:sp>
      <p:sp>
        <p:nvSpPr>
          <p:cNvPr id="26" name="">
            <a:extLst xmlns:a="http://schemas.openxmlformats.org/drawingml/2006/main">
              <a:ext uri="{FF2B5EF4-FFF2-40B4-BE49-F238E27FC236}">
                <a16:creationId xmlns:a16="http://schemas.microsoft.com/office/drawing/2014/main" id="{D824532A-2E4C-41FD-97CE-76C1E83B0DEC}"/>
              </a:ext>
            </a:extLst>
          </p:cNvPr>
          <p:cNvSpPr>
            <a:spLocks xmlns:a="http://schemas.openxmlformats.org/drawingml/2006/main" noGrp="1"/>
          </p:cNvSpPr>
          <p:nvPr/>
        </p:nvSpPr>
        <p:spPr>
          <a:xfrm xmlns:a="http://schemas.openxmlformats.org/drawingml/2006/main">
            <a:off x="666750" y="5019675"/>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6</a:t>
            </a:r>
          </a:p>
        </p:txBody>
      </p:sp>
      <p:sp>
        <p:nvSpPr>
          <p:cNvPr id="27" name="">
            <a:extLst xmlns:a="http://schemas.openxmlformats.org/drawingml/2006/main">
              <a:ext uri="{FF2B5EF4-FFF2-40B4-BE49-F238E27FC236}">
                <a16:creationId xmlns:a16="http://schemas.microsoft.com/office/drawing/2014/main" id="{846057EF-8482-4B3B-B6D1-104060A7D476}"/>
              </a:ext>
            </a:extLst>
          </p:cNvPr>
          <p:cNvSpPr>
            <a:spLocks xmlns:a="http://schemas.openxmlformats.org/drawingml/2006/main" noGrp="1"/>
          </p:cNvSpPr>
          <p:nvPr/>
        </p:nvSpPr>
        <p:spPr>
          <a:xfrm xmlns:a="http://schemas.openxmlformats.org/drawingml/2006/main">
            <a:off x="1257300" y="5019675"/>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Nurture programmers</a:t>
            </a:r>
          </a:p>
        </p:txBody>
      </p:sp>
      <p:sp>
        <p:nvSpPr>
          <p:cNvPr id="28" name="">
            <a:extLst xmlns:a="http://schemas.openxmlformats.org/drawingml/2006/main">
              <a:ext uri="{FF2B5EF4-FFF2-40B4-BE49-F238E27FC236}">
                <a16:creationId xmlns:a16="http://schemas.microsoft.com/office/drawing/2014/main" id="{030A5650-1B6A-4F05-8E87-A5DC352B0A3A}"/>
              </a:ext>
            </a:extLst>
          </p:cNvPr>
          <p:cNvSpPr>
            <a:spLocks xmlns:a="http://schemas.openxmlformats.org/drawingml/2006/main" noGrp="1"/>
          </p:cNvSpPr>
          <p:nvPr/>
        </p:nvSpPr>
        <p:spPr>
          <a:xfrm xmlns:a="http://schemas.openxmlformats.org/drawingml/2006/main">
            <a:off x="4629150" y="5181600"/>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29" name="">
            <a:extLst xmlns:a="http://schemas.openxmlformats.org/drawingml/2006/main">
              <a:ext uri="{FF2B5EF4-FFF2-40B4-BE49-F238E27FC236}">
                <a16:creationId xmlns:a16="http://schemas.microsoft.com/office/drawing/2014/main" id="{19A52262-B543-4F4A-B1A8-33F80587ACEC}"/>
              </a:ext>
            </a:extLst>
          </p:cNvPr>
          <p:cNvSpPr>
            <a:spLocks xmlns:a="http://schemas.openxmlformats.org/drawingml/2006/main" noGrp="1"/>
          </p:cNvSpPr>
          <p:nvPr/>
        </p:nvSpPr>
        <p:spPr>
          <a:xfrm xmlns:a="http://schemas.openxmlformats.org/drawingml/2006/main">
            <a:off x="5562600" y="5019675"/>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Can another programmer extend it?</a:t>
            </a:r>
          </a:p>
        </p:txBody>
      </p:sp>
      <p:sp>
        <p:nvSpPr>
          <p:cNvPr id="30" name="">
            <a:extLst xmlns:a="http://schemas.openxmlformats.org/drawingml/2006/main">
              <a:ext uri="{FF2B5EF4-FFF2-40B4-BE49-F238E27FC236}">
                <a16:creationId xmlns:a16="http://schemas.microsoft.com/office/drawing/2014/main" id="{55CE3F54-7D62-4C77-B0E3-647E0154F47E}"/>
              </a:ext>
            </a:extLst>
          </p:cNvPr>
          <p:cNvSpPr>
            <a:spLocks xmlns:a="http://schemas.openxmlformats.org/drawingml/2006/main" noGrp="1"/>
          </p:cNvSpPr>
          <p:nvPr/>
        </p:nvSpPr>
        <p:spPr>
          <a:xfrm xmlns:a="http://schemas.openxmlformats.org/drawingml/2006/main">
            <a:off x="666750" y="5543550"/>
            <a:ext cx="419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00" b="1">
                <a:solidFill>
                  <a:srgbClr val="F5B84B"/>
                </a:solidFill>
                <a:latin typeface="Consolas"/>
                <a:ea typeface="Consolas"/>
                <a:cs typeface="Consolas"/>
              </a:defRPr>
            </a:pPr>
            <a:r>
              <a:rPr sz="1800" b="1">
                <a:solidFill>
                  <a:srgbClr val="F5B84B"/>
                </a:solidFill>
                <a:latin typeface="Consolas"/>
                <a:ea typeface="Consolas"/>
                <a:cs typeface="Consolas"/>
              </a:rPr>
              <a:t>7</a:t>
            </a:r>
          </a:p>
        </p:txBody>
      </p:sp>
      <p:sp>
        <p:nvSpPr>
          <p:cNvPr id="31" name="">
            <a:extLst xmlns:a="http://schemas.openxmlformats.org/drawingml/2006/main">
              <a:ext uri="{FF2B5EF4-FFF2-40B4-BE49-F238E27FC236}">
                <a16:creationId xmlns:a16="http://schemas.microsoft.com/office/drawing/2014/main" id="{0EB28130-D8AA-4688-AB31-3D4B330575BF}"/>
              </a:ext>
            </a:extLst>
          </p:cNvPr>
          <p:cNvSpPr>
            <a:spLocks xmlns:a="http://schemas.openxmlformats.org/drawingml/2006/main" noGrp="1"/>
          </p:cNvSpPr>
          <p:nvPr/>
        </p:nvSpPr>
        <p:spPr>
          <a:xfrm xmlns:a="http://schemas.openxmlformats.org/drawingml/2006/main">
            <a:off x="1257300" y="5543550"/>
            <a:ext cx="3286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Enjoy the journey</a:t>
            </a:r>
          </a:p>
        </p:txBody>
      </p:sp>
      <p:sp>
        <p:nvSpPr>
          <p:cNvPr id="32" name="">
            <a:extLst xmlns:a="http://schemas.openxmlformats.org/drawingml/2006/main">
              <a:ext uri="{FF2B5EF4-FFF2-40B4-BE49-F238E27FC236}">
                <a16:creationId xmlns:a16="http://schemas.microsoft.com/office/drawing/2014/main" id="{B9E81894-BAFA-4425-ABAE-28ACCC213CFD}"/>
              </a:ext>
            </a:extLst>
          </p:cNvPr>
          <p:cNvSpPr>
            <a:spLocks xmlns:a="http://schemas.openxmlformats.org/drawingml/2006/main" noGrp="1"/>
          </p:cNvSpPr>
          <p:nvPr/>
        </p:nvSpPr>
        <p:spPr>
          <a:xfrm xmlns:a="http://schemas.openxmlformats.org/drawingml/2006/main">
            <a:off x="4629150" y="5705475"/>
            <a:ext cx="6858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33" name="">
            <a:extLst xmlns:a="http://schemas.openxmlformats.org/drawingml/2006/main">
              <a:ext uri="{FF2B5EF4-FFF2-40B4-BE49-F238E27FC236}">
                <a16:creationId xmlns:a16="http://schemas.microsoft.com/office/drawing/2014/main" id="{8D54C1AB-6C8A-4607-A567-6480E93DAA4D}"/>
              </a:ext>
            </a:extLst>
          </p:cNvPr>
          <p:cNvSpPr>
            <a:spLocks xmlns:a="http://schemas.openxmlformats.org/drawingml/2006/main" noGrp="1"/>
          </p:cNvSpPr>
          <p:nvPr/>
        </p:nvSpPr>
        <p:spPr>
          <a:xfrm xmlns:a="http://schemas.openxmlformats.org/drawingml/2006/main">
            <a:off x="5562600" y="5543550"/>
            <a:ext cx="561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74D7FF"/>
                </a:solidFill>
                <a:latin typeface="Segoe UI"/>
                <a:ea typeface="Segoe UI"/>
                <a:cs typeface="Segoe UI"/>
              </a:defRPr>
            </a:pPr>
            <a:r>
              <a:rPr sz="1500" b="0">
                <a:solidFill>
                  <a:srgbClr val="74D7FF"/>
                </a:solidFill>
                <a:latin typeface="Segoe UI"/>
                <a:ea typeface="Segoe UI"/>
                <a:cs typeface="Segoe UI"/>
              </a:rPr>
              <a:t>What did this result teach us?</a:t>
            </a:r>
          </a:p>
        </p:txBody>
      </p:sp>
    </p:spTree>
    <p:extLst>
      <p:ext uri="{BB962C8B-B14F-4D97-AF65-F5344CB8AC3E}">
        <p14:creationId xmlns:p14="http://schemas.microsoft.com/office/powerpoint/2010/main" val="698180721"/>
      </p:ext>
    </p:extLst>
  </p:cSld>
</p:sld>
</file>

<file path=ppt/slides/slide5.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6" name="chrome-section-5">
            <a:extLst xmlns:a="http://schemas.openxmlformats.org/drawingml/2006/main">
              <a:ext uri="{FF2B5EF4-FFF2-40B4-BE49-F238E27FC236}">
                <a16:creationId xmlns:a16="http://schemas.microsoft.com/office/drawing/2014/main" id="{6E18ED0C-274F-4AFD-B19A-9B320396E304}"/>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EVIDENCE BEFORE CONFIDENCE</a:t>
            </a:r>
          </a:p>
        </p:txBody>
      </p:sp>
      <p:sp>
        <p:nvSpPr>
          <p:cNvPr id="2" name="chrome-number-5">
            <a:extLst xmlns:a="http://schemas.openxmlformats.org/drawingml/2006/main">
              <a:ext uri="{FF2B5EF4-FFF2-40B4-BE49-F238E27FC236}">
                <a16:creationId xmlns:a16="http://schemas.microsoft.com/office/drawing/2014/main" id="{CC07112D-C522-40E6-B8D4-F9EFB7FD9FB2}"/>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05</a:t>
            </a:r>
          </a:p>
        </p:txBody>
      </p:sp>
      <p:sp>
        <p:nvSpPr>
          <p:cNvPr id="3" name="slide-title-5">
            <a:extLst xmlns:a="http://schemas.openxmlformats.org/drawingml/2006/main">
              <a:ext uri="{FF2B5EF4-FFF2-40B4-BE49-F238E27FC236}">
                <a16:creationId xmlns:a16="http://schemas.microsoft.com/office/drawing/2014/main" id="{618262B6-F9D5-400C-93AA-29DB08E5A3FE}"/>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One successful path is an event</a:t>
            </a:r>
          </a:p>
        </p:txBody>
      </p:sp>
      <p:sp>
        <p:nvSpPr>
          <p:cNvPr id="4" name="title-rule-5">
            <a:extLst xmlns:a="http://schemas.openxmlformats.org/drawingml/2006/main">
              <a:ext uri="{FF2B5EF4-FFF2-40B4-BE49-F238E27FC236}">
                <a16:creationId xmlns:a16="http://schemas.microsoft.com/office/drawing/2014/main" id="{31F53290-A5F8-4A97-B873-86C090E448C7}"/>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5">
            <a:extLst xmlns:a="http://schemas.openxmlformats.org/drawingml/2006/main">
              <a:ext uri="{FF2B5EF4-FFF2-40B4-BE49-F238E27FC236}">
                <a16:creationId xmlns:a16="http://schemas.microsoft.com/office/drawing/2014/main" id="{5AD2B4A2-3CC1-4775-BD57-DEA355A3400E}"/>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unexamined cases decide whether the event supports the claim.</a:t>
            </a:r>
          </a:p>
        </p:txBody>
      </p:sp>
      <p:sp>
        <p:nvSpPr>
          <p:cNvPr id="6" name="">
            <a:extLst xmlns:a="http://schemas.openxmlformats.org/drawingml/2006/main">
              <a:ext uri="{FF2B5EF4-FFF2-40B4-BE49-F238E27FC236}">
                <a16:creationId xmlns:a16="http://schemas.microsoft.com/office/drawing/2014/main" id="{16A2580F-9DB3-4F07-90C3-717BDDA5EBFC}"/>
              </a:ext>
            </a:extLst>
          </p:cNvPr>
          <p:cNvSpPr>
            <a:spLocks xmlns:a="http://schemas.openxmlformats.org/drawingml/2006/main" noGrp="1"/>
          </p:cNvSpPr>
          <p:nvPr/>
        </p:nvSpPr>
        <p:spPr>
          <a:xfrm xmlns:a="http://schemas.openxmlformats.org/drawingml/2006/main">
            <a:off x="952500" y="2571750"/>
            <a:ext cx="3143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1250" b="1">
                <a:solidFill>
                  <a:srgbClr val="FFD989"/>
                </a:solidFill>
                <a:latin typeface="Georgia"/>
                <a:ea typeface="Georgia"/>
                <a:cs typeface="Georgia"/>
              </a:defRPr>
            </a:pPr>
            <a:r>
              <a:rPr sz="11250" b="1">
                <a:solidFill>
                  <a:srgbClr val="FFD989"/>
                </a:solidFill>
                <a:latin typeface="Georgia"/>
                <a:ea typeface="Georgia"/>
                <a:cs typeface="Georgia"/>
              </a:rPr>
              <a:t>42</a:t>
            </a:r>
          </a:p>
        </p:txBody>
      </p:sp>
      <p:sp>
        <p:nvSpPr>
          <p:cNvPr id="7" name="">
            <a:extLst xmlns:a="http://schemas.openxmlformats.org/drawingml/2006/main">
              <a:ext uri="{FF2B5EF4-FFF2-40B4-BE49-F238E27FC236}">
                <a16:creationId xmlns:a16="http://schemas.microsoft.com/office/drawing/2014/main" id="{9AF0F046-CBBA-47B1-8405-A25E74D26218}"/>
              </a:ext>
            </a:extLst>
          </p:cNvPr>
          <p:cNvSpPr>
            <a:spLocks xmlns:a="http://schemas.openxmlformats.org/drawingml/2006/main" noGrp="1"/>
          </p:cNvSpPr>
          <p:nvPr/>
        </p:nvSpPr>
        <p:spPr>
          <a:xfrm xmlns:a="http://schemas.openxmlformats.org/drawingml/2006/main">
            <a:off x="1666875" y="4667250"/>
            <a:ext cx="1714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78F0B2"/>
                </a:solidFill>
                <a:latin typeface="Consolas"/>
                <a:ea typeface="Consolas"/>
                <a:cs typeface="Consolas"/>
              </a:defRPr>
            </a:pPr>
            <a:r>
              <a:rPr sz="1500" b="1">
                <a:solidFill>
                  <a:srgbClr val="78F0B2"/>
                </a:solidFill>
                <a:latin typeface="Consolas"/>
                <a:ea typeface="Consolas"/>
                <a:cs typeface="Consolas"/>
              </a:rPr>
              <a:t>observed</a:t>
            </a:r>
          </a:p>
        </p:txBody>
      </p:sp>
      <p:sp>
        <p:nvSpPr>
          <p:cNvPr id="8" name="">
            <a:extLst xmlns:a="http://schemas.openxmlformats.org/drawingml/2006/main">
              <a:ext uri="{FF2B5EF4-FFF2-40B4-BE49-F238E27FC236}">
                <a16:creationId xmlns:a16="http://schemas.microsoft.com/office/drawing/2014/main" id="{F950C92D-6910-462A-BAB7-263D0524F452}"/>
              </a:ext>
            </a:extLst>
          </p:cNvPr>
          <p:cNvSpPr>
            <a:spLocks xmlns:a="http://schemas.openxmlformats.org/drawingml/2006/main" noGrp="1"/>
          </p:cNvSpPr>
          <p:nvPr/>
        </p:nvSpPr>
        <p:spPr>
          <a:xfrm xmlns:a="http://schemas.openxmlformats.org/drawingml/2006/main">
            <a:off x="5810250" y="2762250"/>
            <a:ext cx="76200" cy="76200"/>
          </a:xfrm>
          <a:prstGeom xmlns:a="http://schemas.openxmlformats.org/drawingml/2006/main" prst="ellipse">
            <a:avLst/>
          </a:prstGeom>
          <a:solidFill xmlns:a="http://schemas.openxmlformats.org/drawingml/2006/main">
            <a:srgbClr val="74D7FF"/>
          </a:solidFill>
          <a:ln xmlns:a="http://schemas.openxmlformats.org/drawingml/2006/main" w="19050">
            <a:solidFill>
              <a:srgbClr val="74D7FF"/>
            </a:solidFill>
            <a:prstDash val="solid"/>
          </a:ln>
        </p:spPr>
      </p:sp>
      <p:sp>
        <p:nvSpPr>
          <p:cNvPr id="9" name="">
            <a:extLst xmlns:a="http://schemas.openxmlformats.org/drawingml/2006/main">
              <a:ext uri="{FF2B5EF4-FFF2-40B4-BE49-F238E27FC236}">
                <a16:creationId xmlns:a16="http://schemas.microsoft.com/office/drawing/2014/main" id="{884616CE-ED99-4087-99C5-43AC32640FC2}"/>
              </a:ext>
            </a:extLst>
          </p:cNvPr>
          <p:cNvSpPr>
            <a:spLocks xmlns:a="http://schemas.openxmlformats.org/drawingml/2006/main" noGrp="1"/>
          </p:cNvSpPr>
          <p:nvPr/>
        </p:nvSpPr>
        <p:spPr>
          <a:xfrm xmlns:a="http://schemas.openxmlformats.org/drawingml/2006/main">
            <a:off x="6019800" y="266700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6D5CF"/>
                </a:solidFill>
                <a:latin typeface="Segoe UI"/>
                <a:ea typeface="Segoe UI"/>
                <a:cs typeface="Segoe UI"/>
              </a:defRPr>
            </a:pPr>
            <a:r>
              <a:rPr sz="1875" b="0">
                <a:solidFill>
                  <a:srgbClr val="C6D5CF"/>
                </a:solidFill>
                <a:latin typeface="Segoe UI"/>
                <a:ea typeface="Segoe UI"/>
                <a:cs typeface="Segoe UI"/>
              </a:rPr>
              <a:t>empty input</a:t>
            </a:r>
          </a:p>
        </p:txBody>
      </p:sp>
      <p:sp>
        <p:nvSpPr>
          <p:cNvPr id="10" name="">
            <a:extLst xmlns:a="http://schemas.openxmlformats.org/drawingml/2006/main">
              <a:ext uri="{FF2B5EF4-FFF2-40B4-BE49-F238E27FC236}">
                <a16:creationId xmlns:a16="http://schemas.microsoft.com/office/drawing/2014/main" id="{D37CE78B-E53D-491E-8658-FB6010C74457}"/>
              </a:ext>
            </a:extLst>
          </p:cNvPr>
          <p:cNvSpPr>
            <a:spLocks xmlns:a="http://schemas.openxmlformats.org/drawingml/2006/main" noGrp="1"/>
          </p:cNvSpPr>
          <p:nvPr/>
        </p:nvSpPr>
        <p:spPr>
          <a:xfrm xmlns:a="http://schemas.openxmlformats.org/drawingml/2006/main">
            <a:off x="5810250" y="3409950"/>
            <a:ext cx="76200" cy="76200"/>
          </a:xfrm>
          <a:prstGeom xmlns:a="http://schemas.openxmlformats.org/drawingml/2006/main" prst="ellipse">
            <a:avLst/>
          </a:prstGeom>
          <a:solidFill xmlns:a="http://schemas.openxmlformats.org/drawingml/2006/main">
            <a:srgbClr val="FF8278"/>
          </a:solidFill>
          <a:ln xmlns:a="http://schemas.openxmlformats.org/drawingml/2006/main" w="19050">
            <a:solidFill>
              <a:srgbClr val="FF8278"/>
            </a:solidFill>
            <a:prstDash val="solid"/>
          </a:ln>
        </p:spPr>
      </p:sp>
      <p:sp>
        <p:nvSpPr>
          <p:cNvPr id="11" name="">
            <a:extLst xmlns:a="http://schemas.openxmlformats.org/drawingml/2006/main">
              <a:ext uri="{FF2B5EF4-FFF2-40B4-BE49-F238E27FC236}">
                <a16:creationId xmlns:a16="http://schemas.microsoft.com/office/drawing/2014/main" id="{C155E95E-3F12-4EBF-8E59-C03FF525C039}"/>
              </a:ext>
            </a:extLst>
          </p:cNvPr>
          <p:cNvSpPr>
            <a:spLocks xmlns:a="http://schemas.openxmlformats.org/drawingml/2006/main" noGrp="1"/>
          </p:cNvSpPr>
          <p:nvPr/>
        </p:nvSpPr>
        <p:spPr>
          <a:xfrm xmlns:a="http://schemas.openxmlformats.org/drawingml/2006/main">
            <a:off x="6019800" y="331470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6D5CF"/>
                </a:solidFill>
                <a:latin typeface="Segoe UI"/>
                <a:ea typeface="Segoe UI"/>
                <a:cs typeface="Segoe UI"/>
              </a:defRPr>
            </a:pPr>
            <a:r>
              <a:rPr sz="1875" b="0">
                <a:solidFill>
                  <a:srgbClr val="C6D5CF"/>
                </a:solidFill>
                <a:latin typeface="Segoe UI"/>
                <a:ea typeface="Segoe UI"/>
                <a:cs typeface="Segoe UI"/>
              </a:rPr>
              <a:t>invalid state</a:t>
            </a:r>
          </a:p>
        </p:txBody>
      </p:sp>
      <p:sp>
        <p:nvSpPr>
          <p:cNvPr id="12" name="">
            <a:extLst xmlns:a="http://schemas.openxmlformats.org/drawingml/2006/main">
              <a:ext uri="{FF2B5EF4-FFF2-40B4-BE49-F238E27FC236}">
                <a16:creationId xmlns:a16="http://schemas.microsoft.com/office/drawing/2014/main" id="{2119DBBF-FFD7-4B02-ABA6-69DF30B5FE25}"/>
              </a:ext>
            </a:extLst>
          </p:cNvPr>
          <p:cNvSpPr>
            <a:spLocks xmlns:a="http://schemas.openxmlformats.org/drawingml/2006/main" noGrp="1"/>
          </p:cNvSpPr>
          <p:nvPr/>
        </p:nvSpPr>
        <p:spPr>
          <a:xfrm xmlns:a="http://schemas.openxmlformats.org/drawingml/2006/main">
            <a:off x="5810250" y="4057650"/>
            <a:ext cx="76200" cy="76200"/>
          </a:xfrm>
          <a:prstGeom xmlns:a="http://schemas.openxmlformats.org/drawingml/2006/main" prst="ellipse">
            <a:avLst/>
          </a:prstGeom>
          <a:solidFill xmlns:a="http://schemas.openxmlformats.org/drawingml/2006/main">
            <a:srgbClr val="74D7FF"/>
          </a:solidFill>
          <a:ln xmlns:a="http://schemas.openxmlformats.org/drawingml/2006/main" w="19050">
            <a:solidFill>
              <a:srgbClr val="74D7FF"/>
            </a:solidFill>
            <a:prstDash val="solid"/>
          </a:ln>
        </p:spPr>
      </p:sp>
      <p:sp>
        <p:nvSpPr>
          <p:cNvPr id="13" name="">
            <a:extLst xmlns:a="http://schemas.openxmlformats.org/drawingml/2006/main">
              <a:ext uri="{FF2B5EF4-FFF2-40B4-BE49-F238E27FC236}">
                <a16:creationId xmlns:a16="http://schemas.microsoft.com/office/drawing/2014/main" id="{45EC8A0F-9824-429D-9111-7BB0475547DE}"/>
              </a:ext>
            </a:extLst>
          </p:cNvPr>
          <p:cNvSpPr>
            <a:spLocks xmlns:a="http://schemas.openxmlformats.org/drawingml/2006/main" noGrp="1"/>
          </p:cNvSpPr>
          <p:nvPr/>
        </p:nvSpPr>
        <p:spPr>
          <a:xfrm xmlns:a="http://schemas.openxmlformats.org/drawingml/2006/main">
            <a:off x="6019800" y="396240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6D5CF"/>
                </a:solidFill>
                <a:latin typeface="Segoe UI"/>
                <a:ea typeface="Segoe UI"/>
                <a:cs typeface="Segoe UI"/>
              </a:defRPr>
            </a:pPr>
            <a:r>
              <a:rPr sz="1875" b="0">
                <a:solidFill>
                  <a:srgbClr val="C6D5CF"/>
                </a:solidFill>
                <a:latin typeface="Segoe UI"/>
                <a:ea typeface="Segoe UI"/>
                <a:cs typeface="Segoe UI"/>
              </a:rPr>
              <a:t>ten-times workload</a:t>
            </a:r>
          </a:p>
        </p:txBody>
      </p:sp>
      <p:sp>
        <p:nvSpPr>
          <p:cNvPr id="14" name="">
            <a:extLst xmlns:a="http://schemas.openxmlformats.org/drawingml/2006/main">
              <a:ext uri="{FF2B5EF4-FFF2-40B4-BE49-F238E27FC236}">
                <a16:creationId xmlns:a16="http://schemas.microsoft.com/office/drawing/2014/main" id="{77A1D9B0-6883-467C-A972-BE6A6DB298E5}"/>
              </a:ext>
            </a:extLst>
          </p:cNvPr>
          <p:cNvSpPr>
            <a:spLocks xmlns:a="http://schemas.openxmlformats.org/drawingml/2006/main" noGrp="1"/>
          </p:cNvSpPr>
          <p:nvPr/>
        </p:nvSpPr>
        <p:spPr>
          <a:xfrm xmlns:a="http://schemas.openxmlformats.org/drawingml/2006/main">
            <a:off x="5810250" y="4705350"/>
            <a:ext cx="76200" cy="76200"/>
          </a:xfrm>
          <a:prstGeom xmlns:a="http://schemas.openxmlformats.org/drawingml/2006/main" prst="ellipse">
            <a:avLst/>
          </a:prstGeom>
          <a:solidFill xmlns:a="http://schemas.openxmlformats.org/drawingml/2006/main">
            <a:srgbClr val="74D7FF"/>
          </a:solidFill>
          <a:ln xmlns:a="http://schemas.openxmlformats.org/drawingml/2006/main" w="19050">
            <a:solidFill>
              <a:srgbClr val="74D7FF"/>
            </a:solidFill>
            <a:prstDash val="solid"/>
          </a:ln>
        </p:spPr>
      </p:sp>
      <p:sp>
        <p:nvSpPr>
          <p:cNvPr id="15" name="">
            <a:extLst xmlns:a="http://schemas.openxmlformats.org/drawingml/2006/main">
              <a:ext uri="{FF2B5EF4-FFF2-40B4-BE49-F238E27FC236}">
                <a16:creationId xmlns:a16="http://schemas.microsoft.com/office/drawing/2014/main" id="{52CD1FF8-B08A-488A-93FC-AB308C4B15FF}"/>
              </a:ext>
            </a:extLst>
          </p:cNvPr>
          <p:cNvSpPr>
            <a:spLocks xmlns:a="http://schemas.openxmlformats.org/drawingml/2006/main" noGrp="1"/>
          </p:cNvSpPr>
          <p:nvPr/>
        </p:nvSpPr>
        <p:spPr>
          <a:xfrm xmlns:a="http://schemas.openxmlformats.org/drawingml/2006/main">
            <a:off x="6019800" y="461010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0">
                <a:solidFill>
                  <a:srgbClr val="C6D5CF"/>
                </a:solidFill>
                <a:latin typeface="Segoe UI"/>
                <a:ea typeface="Segoe UI"/>
                <a:cs typeface="Segoe UI"/>
              </a:defRPr>
            </a:pPr>
            <a:r>
              <a:rPr sz="1875" b="0">
                <a:solidFill>
                  <a:srgbClr val="C6D5CF"/>
                </a:solidFill>
                <a:latin typeface="Segoe UI"/>
                <a:ea typeface="Segoe UI"/>
                <a:cs typeface="Segoe UI"/>
              </a:rPr>
              <a:t>unreleased resource</a:t>
            </a:r>
          </a:p>
        </p:txBody>
      </p:sp>
    </p:spTree>
    <p:extLst>
      <p:ext uri="{BB962C8B-B14F-4D97-AF65-F5344CB8AC3E}">
        <p14:creationId xmlns:p14="http://schemas.microsoft.com/office/powerpoint/2010/main" val="611640330"/>
      </p:ext>
    </p:extLst>
  </p:cSld>
</p:sld>
</file>

<file path=ppt/slides/slide6.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4" name="chrome-section-6">
            <a:extLst xmlns:a="http://schemas.openxmlformats.org/drawingml/2006/main">
              <a:ext uri="{FF2B5EF4-FFF2-40B4-BE49-F238E27FC236}">
                <a16:creationId xmlns:a16="http://schemas.microsoft.com/office/drawing/2014/main" id="{3BA86800-CAB0-4481-829C-80F96F1A032D}"/>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STATE IS THE INSPECTABLE MECHANISM</a:t>
            </a:r>
          </a:p>
        </p:txBody>
      </p:sp>
      <p:sp>
        <p:nvSpPr>
          <p:cNvPr id="2" name="chrome-number-6">
            <a:extLst xmlns:a="http://schemas.openxmlformats.org/drawingml/2006/main">
              <a:ext uri="{FF2B5EF4-FFF2-40B4-BE49-F238E27FC236}">
                <a16:creationId xmlns:a16="http://schemas.microsoft.com/office/drawing/2014/main" id="{04F9E095-06F8-4AEA-9B3B-0C9FF57022C0}"/>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06</a:t>
            </a:r>
          </a:p>
        </p:txBody>
      </p:sp>
      <p:sp>
        <p:nvSpPr>
          <p:cNvPr id="3" name="slide-title-6">
            <a:extLst xmlns:a="http://schemas.openxmlformats.org/drawingml/2006/main">
              <a:ext uri="{FF2B5EF4-FFF2-40B4-BE49-F238E27FC236}">
                <a16:creationId xmlns:a16="http://schemas.microsoft.com/office/drawing/2014/main" id="{DC94F5E4-E229-42DF-AFC1-F998795DCFEC}"/>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Think in state changes</a:t>
            </a:r>
          </a:p>
        </p:txBody>
      </p:sp>
      <p:sp>
        <p:nvSpPr>
          <p:cNvPr id="4" name="title-rule-6">
            <a:extLst xmlns:a="http://schemas.openxmlformats.org/drawingml/2006/main">
              <a:ext uri="{FF2B5EF4-FFF2-40B4-BE49-F238E27FC236}">
                <a16:creationId xmlns:a16="http://schemas.microsoft.com/office/drawing/2014/main" id="{8B088777-B250-4780-BC37-C9D7D3991608}"/>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6">
            <a:extLst xmlns:a="http://schemas.openxmlformats.org/drawingml/2006/main">
              <a:ext uri="{FF2B5EF4-FFF2-40B4-BE49-F238E27FC236}">
                <a16:creationId xmlns:a16="http://schemas.microsoft.com/office/drawing/2014/main" id="{B89A9CD4-C589-46EA-AB9E-E028E4A4ECF1}"/>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next line is less important than the object that can change.</a:t>
            </a:r>
          </a:p>
        </p:txBody>
      </p:sp>
      <p:sp>
        <p:nvSpPr>
          <p:cNvPr id="6" name="">
            <a:extLst xmlns:a="http://schemas.openxmlformats.org/drawingml/2006/main">
              <a:ext uri="{FF2B5EF4-FFF2-40B4-BE49-F238E27FC236}">
                <a16:creationId xmlns:a16="http://schemas.microsoft.com/office/drawing/2014/main" id="{AFB112F3-9A01-499C-9EE6-8187FA93D601}"/>
              </a:ext>
            </a:extLst>
          </p:cNvPr>
          <p:cNvSpPr>
            <a:spLocks xmlns:a="http://schemas.openxmlformats.org/drawingml/2006/main" noGrp="1"/>
          </p:cNvSpPr>
          <p:nvPr/>
        </p:nvSpPr>
        <p:spPr>
          <a:xfrm xmlns:a="http://schemas.openxmlformats.org/drawingml/2006/main">
            <a:off x="819150" y="2781300"/>
            <a:ext cx="4667250" cy="666750"/>
          </a:xfrm>
          <a:prstGeom xmlns:a="http://schemas.openxmlformats.org/drawingml/2006/main" prst="roundRect">
            <a:avLst>
              <a:gd name="adj" fmla="val 17143"/>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171450" tIns="152400" rIns="171450" bIns="95250" anchor="t">
            <a:normAutofit fontScale="100000"/>
          </a:bodyPr>
          <a:lstStyle xmlns:a="http://schemas.openxmlformats.org/drawingml/2006/main"/>
          <a:p xmlns:a="http://schemas.openxmlformats.org/drawingml/2006/main">
            <a:pPr algn="l">
              <a:lnSpc>
                <a:spcPct val="100000"/>
              </a:lnSpc>
              <a:buNone/>
              <a:defRPr sz="2175" b="1">
                <a:solidFill>
                  <a:srgbClr val="F3FBF7"/>
                </a:solidFill>
                <a:latin typeface="Consolas"/>
                <a:ea typeface="Consolas"/>
                <a:cs typeface="Consolas"/>
              </a:defRPr>
            </a:pPr>
            <a:r>
              <a:rPr sz="2175" b="1">
                <a:solidFill>
                  <a:srgbClr val="F3FBF7"/>
                </a:solidFill>
                <a:latin typeface="Consolas"/>
                <a:ea typeface="Consolas"/>
                <a:cs typeface="Consolas"/>
              </a:rPr>
              <a:t>health.take_damage(3);</a:t>
            </a:r>
          </a:p>
        </p:txBody>
      </p:sp>
      <p:sp>
        <p:nvSpPr>
          <p:cNvPr id="7" name="">
            <a:extLst xmlns:a="http://schemas.openxmlformats.org/drawingml/2006/main">
              <a:ext uri="{FF2B5EF4-FFF2-40B4-BE49-F238E27FC236}">
                <a16:creationId xmlns:a16="http://schemas.microsoft.com/office/drawing/2014/main" id="{D6DC9D46-440A-4DB8-90C3-030FD7224ACE}"/>
              </a:ext>
            </a:extLst>
          </p:cNvPr>
          <p:cNvSpPr>
            <a:spLocks xmlns:a="http://schemas.openxmlformats.org/drawingml/2006/main" noGrp="1"/>
          </p:cNvSpPr>
          <p:nvPr/>
        </p:nvSpPr>
        <p:spPr>
          <a:xfrm xmlns:a="http://schemas.openxmlformats.org/drawingml/2006/main">
            <a:off x="5619750" y="3038475"/>
            <a:ext cx="904875" cy="2095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E7C996-F3F3-4EC3-83CE-078795EC3D91}"/>
              </a:ext>
            </a:extLst>
          </p:cNvPr>
          <p:cNvSpPr>
            <a:spLocks xmlns:a="http://schemas.openxmlformats.org/drawingml/2006/main" noGrp="1"/>
          </p:cNvSpPr>
          <p:nvPr/>
        </p:nvSpPr>
        <p:spPr>
          <a:xfrm xmlns:a="http://schemas.openxmlformats.org/drawingml/2006/main">
            <a:off x="6858000" y="28003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450" b="1">
                <a:solidFill>
                  <a:srgbClr val="78F0B2"/>
                </a:solidFill>
                <a:latin typeface="Consolas"/>
                <a:ea typeface="Consolas"/>
                <a:cs typeface="Consolas"/>
              </a:defRPr>
            </a:pPr>
            <a:r>
              <a:rPr sz="3450" b="1">
                <a:solidFill>
                  <a:srgbClr val="78F0B2"/>
                </a:solidFill>
                <a:latin typeface="Consolas"/>
                <a:ea typeface="Consolas"/>
                <a:cs typeface="Consolas"/>
              </a:rPr>
              <a:t>10</a:t>
            </a:r>
          </a:p>
        </p:txBody>
      </p:sp>
      <p:sp>
        <p:nvSpPr>
          <p:cNvPr id="9" name="">
            <a:extLst xmlns:a="http://schemas.openxmlformats.org/drawingml/2006/main">
              <a:ext uri="{FF2B5EF4-FFF2-40B4-BE49-F238E27FC236}">
                <a16:creationId xmlns:a16="http://schemas.microsoft.com/office/drawing/2014/main" id="{469C928D-4F46-4E0D-9D17-2DA7A5B27BFC}"/>
              </a:ext>
            </a:extLst>
          </p:cNvPr>
          <p:cNvSpPr>
            <a:spLocks xmlns:a="http://schemas.openxmlformats.org/drawingml/2006/main" noGrp="1"/>
          </p:cNvSpPr>
          <p:nvPr/>
        </p:nvSpPr>
        <p:spPr>
          <a:xfrm xmlns:a="http://schemas.openxmlformats.org/drawingml/2006/main">
            <a:off x="7810500" y="3038475"/>
            <a:ext cx="723900" cy="2095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4392CC-7F85-46AD-AFB2-FA39B32AFB21}"/>
              </a:ext>
            </a:extLst>
          </p:cNvPr>
          <p:cNvSpPr>
            <a:spLocks xmlns:a="http://schemas.openxmlformats.org/drawingml/2006/main" noGrp="1"/>
          </p:cNvSpPr>
          <p:nvPr/>
        </p:nvSpPr>
        <p:spPr>
          <a:xfrm xmlns:a="http://schemas.openxmlformats.org/drawingml/2006/main">
            <a:off x="8715375" y="28003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450" b="1">
                <a:solidFill>
                  <a:srgbClr val="78F0B2"/>
                </a:solidFill>
                <a:latin typeface="Consolas"/>
                <a:ea typeface="Consolas"/>
                <a:cs typeface="Consolas"/>
              </a:defRPr>
            </a:pPr>
            <a:r>
              <a:rPr sz="3450" b="1">
                <a:solidFill>
                  <a:srgbClr val="78F0B2"/>
                </a:solidFill>
                <a:latin typeface="Consolas"/>
                <a:ea typeface="Consolas"/>
                <a:cs typeface="Consolas"/>
              </a:rPr>
              <a:t>7</a:t>
            </a:r>
          </a:p>
        </p:txBody>
      </p:sp>
      <p:sp>
        <p:nvSpPr>
          <p:cNvPr id="11" name="">
            <a:extLst xmlns:a="http://schemas.openxmlformats.org/drawingml/2006/main">
              <a:ext uri="{FF2B5EF4-FFF2-40B4-BE49-F238E27FC236}">
                <a16:creationId xmlns:a16="http://schemas.microsoft.com/office/drawing/2014/main" id="{3D17B6F7-6224-476E-B77D-8353F093CA3C}"/>
              </a:ext>
            </a:extLst>
          </p:cNvPr>
          <p:cNvSpPr>
            <a:spLocks xmlns:a="http://schemas.openxmlformats.org/drawingml/2006/main" noGrp="1"/>
          </p:cNvSpPr>
          <p:nvPr/>
        </p:nvSpPr>
        <p:spPr>
          <a:xfrm xmlns:a="http://schemas.openxmlformats.org/drawingml/2006/main">
            <a:off x="9667875" y="3038475"/>
            <a:ext cx="723900" cy="2095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6287D60-CE45-4FD3-9062-968B6B3BDE1E}"/>
              </a:ext>
            </a:extLst>
          </p:cNvPr>
          <p:cNvSpPr>
            <a:spLocks xmlns:a="http://schemas.openxmlformats.org/drawingml/2006/main" noGrp="1"/>
          </p:cNvSpPr>
          <p:nvPr/>
        </p:nvSpPr>
        <p:spPr>
          <a:xfrm xmlns:a="http://schemas.openxmlformats.org/drawingml/2006/main">
            <a:off x="10572750" y="2800350"/>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3450" b="1">
                <a:solidFill>
                  <a:srgbClr val="78F0B2"/>
                </a:solidFill>
                <a:latin typeface="Consolas"/>
                <a:ea typeface="Consolas"/>
                <a:cs typeface="Consolas"/>
              </a:defRPr>
            </a:pPr>
            <a:r>
              <a:rPr sz="3450" b="1">
                <a:solidFill>
                  <a:srgbClr val="78F0B2"/>
                </a:solidFill>
                <a:latin typeface="Consolas"/>
                <a:ea typeface="Consolas"/>
                <a:cs typeface="Consolas"/>
              </a:rPr>
              <a:t>0</a:t>
            </a:r>
          </a:p>
        </p:txBody>
      </p:sp>
      <p:sp>
        <p:nvSpPr>
          <p:cNvPr id="13" name="">
            <a:extLst xmlns:a="http://schemas.openxmlformats.org/drawingml/2006/main">
              <a:ext uri="{FF2B5EF4-FFF2-40B4-BE49-F238E27FC236}">
                <a16:creationId xmlns:a16="http://schemas.microsoft.com/office/drawing/2014/main" id="{2E027C45-9356-4A64-A589-A50BB04A591A}"/>
              </a:ext>
            </a:extLst>
          </p:cNvPr>
          <p:cNvSpPr>
            <a:spLocks xmlns:a="http://schemas.openxmlformats.org/drawingml/2006/main" noGrp="1"/>
          </p:cNvSpPr>
          <p:nvPr/>
        </p:nvSpPr>
        <p:spPr>
          <a:xfrm xmlns:a="http://schemas.openxmlformats.org/drawingml/2006/main">
            <a:off x="1333500" y="46672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0">
                <a:solidFill>
                  <a:srgbClr val="74D7FF"/>
                </a:solidFill>
                <a:latin typeface="Consolas"/>
                <a:ea typeface="Consolas"/>
                <a:cs typeface="Consolas"/>
              </a:defRPr>
            </a:pPr>
            <a:r>
              <a:rPr sz="1725" b="0">
                <a:solidFill>
                  <a:srgbClr val="74D7FF"/>
                </a:solidFill>
                <a:latin typeface="Consolas"/>
                <a:ea typeface="Consolas"/>
                <a:cs typeface="Consolas"/>
              </a:rPr>
              <a:t>object · state before · condition · operation · state after · invariant</a:t>
            </a:r>
          </a:p>
        </p:txBody>
      </p:sp>
    </p:spTree>
    <p:extLst>
      <p:ext uri="{BB962C8B-B14F-4D97-AF65-F5344CB8AC3E}">
        <p14:creationId xmlns:p14="http://schemas.microsoft.com/office/powerpoint/2010/main" val="950787434"/>
      </p:ext>
    </p:extLst>
  </p:cSld>
</p:sld>
</file>

<file path=ppt/slides/slide7.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5" name="chrome-section-7">
            <a:extLst xmlns:a="http://schemas.openxmlformats.org/drawingml/2006/main">
              <a:ext uri="{FF2B5EF4-FFF2-40B4-BE49-F238E27FC236}">
                <a16:creationId xmlns:a16="http://schemas.microsoft.com/office/drawing/2014/main" id="{6E073060-4D44-489A-9CD5-E91D251C7504}"/>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A RECURRING COURSE MODEL</a:t>
            </a:r>
          </a:p>
        </p:txBody>
      </p:sp>
      <p:sp>
        <p:nvSpPr>
          <p:cNvPr id="2" name="chrome-number-7">
            <a:extLst xmlns:a="http://schemas.openxmlformats.org/drawingml/2006/main">
              <a:ext uri="{FF2B5EF4-FFF2-40B4-BE49-F238E27FC236}">
                <a16:creationId xmlns:a16="http://schemas.microsoft.com/office/drawing/2014/main" id="{1266BBAD-4DA8-4A31-8FE4-2864308BF235}"/>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07</a:t>
            </a:r>
          </a:p>
        </p:txBody>
      </p:sp>
      <p:sp>
        <p:nvSpPr>
          <p:cNvPr id="3" name="slide-title-7">
            <a:extLst xmlns:a="http://schemas.openxmlformats.org/drawingml/2006/main">
              <a:ext uri="{FF2B5EF4-FFF2-40B4-BE49-F238E27FC236}">
                <a16:creationId xmlns:a16="http://schemas.microsoft.com/office/drawing/2014/main" id="{F9AA7E02-A111-4CE9-A366-20DAE8BBDBF0}"/>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memory account</a:t>
            </a:r>
          </a:p>
        </p:txBody>
      </p:sp>
      <p:sp>
        <p:nvSpPr>
          <p:cNvPr id="4" name="title-rule-7">
            <a:extLst xmlns:a="http://schemas.openxmlformats.org/drawingml/2006/main">
              <a:ext uri="{FF2B5EF4-FFF2-40B4-BE49-F238E27FC236}">
                <a16:creationId xmlns:a16="http://schemas.microsoft.com/office/drawing/2014/main" id="{922D7D9D-198A-40E1-A579-67E19B548260}"/>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7">
            <a:extLst xmlns:a="http://schemas.openxmlformats.org/drawingml/2006/main">
              <a:ext uri="{FF2B5EF4-FFF2-40B4-BE49-F238E27FC236}">
                <a16:creationId xmlns:a16="http://schemas.microsoft.com/office/drawing/2014/main" id="{E236E078-2F69-411D-96B5-89B4061075DA}"/>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A language-level account that grows with the course.</a:t>
            </a:r>
          </a:p>
        </p:txBody>
      </p:sp>
      <p:sp>
        <p:nvSpPr>
          <p:cNvPr id="6" name="">
            <a:extLst xmlns:a="http://schemas.openxmlformats.org/drawingml/2006/main">
              <a:ext uri="{FF2B5EF4-FFF2-40B4-BE49-F238E27FC236}">
                <a16:creationId xmlns:a16="http://schemas.microsoft.com/office/drawing/2014/main" id="{D6FEDFC5-CDAA-48BD-94D3-16E9C5FD51A4}"/>
              </a:ext>
            </a:extLst>
          </p:cNvPr>
          <p:cNvSpPr>
            <a:spLocks xmlns:a="http://schemas.openxmlformats.org/drawingml/2006/main" noGrp="1"/>
          </p:cNvSpPr>
          <p:nvPr/>
        </p:nvSpPr>
        <p:spPr>
          <a:xfrm xmlns:a="http://schemas.openxmlformats.org/drawingml/2006/main">
            <a:off x="666750" y="27813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name</a:t>
            </a:r>
          </a:p>
        </p:txBody>
      </p:sp>
      <p:sp>
        <p:nvSpPr>
          <p:cNvPr id="7" name="">
            <a:extLst xmlns:a="http://schemas.openxmlformats.org/drawingml/2006/main">
              <a:ext uri="{FF2B5EF4-FFF2-40B4-BE49-F238E27FC236}">
                <a16:creationId xmlns:a16="http://schemas.microsoft.com/office/drawing/2014/main" id="{57F9855B-9852-46CF-BD05-8159E2429A59}"/>
              </a:ext>
            </a:extLst>
          </p:cNvPr>
          <p:cNvSpPr>
            <a:spLocks xmlns:a="http://schemas.openxmlformats.org/drawingml/2006/main" noGrp="1"/>
          </p:cNvSpPr>
          <p:nvPr/>
        </p:nvSpPr>
        <p:spPr>
          <a:xfrm xmlns:a="http://schemas.openxmlformats.org/drawingml/2006/main">
            <a:off x="2638425" y="28194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8" name="">
            <a:extLst xmlns:a="http://schemas.openxmlformats.org/drawingml/2006/main">
              <a:ext uri="{FF2B5EF4-FFF2-40B4-BE49-F238E27FC236}">
                <a16:creationId xmlns:a16="http://schemas.microsoft.com/office/drawing/2014/main" id="{3A858EDB-4C99-4A70-8A1B-B308B8B016CB}"/>
              </a:ext>
            </a:extLst>
          </p:cNvPr>
          <p:cNvSpPr>
            <a:spLocks xmlns:a="http://schemas.openxmlformats.org/drawingml/2006/main" noGrp="1"/>
          </p:cNvSpPr>
          <p:nvPr/>
        </p:nvSpPr>
        <p:spPr>
          <a:xfrm xmlns:a="http://schemas.openxmlformats.org/drawingml/2006/main">
            <a:off x="2819400" y="27813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type</a:t>
            </a:r>
          </a:p>
        </p:txBody>
      </p:sp>
      <p:sp>
        <p:nvSpPr>
          <p:cNvPr id="9" name="">
            <a:extLst xmlns:a="http://schemas.openxmlformats.org/drawingml/2006/main">
              <a:ext uri="{FF2B5EF4-FFF2-40B4-BE49-F238E27FC236}">
                <a16:creationId xmlns:a16="http://schemas.microsoft.com/office/drawing/2014/main" id="{9C40EE1D-3017-4BF5-BFA4-B501D8195053}"/>
              </a:ext>
            </a:extLst>
          </p:cNvPr>
          <p:cNvSpPr>
            <a:spLocks xmlns:a="http://schemas.openxmlformats.org/drawingml/2006/main" noGrp="1"/>
          </p:cNvSpPr>
          <p:nvPr/>
        </p:nvSpPr>
        <p:spPr>
          <a:xfrm xmlns:a="http://schemas.openxmlformats.org/drawingml/2006/main">
            <a:off x="4791075" y="28194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10" name="">
            <a:extLst xmlns:a="http://schemas.openxmlformats.org/drawingml/2006/main">
              <a:ext uri="{FF2B5EF4-FFF2-40B4-BE49-F238E27FC236}">
                <a16:creationId xmlns:a16="http://schemas.microsoft.com/office/drawing/2014/main" id="{4F3B8C54-F451-4C6B-9BA2-B3975099E87D}"/>
              </a:ext>
            </a:extLst>
          </p:cNvPr>
          <p:cNvSpPr>
            <a:spLocks xmlns:a="http://schemas.openxmlformats.org/drawingml/2006/main" noGrp="1"/>
          </p:cNvSpPr>
          <p:nvPr/>
        </p:nvSpPr>
        <p:spPr>
          <a:xfrm xmlns:a="http://schemas.openxmlformats.org/drawingml/2006/main">
            <a:off x="4972050" y="27813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object</a:t>
            </a:r>
          </a:p>
        </p:txBody>
      </p:sp>
      <p:sp>
        <p:nvSpPr>
          <p:cNvPr id="11" name="">
            <a:extLst xmlns:a="http://schemas.openxmlformats.org/drawingml/2006/main">
              <a:ext uri="{FF2B5EF4-FFF2-40B4-BE49-F238E27FC236}">
                <a16:creationId xmlns:a16="http://schemas.microsoft.com/office/drawing/2014/main" id="{9DAFD810-54EC-48AA-892B-C2B9FEFBAA21}"/>
              </a:ext>
            </a:extLst>
          </p:cNvPr>
          <p:cNvSpPr>
            <a:spLocks xmlns:a="http://schemas.openxmlformats.org/drawingml/2006/main" noGrp="1"/>
          </p:cNvSpPr>
          <p:nvPr/>
        </p:nvSpPr>
        <p:spPr>
          <a:xfrm xmlns:a="http://schemas.openxmlformats.org/drawingml/2006/main">
            <a:off x="6943725" y="28194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12" name="">
            <a:extLst xmlns:a="http://schemas.openxmlformats.org/drawingml/2006/main">
              <a:ext uri="{FF2B5EF4-FFF2-40B4-BE49-F238E27FC236}">
                <a16:creationId xmlns:a16="http://schemas.microsoft.com/office/drawing/2014/main" id="{76582418-170F-4CD0-9E2E-96CA522C48B5}"/>
              </a:ext>
            </a:extLst>
          </p:cNvPr>
          <p:cNvSpPr>
            <a:spLocks xmlns:a="http://schemas.openxmlformats.org/drawingml/2006/main" noGrp="1"/>
          </p:cNvSpPr>
          <p:nvPr/>
        </p:nvSpPr>
        <p:spPr>
          <a:xfrm xmlns:a="http://schemas.openxmlformats.org/drawingml/2006/main">
            <a:off x="7124700" y="27813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stored state</a:t>
            </a:r>
          </a:p>
        </p:txBody>
      </p:sp>
      <p:sp>
        <p:nvSpPr>
          <p:cNvPr id="13" name="">
            <a:extLst xmlns:a="http://schemas.openxmlformats.org/drawingml/2006/main">
              <a:ext uri="{FF2B5EF4-FFF2-40B4-BE49-F238E27FC236}">
                <a16:creationId xmlns:a16="http://schemas.microsoft.com/office/drawing/2014/main" id="{76BE4BEF-8879-4F1B-8006-003340002270}"/>
              </a:ext>
            </a:extLst>
          </p:cNvPr>
          <p:cNvSpPr>
            <a:spLocks xmlns:a="http://schemas.openxmlformats.org/drawingml/2006/main" noGrp="1"/>
          </p:cNvSpPr>
          <p:nvPr/>
        </p:nvSpPr>
        <p:spPr>
          <a:xfrm xmlns:a="http://schemas.openxmlformats.org/drawingml/2006/main">
            <a:off x="9096375" y="28194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14" name="">
            <a:extLst xmlns:a="http://schemas.openxmlformats.org/drawingml/2006/main">
              <a:ext uri="{FF2B5EF4-FFF2-40B4-BE49-F238E27FC236}">
                <a16:creationId xmlns:a16="http://schemas.microsoft.com/office/drawing/2014/main" id="{0D629555-4829-4E7E-87FE-097123D34A7C}"/>
              </a:ext>
            </a:extLst>
          </p:cNvPr>
          <p:cNvSpPr>
            <a:spLocks xmlns:a="http://schemas.openxmlformats.org/drawingml/2006/main" noGrp="1"/>
          </p:cNvSpPr>
          <p:nvPr/>
        </p:nvSpPr>
        <p:spPr>
          <a:xfrm xmlns:a="http://schemas.openxmlformats.org/drawingml/2006/main">
            <a:off x="9277350" y="27813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derived state</a:t>
            </a:r>
          </a:p>
        </p:txBody>
      </p:sp>
      <p:sp>
        <p:nvSpPr>
          <p:cNvPr id="15" name="">
            <a:extLst xmlns:a="http://schemas.openxmlformats.org/drawingml/2006/main">
              <a:ext uri="{FF2B5EF4-FFF2-40B4-BE49-F238E27FC236}">
                <a16:creationId xmlns:a16="http://schemas.microsoft.com/office/drawing/2014/main" id="{E23BD8E8-AC82-4EFA-A540-AF75E597EA0F}"/>
              </a:ext>
            </a:extLst>
          </p:cNvPr>
          <p:cNvSpPr>
            <a:spLocks xmlns:a="http://schemas.openxmlformats.org/drawingml/2006/main" noGrp="1"/>
          </p:cNvSpPr>
          <p:nvPr/>
        </p:nvSpPr>
        <p:spPr>
          <a:xfrm xmlns:a="http://schemas.openxmlformats.org/drawingml/2006/main">
            <a:off x="666750" y="38481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FD989"/>
                </a:solidFill>
                <a:latin typeface="Consolas"/>
                <a:ea typeface="Consolas"/>
                <a:cs typeface="Consolas"/>
              </a:defRPr>
            </a:pPr>
            <a:r>
              <a:rPr sz="1500" b="1">
                <a:solidFill>
                  <a:srgbClr val="FFD989"/>
                </a:solidFill>
                <a:latin typeface="Consolas"/>
                <a:ea typeface="Consolas"/>
                <a:cs typeface="Consolas"/>
              </a:rPr>
              <a:t>valid states</a:t>
            </a:r>
          </a:p>
        </p:txBody>
      </p:sp>
      <p:sp>
        <p:nvSpPr>
          <p:cNvPr id="16" name="">
            <a:extLst xmlns:a="http://schemas.openxmlformats.org/drawingml/2006/main">
              <a:ext uri="{FF2B5EF4-FFF2-40B4-BE49-F238E27FC236}">
                <a16:creationId xmlns:a16="http://schemas.microsoft.com/office/drawing/2014/main" id="{4C59D65C-802F-4D6A-A7E8-2078F96D4551}"/>
              </a:ext>
            </a:extLst>
          </p:cNvPr>
          <p:cNvSpPr>
            <a:spLocks xmlns:a="http://schemas.openxmlformats.org/drawingml/2006/main" noGrp="1"/>
          </p:cNvSpPr>
          <p:nvPr/>
        </p:nvSpPr>
        <p:spPr>
          <a:xfrm xmlns:a="http://schemas.openxmlformats.org/drawingml/2006/main">
            <a:off x="2638425" y="38862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17" name="">
            <a:extLst xmlns:a="http://schemas.openxmlformats.org/drawingml/2006/main">
              <a:ext uri="{FF2B5EF4-FFF2-40B4-BE49-F238E27FC236}">
                <a16:creationId xmlns:a16="http://schemas.microsoft.com/office/drawing/2014/main" id="{C59BC0B2-2ED1-4450-A6F8-6CB88F395C95}"/>
              </a:ext>
            </a:extLst>
          </p:cNvPr>
          <p:cNvSpPr>
            <a:spLocks xmlns:a="http://schemas.openxmlformats.org/drawingml/2006/main" noGrp="1"/>
          </p:cNvSpPr>
          <p:nvPr/>
        </p:nvSpPr>
        <p:spPr>
          <a:xfrm xmlns:a="http://schemas.openxmlformats.org/drawingml/2006/main">
            <a:off x="2819400" y="38481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FD989"/>
                </a:solidFill>
                <a:latin typeface="Consolas"/>
                <a:ea typeface="Consolas"/>
                <a:cs typeface="Consolas"/>
              </a:defRPr>
            </a:pPr>
            <a:r>
              <a:rPr sz="1500" b="1">
                <a:solidFill>
                  <a:srgbClr val="FFD989"/>
                </a:solidFill>
                <a:latin typeface="Consolas"/>
                <a:ea typeface="Consolas"/>
                <a:cs typeface="Consolas"/>
              </a:rPr>
              <a:t>permitted changes</a:t>
            </a:r>
          </a:p>
        </p:txBody>
      </p:sp>
      <p:sp>
        <p:nvSpPr>
          <p:cNvPr id="18" name="">
            <a:extLst xmlns:a="http://schemas.openxmlformats.org/drawingml/2006/main">
              <a:ext uri="{FF2B5EF4-FFF2-40B4-BE49-F238E27FC236}">
                <a16:creationId xmlns:a16="http://schemas.microsoft.com/office/drawing/2014/main" id="{FED4D1B2-BFB2-439D-A3BA-DA42DF6FA665}"/>
              </a:ext>
            </a:extLst>
          </p:cNvPr>
          <p:cNvSpPr>
            <a:spLocks xmlns:a="http://schemas.openxmlformats.org/drawingml/2006/main" noGrp="1"/>
          </p:cNvSpPr>
          <p:nvPr/>
        </p:nvSpPr>
        <p:spPr>
          <a:xfrm xmlns:a="http://schemas.openxmlformats.org/drawingml/2006/main">
            <a:off x="4791075" y="38862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19" name="">
            <a:extLst xmlns:a="http://schemas.openxmlformats.org/drawingml/2006/main">
              <a:ext uri="{FF2B5EF4-FFF2-40B4-BE49-F238E27FC236}">
                <a16:creationId xmlns:a16="http://schemas.microsoft.com/office/drawing/2014/main" id="{535E6758-CDA0-4B5D-B13F-A278D9362B2E}"/>
              </a:ext>
            </a:extLst>
          </p:cNvPr>
          <p:cNvSpPr>
            <a:spLocks xmlns:a="http://schemas.openxmlformats.org/drawingml/2006/main" noGrp="1"/>
          </p:cNvSpPr>
          <p:nvPr/>
        </p:nvSpPr>
        <p:spPr>
          <a:xfrm xmlns:a="http://schemas.openxmlformats.org/drawingml/2006/main">
            <a:off x="4972050" y="38481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FD989"/>
                </a:solidFill>
                <a:latin typeface="Consolas"/>
                <a:ea typeface="Consolas"/>
                <a:cs typeface="Consolas"/>
              </a:defRPr>
            </a:pPr>
            <a:r>
              <a:rPr sz="1500" b="1">
                <a:solidFill>
                  <a:srgbClr val="FFD989"/>
                </a:solidFill>
                <a:latin typeface="Consolas"/>
                <a:ea typeface="Consolas"/>
                <a:cs typeface="Consolas"/>
              </a:rPr>
              <a:t>responsibility</a:t>
            </a:r>
          </a:p>
        </p:txBody>
      </p:sp>
      <p:sp>
        <p:nvSpPr>
          <p:cNvPr id="20" name="">
            <a:extLst xmlns:a="http://schemas.openxmlformats.org/drawingml/2006/main">
              <a:ext uri="{FF2B5EF4-FFF2-40B4-BE49-F238E27FC236}">
                <a16:creationId xmlns:a16="http://schemas.microsoft.com/office/drawing/2014/main" id="{F587BD43-7DEB-468E-B5DF-0C970CB0F46E}"/>
              </a:ext>
            </a:extLst>
          </p:cNvPr>
          <p:cNvSpPr>
            <a:spLocks xmlns:a="http://schemas.openxmlformats.org/drawingml/2006/main" noGrp="1"/>
          </p:cNvSpPr>
          <p:nvPr/>
        </p:nvSpPr>
        <p:spPr>
          <a:xfrm xmlns:a="http://schemas.openxmlformats.org/drawingml/2006/main">
            <a:off x="6943725" y="38862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21" name="">
            <a:extLst xmlns:a="http://schemas.openxmlformats.org/drawingml/2006/main">
              <a:ext uri="{FF2B5EF4-FFF2-40B4-BE49-F238E27FC236}">
                <a16:creationId xmlns:a16="http://schemas.microsoft.com/office/drawing/2014/main" id="{91AE96C7-2C6D-41B3-AA84-BF2BB22210D9}"/>
              </a:ext>
            </a:extLst>
          </p:cNvPr>
          <p:cNvSpPr>
            <a:spLocks xmlns:a="http://schemas.openxmlformats.org/drawingml/2006/main" noGrp="1"/>
          </p:cNvSpPr>
          <p:nvPr/>
        </p:nvSpPr>
        <p:spPr>
          <a:xfrm xmlns:a="http://schemas.openxmlformats.org/drawingml/2006/main">
            <a:off x="7124700" y="38481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FD989"/>
                </a:solidFill>
                <a:latin typeface="Consolas"/>
                <a:ea typeface="Consolas"/>
                <a:cs typeface="Consolas"/>
              </a:defRPr>
            </a:pPr>
            <a:r>
              <a:rPr sz="1500" b="1">
                <a:solidFill>
                  <a:srgbClr val="FFD989"/>
                </a:solidFill>
                <a:latin typeface="Consolas"/>
                <a:ea typeface="Consolas"/>
                <a:cs typeface="Consolas"/>
              </a:rPr>
              <a:t>lifetime</a:t>
            </a:r>
          </a:p>
        </p:txBody>
      </p:sp>
      <p:sp>
        <p:nvSpPr>
          <p:cNvPr id="22" name="">
            <a:extLst xmlns:a="http://schemas.openxmlformats.org/drawingml/2006/main">
              <a:ext uri="{FF2B5EF4-FFF2-40B4-BE49-F238E27FC236}">
                <a16:creationId xmlns:a16="http://schemas.microsoft.com/office/drawing/2014/main" id="{0CF8BBB2-4D4E-4F5F-B71F-6ED289D46786}"/>
              </a:ext>
            </a:extLst>
          </p:cNvPr>
          <p:cNvSpPr>
            <a:spLocks xmlns:a="http://schemas.openxmlformats.org/drawingml/2006/main" noGrp="1"/>
          </p:cNvSpPr>
          <p:nvPr/>
        </p:nvSpPr>
        <p:spPr>
          <a:xfrm xmlns:a="http://schemas.openxmlformats.org/drawingml/2006/main">
            <a:off x="9096375" y="3886200"/>
            <a:ext cx="19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0">
                <a:solidFill>
                  <a:srgbClr val="31564B"/>
                </a:solidFill>
                <a:latin typeface="Segoe UI"/>
                <a:ea typeface="Segoe UI"/>
                <a:cs typeface="Segoe UI"/>
              </a:defRPr>
            </a:pPr>
            <a:r>
              <a:rPr sz="1875" b="0">
                <a:solidFill>
                  <a:srgbClr val="31564B"/>
                </a:solidFill>
                <a:latin typeface="Segoe UI"/>
                <a:ea typeface="Segoe UI"/>
                <a:cs typeface="Segoe UI"/>
              </a:rPr>
              <a:t>|</a:t>
            </a:r>
          </a:p>
        </p:txBody>
      </p:sp>
      <p:sp>
        <p:nvSpPr>
          <p:cNvPr id="23" name="">
            <a:extLst xmlns:a="http://schemas.openxmlformats.org/drawingml/2006/main">
              <a:ext uri="{FF2B5EF4-FFF2-40B4-BE49-F238E27FC236}">
                <a16:creationId xmlns:a16="http://schemas.microsoft.com/office/drawing/2014/main" id="{3BF42164-8401-468A-B10E-22E286A35ADD}"/>
              </a:ext>
            </a:extLst>
          </p:cNvPr>
          <p:cNvSpPr>
            <a:spLocks xmlns:a="http://schemas.openxmlformats.org/drawingml/2006/main" noGrp="1"/>
          </p:cNvSpPr>
          <p:nvPr/>
        </p:nvSpPr>
        <p:spPr>
          <a:xfrm xmlns:a="http://schemas.openxmlformats.org/drawingml/2006/main">
            <a:off x="9277350" y="3848100"/>
            <a:ext cx="1952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FD989"/>
                </a:solidFill>
                <a:latin typeface="Consolas"/>
                <a:ea typeface="Consolas"/>
                <a:cs typeface="Consolas"/>
              </a:defRPr>
            </a:pPr>
            <a:r>
              <a:rPr sz="1500" b="1">
                <a:solidFill>
                  <a:srgbClr val="FFD989"/>
                </a:solidFill>
                <a:latin typeface="Consolas"/>
                <a:ea typeface="Consolas"/>
                <a:cs typeface="Consolas"/>
              </a:rPr>
              <a:t>evidence</a:t>
            </a:r>
          </a:p>
        </p:txBody>
      </p:sp>
      <p:sp>
        <p:nvSpPr>
          <p:cNvPr id="24" name="">
            <a:extLst xmlns:a="http://schemas.openxmlformats.org/drawingml/2006/main">
              <a:ext uri="{FF2B5EF4-FFF2-40B4-BE49-F238E27FC236}">
                <a16:creationId xmlns:a16="http://schemas.microsoft.com/office/drawing/2014/main" id="{D634CB3F-9685-46B9-A8A9-2627F97E370F}"/>
              </a:ext>
            </a:extLst>
          </p:cNvPr>
          <p:cNvSpPr>
            <a:spLocks xmlns:a="http://schemas.openxmlformats.org/drawingml/2006/main" noGrp="1"/>
          </p:cNvSpPr>
          <p:nvPr/>
        </p:nvSpPr>
        <p:spPr>
          <a:xfrm xmlns:a="http://schemas.openxmlformats.org/drawingml/2006/main">
            <a:off x="4019550" y="5000625"/>
            <a:ext cx="4143375" cy="495300"/>
          </a:xfrm>
          <a:prstGeom xmlns:a="http://schemas.openxmlformats.org/drawingml/2006/main" prst="roundRect">
            <a:avLst>
              <a:gd name="adj" fmla="val 23077"/>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C6D5CF"/>
                </a:solidFill>
                <a:latin typeface="Segoe UI"/>
                <a:ea typeface="Segoe UI"/>
                <a:cs typeface="Segoe UI"/>
              </a:defRPr>
            </a:pPr>
            <a:r>
              <a:rPr sz="1575" b="1">
                <a:solidFill>
                  <a:srgbClr val="C6D5CF"/>
                </a:solidFill>
                <a:latin typeface="Segoe UI"/>
                <a:ea typeface="Segoe UI"/>
                <a:cs typeface="Segoe UI"/>
              </a:rPr>
              <a:t>Not an exact byte diagram</a:t>
            </a:r>
          </a:p>
        </p:txBody>
      </p:sp>
    </p:spTree>
    <p:extLst>
      <p:ext uri="{BB962C8B-B14F-4D97-AF65-F5344CB8AC3E}">
        <p14:creationId xmlns:p14="http://schemas.microsoft.com/office/powerpoint/2010/main" val="1608726917"/>
      </p:ext>
    </p:extLst>
  </p:cSld>
</p:sld>
</file>

<file path=ppt/slides/slide8.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0" name="chrome-section-8">
            <a:extLst xmlns:a="http://schemas.openxmlformats.org/drawingml/2006/main">
              <a:ext uri="{FF2B5EF4-FFF2-40B4-BE49-F238E27FC236}">
                <a16:creationId xmlns:a16="http://schemas.microsoft.com/office/drawing/2014/main" id="{384F07E1-9329-46F2-90BF-F83DDE4BD26E}"/>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REQUIREMENT</a:t>
            </a:r>
          </a:p>
        </p:txBody>
      </p:sp>
      <p:sp>
        <p:nvSpPr>
          <p:cNvPr id="2" name="chrome-number-8">
            <a:extLst xmlns:a="http://schemas.openxmlformats.org/drawingml/2006/main">
              <a:ext uri="{FF2B5EF4-FFF2-40B4-BE49-F238E27FC236}">
                <a16:creationId xmlns:a16="http://schemas.microsoft.com/office/drawing/2014/main" id="{A9D9C363-A4C9-4A7F-AA7B-EDB2067A11E8}"/>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08</a:t>
            </a:r>
          </a:p>
        </p:txBody>
      </p:sp>
      <p:sp>
        <p:nvSpPr>
          <p:cNvPr id="3" name="slide-title-8">
            <a:extLst xmlns:a="http://schemas.openxmlformats.org/drawingml/2006/main">
              <a:ext uri="{FF2B5EF4-FFF2-40B4-BE49-F238E27FC236}">
                <a16:creationId xmlns:a16="http://schemas.microsoft.com/office/drawing/2014/main" id="{1AB2B498-6D20-4274-9DFB-C1989455E60E}"/>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requirement defines the boundary</a:t>
            </a:r>
          </a:p>
        </p:txBody>
      </p:sp>
      <p:sp>
        <p:nvSpPr>
          <p:cNvPr id="4" name="title-rule-8">
            <a:extLst xmlns:a="http://schemas.openxmlformats.org/drawingml/2006/main">
              <a:ext uri="{FF2B5EF4-FFF2-40B4-BE49-F238E27FC236}">
                <a16:creationId xmlns:a16="http://schemas.microsoft.com/office/drawing/2014/main" id="{62383FE1-0028-4540-B3EF-6D294C8A534A}"/>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8">
            <a:extLst xmlns:a="http://schemas.openxmlformats.org/drawingml/2006/main">
              <a:ext uri="{FF2B5EF4-FFF2-40B4-BE49-F238E27FC236}">
                <a16:creationId xmlns:a16="http://schemas.microsoft.com/office/drawing/2014/main" id="{51F77AD6-9284-4CD4-84F1-DDB711CAF08F}"/>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‘Just an integer’ loses the rules the program must preserve.</a:t>
            </a:r>
          </a:p>
        </p:txBody>
      </p:sp>
      <p:sp>
        <p:nvSpPr>
          <p:cNvPr id="6" name="">
            <a:extLst xmlns:a="http://schemas.openxmlformats.org/drawingml/2006/main">
              <a:ext uri="{FF2B5EF4-FFF2-40B4-BE49-F238E27FC236}">
                <a16:creationId xmlns:a16="http://schemas.microsoft.com/office/drawing/2014/main" id="{950208A9-7B6B-42B6-946C-E43E06B29A76}"/>
              </a:ext>
            </a:extLst>
          </p:cNvPr>
          <p:cNvSpPr>
            <a:spLocks xmlns:a="http://schemas.openxmlformats.org/drawingml/2006/main" noGrp="1"/>
          </p:cNvSpPr>
          <p:nvPr/>
        </p:nvSpPr>
        <p:spPr>
          <a:xfrm xmlns:a="http://schemas.openxmlformats.org/drawingml/2006/main">
            <a:off x="5000625" y="2781300"/>
            <a:ext cx="2000250" cy="2000250"/>
          </a:xfrm>
          <a:prstGeom xmlns:a="http://schemas.openxmlformats.org/drawingml/2006/main" prst="ellipse">
            <a:avLst/>
          </a:prstGeom>
          <a:solidFill xmlns:a="http://schemas.openxmlformats.org/drawingml/2006/main">
            <a:srgbClr val="0D251E"/>
          </a:solidFill>
          <a:ln xmlns:a="http://schemas.openxmlformats.org/drawingml/2006/main" w="19050">
            <a:solidFill>
              <a:srgbClr val="F5B84B"/>
            </a:solidFill>
            <a:prstDash val="solid"/>
          </a:ln>
        </p:spPr>
      </p:sp>
      <p:sp>
        <p:nvSpPr>
          <p:cNvPr id="7" name="">
            <a:extLst xmlns:a="http://schemas.openxmlformats.org/drawingml/2006/main">
              <a:ext uri="{FF2B5EF4-FFF2-40B4-BE49-F238E27FC236}">
                <a16:creationId xmlns:a16="http://schemas.microsoft.com/office/drawing/2014/main" id="{67A90A62-545F-44C7-A027-9D9E90FB263D}"/>
              </a:ext>
            </a:extLst>
          </p:cNvPr>
          <p:cNvSpPr>
            <a:spLocks xmlns:a="http://schemas.openxmlformats.org/drawingml/2006/main" noGrp="1"/>
          </p:cNvSpPr>
          <p:nvPr/>
        </p:nvSpPr>
        <p:spPr>
          <a:xfrm xmlns:a="http://schemas.openxmlformats.org/drawingml/2006/main">
            <a:off x="5000625" y="3295650"/>
            <a:ext cx="2000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325" b="1">
                <a:solidFill>
                  <a:srgbClr val="FFD989"/>
                </a:solidFill>
                <a:latin typeface="Georgia"/>
                <a:ea typeface="Georgia"/>
                <a:cs typeface="Georgia"/>
              </a:defRPr>
            </a:pPr>
            <a:r>
              <a:rPr sz="2325" b="1">
                <a:solidFill>
                  <a:srgbClr val="FFD989"/>
                </a:solidFill>
                <a:latin typeface="Georgia"/>
                <a:ea typeface="Georgia"/>
                <a:cs typeface="Georgia"/>
              </a:rPr>
              <a:t>PLAYER</a:t>
            </a:r>
          </a:p>
          <a:p xmlns:a="http://schemas.openxmlformats.org/drawingml/2006/main">
            <a:pPr algn="ctr">
              <a:lnSpc>
                <a:spcPct val="100000"/>
              </a:lnSpc>
              <a:buNone/>
              <a:defRPr sz="2325" b="1">
                <a:solidFill>
                  <a:srgbClr val="FFD989"/>
                </a:solidFill>
                <a:latin typeface="Georgia"/>
                <a:ea typeface="Georgia"/>
                <a:cs typeface="Georgia"/>
              </a:defRPr>
            </a:pPr>
            <a:r>
              <a:rPr sz="2325" b="1">
                <a:solidFill>
                  <a:srgbClr val="FFD989"/>
                </a:solidFill>
                <a:latin typeface="Georgia"/>
                <a:ea typeface="Georgia"/>
                <a:cs typeface="Georgia"/>
              </a:rPr>
              <a:t>HEALTH</a:t>
            </a:r>
          </a:p>
        </p:txBody>
      </p:sp>
      <p:sp>
        <p:nvSpPr>
          <p:cNvPr id="8" name="">
            <a:extLst xmlns:a="http://schemas.openxmlformats.org/drawingml/2006/main">
              <a:ext uri="{FF2B5EF4-FFF2-40B4-BE49-F238E27FC236}">
                <a16:creationId xmlns:a16="http://schemas.microsoft.com/office/drawing/2014/main" id="{5CE8D670-4C22-408A-B2C8-8BC4F253EDEF}"/>
              </a:ext>
            </a:extLst>
          </p:cNvPr>
          <p:cNvSpPr>
            <a:spLocks xmlns:a="http://schemas.openxmlformats.org/drawingml/2006/main" noGrp="1"/>
          </p:cNvSpPr>
          <p:nvPr/>
        </p:nvSpPr>
        <p:spPr>
          <a:xfrm xmlns:a="http://schemas.openxmlformats.org/drawingml/2006/main">
            <a:off x="819150" y="2495550"/>
            <a:ext cx="2857500" cy="819150"/>
          </a:xfrm>
          <a:prstGeom xmlns:a="http://schemas.openxmlformats.org/drawingml/2006/main" prst="roundRect">
            <a:avLst>
              <a:gd name="adj" fmla="val 18605"/>
            </a:avLst>
          </a:prstGeom>
          <a:solidFill xmlns:a="http://schemas.openxmlformats.org/drawingml/2006/main">
            <a:srgbClr val="0D251E"/>
          </a:solidFill>
          <a:ln xmlns:a="http://schemas.openxmlformats.org/drawingml/2006/main" w="19050">
            <a:solidFill>
              <a:srgbClr val="74D7FF"/>
            </a:solidFill>
            <a:prstDash val="solid"/>
          </a:ln>
        </p:spPr>
      </p:sp>
      <p:sp>
        <p:nvSpPr>
          <p:cNvPr id="9" name="">
            <a:extLst xmlns:a="http://schemas.openxmlformats.org/drawingml/2006/main">
              <a:ext uri="{FF2B5EF4-FFF2-40B4-BE49-F238E27FC236}">
                <a16:creationId xmlns:a16="http://schemas.microsoft.com/office/drawing/2014/main" id="{4B4EEB26-CF65-491C-93DF-7BB2FA0B75E3}"/>
              </a:ext>
            </a:extLst>
          </p:cNvPr>
          <p:cNvSpPr>
            <a:spLocks xmlns:a="http://schemas.openxmlformats.org/drawingml/2006/main" noGrp="1"/>
          </p:cNvSpPr>
          <p:nvPr/>
        </p:nvSpPr>
        <p:spPr>
          <a:xfrm xmlns:a="http://schemas.openxmlformats.org/drawingml/2006/main">
            <a:off x="971550" y="264795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Start within 0..100</a:t>
            </a:r>
          </a:p>
        </p:txBody>
      </p:sp>
      <p:sp>
        <p:nvSpPr>
          <p:cNvPr id="10" name="">
            <a:extLst xmlns:a="http://schemas.openxmlformats.org/drawingml/2006/main">
              <a:ext uri="{FF2B5EF4-FFF2-40B4-BE49-F238E27FC236}">
                <a16:creationId xmlns:a16="http://schemas.microsoft.com/office/drawing/2014/main" id="{DFC91F55-A311-419C-A0B9-CB037D580921}"/>
              </a:ext>
            </a:extLst>
          </p:cNvPr>
          <p:cNvSpPr>
            <a:spLocks xmlns:a="http://schemas.openxmlformats.org/drawingml/2006/main" noGrp="1"/>
          </p:cNvSpPr>
          <p:nvPr/>
        </p:nvSpPr>
        <p:spPr>
          <a:xfrm xmlns:a="http://schemas.openxmlformats.org/drawingml/2006/main">
            <a:off x="819150" y="4229100"/>
            <a:ext cx="2857500" cy="819150"/>
          </a:xfrm>
          <a:prstGeom xmlns:a="http://schemas.openxmlformats.org/drawingml/2006/main" prst="roundRect">
            <a:avLst>
              <a:gd name="adj" fmla="val 18605"/>
            </a:avLst>
          </a:prstGeom>
          <a:solidFill xmlns:a="http://schemas.openxmlformats.org/drawingml/2006/main">
            <a:srgbClr val="0D251E"/>
          </a:solidFill>
          <a:ln xmlns:a="http://schemas.openxmlformats.org/drawingml/2006/main" w="19050">
            <a:solidFill>
              <a:srgbClr val="74D7FF"/>
            </a:solidFill>
            <a:prstDash val="solid"/>
          </a:ln>
        </p:spPr>
      </p:sp>
      <p:sp>
        <p:nvSpPr>
          <p:cNvPr id="11" name="">
            <a:extLst xmlns:a="http://schemas.openxmlformats.org/drawingml/2006/main">
              <a:ext uri="{FF2B5EF4-FFF2-40B4-BE49-F238E27FC236}">
                <a16:creationId xmlns:a16="http://schemas.microsoft.com/office/drawing/2014/main" id="{65EF4884-80E2-455E-9840-8815D5048448}"/>
              </a:ext>
            </a:extLst>
          </p:cNvPr>
          <p:cNvSpPr>
            <a:spLocks xmlns:a="http://schemas.openxmlformats.org/drawingml/2006/main" noGrp="1"/>
          </p:cNvSpPr>
          <p:nvPr/>
        </p:nvSpPr>
        <p:spPr>
          <a:xfrm xmlns:a="http://schemas.openxmlformats.org/drawingml/2006/main">
            <a:off x="971550" y="438150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Damage never increases it</a:t>
            </a:r>
          </a:p>
        </p:txBody>
      </p:sp>
      <p:sp>
        <p:nvSpPr>
          <p:cNvPr id="12" name="">
            <a:extLst xmlns:a="http://schemas.openxmlformats.org/drawingml/2006/main">
              <a:ext uri="{FF2B5EF4-FFF2-40B4-BE49-F238E27FC236}">
                <a16:creationId xmlns:a16="http://schemas.microsoft.com/office/drawing/2014/main" id="{FB631329-86E8-4860-A43D-4EBDC021BDA1}"/>
              </a:ext>
            </a:extLst>
          </p:cNvPr>
          <p:cNvSpPr>
            <a:spLocks xmlns:a="http://schemas.openxmlformats.org/drawingml/2006/main" noGrp="1"/>
          </p:cNvSpPr>
          <p:nvPr/>
        </p:nvSpPr>
        <p:spPr>
          <a:xfrm xmlns:a="http://schemas.openxmlformats.org/drawingml/2006/main">
            <a:off x="8191500" y="2495550"/>
            <a:ext cx="2857500" cy="819150"/>
          </a:xfrm>
          <a:prstGeom xmlns:a="http://schemas.openxmlformats.org/drawingml/2006/main" prst="roundRect">
            <a:avLst>
              <a:gd name="adj" fmla="val 18605"/>
            </a:avLst>
          </a:prstGeom>
          <a:solidFill xmlns:a="http://schemas.openxmlformats.org/drawingml/2006/main">
            <a:srgbClr val="0D251E"/>
          </a:solidFill>
          <a:ln xmlns:a="http://schemas.openxmlformats.org/drawingml/2006/main" w="19050">
            <a:solidFill>
              <a:srgbClr val="74D7FF"/>
            </a:solidFill>
            <a:prstDash val="solid"/>
          </a:ln>
        </p:spPr>
      </p:sp>
      <p:sp>
        <p:nvSpPr>
          <p:cNvPr id="13" name="">
            <a:extLst xmlns:a="http://schemas.openxmlformats.org/drawingml/2006/main">
              <a:ext uri="{FF2B5EF4-FFF2-40B4-BE49-F238E27FC236}">
                <a16:creationId xmlns:a16="http://schemas.microsoft.com/office/drawing/2014/main" id="{182FA5B1-940D-4F27-A6D6-101C03335E83}"/>
              </a:ext>
            </a:extLst>
          </p:cNvPr>
          <p:cNvSpPr>
            <a:spLocks xmlns:a="http://schemas.openxmlformats.org/drawingml/2006/main" noGrp="1"/>
          </p:cNvSpPr>
          <p:nvPr/>
        </p:nvSpPr>
        <p:spPr>
          <a:xfrm xmlns:a="http://schemas.openxmlformats.org/drawingml/2006/main">
            <a:off x="8343900" y="264795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Never fall below zero</a:t>
            </a:r>
          </a:p>
        </p:txBody>
      </p:sp>
      <p:sp>
        <p:nvSpPr>
          <p:cNvPr id="14" name="">
            <a:extLst xmlns:a="http://schemas.openxmlformats.org/drawingml/2006/main">
              <a:ext uri="{FF2B5EF4-FFF2-40B4-BE49-F238E27FC236}">
                <a16:creationId xmlns:a16="http://schemas.microsoft.com/office/drawing/2014/main" id="{4D9B5E74-B33C-46EA-B06E-C2B5ECE19FA8}"/>
              </a:ext>
            </a:extLst>
          </p:cNvPr>
          <p:cNvSpPr>
            <a:spLocks xmlns:a="http://schemas.openxmlformats.org/drawingml/2006/main" noGrp="1"/>
          </p:cNvSpPr>
          <p:nvPr/>
        </p:nvSpPr>
        <p:spPr>
          <a:xfrm xmlns:a="http://schemas.openxmlformats.org/drawingml/2006/main">
            <a:off x="8191500" y="4229100"/>
            <a:ext cx="2857500" cy="819150"/>
          </a:xfrm>
          <a:prstGeom xmlns:a="http://schemas.openxmlformats.org/drawingml/2006/main" prst="roundRect">
            <a:avLst>
              <a:gd name="adj" fmla="val 18605"/>
            </a:avLst>
          </a:prstGeom>
          <a:solidFill xmlns:a="http://schemas.openxmlformats.org/drawingml/2006/main">
            <a:srgbClr val="0D251E"/>
          </a:solidFill>
          <a:ln xmlns:a="http://schemas.openxmlformats.org/drawingml/2006/main" w="19050">
            <a:solidFill>
              <a:srgbClr val="74D7FF"/>
            </a:solidFill>
            <a:prstDash val="solid"/>
          </a:ln>
        </p:spPr>
      </p:sp>
      <p:sp>
        <p:nvSpPr>
          <p:cNvPr id="15" name="">
            <a:extLst xmlns:a="http://schemas.openxmlformats.org/drawingml/2006/main">
              <a:ext uri="{FF2B5EF4-FFF2-40B4-BE49-F238E27FC236}">
                <a16:creationId xmlns:a16="http://schemas.microsoft.com/office/drawing/2014/main" id="{638FBCA7-E258-4680-B49A-B9E914B6BB50}"/>
              </a:ext>
            </a:extLst>
          </p:cNvPr>
          <p:cNvSpPr>
            <a:spLocks xmlns:a="http://schemas.openxmlformats.org/drawingml/2006/main" noGrp="1"/>
          </p:cNvSpPr>
          <p:nvPr/>
        </p:nvSpPr>
        <p:spPr>
          <a:xfrm xmlns:a="http://schemas.openxmlformats.org/drawingml/2006/main">
            <a:off x="8343900" y="4381500"/>
            <a:ext cx="2552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Report whether alive</a:t>
            </a:r>
          </a:p>
        </p:txBody>
      </p:sp>
      <p:sp>
        <p:nvSpPr>
          <p:cNvPr id="16" name="">
            <a:extLst xmlns:a="http://schemas.openxmlformats.org/drawingml/2006/main">
              <a:ext uri="{FF2B5EF4-FFF2-40B4-BE49-F238E27FC236}">
                <a16:creationId xmlns:a16="http://schemas.microsoft.com/office/drawing/2014/main" id="{1B82859E-2C4D-4307-947C-BC6D70D83E2E}"/>
              </a:ext>
            </a:extLst>
          </p:cNvPr>
          <p:cNvSpPr>
            <a:spLocks xmlns:a="http://schemas.openxmlformats.org/drawingml/2006/main" noGrp="1"/>
          </p:cNvSpPr>
          <p:nvPr/>
        </p:nvSpPr>
        <p:spPr>
          <a:xfrm xmlns:a="http://schemas.openxmlformats.org/drawingml/2006/main">
            <a:off x="3676650" y="2905125"/>
            <a:ext cx="1323975" cy="66675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7" name="">
            <a:extLst xmlns:a="http://schemas.openxmlformats.org/drawingml/2006/main">
              <a:ext uri="{FF2B5EF4-FFF2-40B4-BE49-F238E27FC236}">
                <a16:creationId xmlns:a16="http://schemas.microsoft.com/office/drawing/2014/main" id="{5185D014-5FDD-4C06-9D89-DE99F9BF4BDB}"/>
              </a:ext>
            </a:extLst>
          </p:cNvPr>
          <p:cNvSpPr>
            <a:spLocks xmlns:a="http://schemas.openxmlformats.org/drawingml/2006/main" noGrp="1"/>
          </p:cNvSpPr>
          <p:nvPr/>
        </p:nvSpPr>
        <p:spPr>
          <a:xfrm xmlns:a="http://schemas.openxmlformats.org/drawingml/2006/main">
            <a:off x="3676650" y="3962400"/>
            <a:ext cx="1323975" cy="66675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8" name="">
            <a:extLst xmlns:a="http://schemas.openxmlformats.org/drawingml/2006/main">
              <a:ext uri="{FF2B5EF4-FFF2-40B4-BE49-F238E27FC236}">
                <a16:creationId xmlns:a16="http://schemas.microsoft.com/office/drawing/2014/main" id="{12B55F2B-AD2F-4EE8-BA5C-ED9A7BD20BEA}"/>
              </a:ext>
            </a:extLst>
          </p:cNvPr>
          <p:cNvSpPr>
            <a:spLocks xmlns:a="http://schemas.openxmlformats.org/drawingml/2006/main" noGrp="1"/>
          </p:cNvSpPr>
          <p:nvPr/>
        </p:nvSpPr>
        <p:spPr>
          <a:xfrm xmlns:a="http://schemas.openxmlformats.org/drawingml/2006/main">
            <a:off x="7000875" y="2905125"/>
            <a:ext cx="1190625" cy="66675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9" name="">
            <a:extLst xmlns:a="http://schemas.openxmlformats.org/drawingml/2006/main">
              <a:ext uri="{FF2B5EF4-FFF2-40B4-BE49-F238E27FC236}">
                <a16:creationId xmlns:a16="http://schemas.microsoft.com/office/drawing/2014/main" id="{CAFFB55A-0852-411D-BB56-79FB9E1A3F38}"/>
              </a:ext>
            </a:extLst>
          </p:cNvPr>
          <p:cNvSpPr>
            <a:spLocks xmlns:a="http://schemas.openxmlformats.org/drawingml/2006/main" noGrp="1"/>
          </p:cNvSpPr>
          <p:nvPr/>
        </p:nvSpPr>
        <p:spPr>
          <a:xfrm xmlns:a="http://schemas.openxmlformats.org/drawingml/2006/main">
            <a:off x="7000875" y="3952875"/>
            <a:ext cx="1190625" cy="66675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Tree>
    <p:extLst>
      <p:ext uri="{BB962C8B-B14F-4D97-AF65-F5344CB8AC3E}">
        <p14:creationId xmlns:p14="http://schemas.microsoft.com/office/powerpoint/2010/main" val="144036575"/>
      </p:ext>
    </p:extLst>
  </p:cSld>
</p:sld>
</file>

<file path=ppt/slides/slide9.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0" name="chrome-section-9">
            <a:extLst xmlns:a="http://schemas.openxmlformats.org/drawingml/2006/main">
              <a:ext uri="{FF2B5EF4-FFF2-40B4-BE49-F238E27FC236}">
                <a16:creationId xmlns:a16="http://schemas.microsoft.com/office/drawing/2014/main" id="{30C669D1-E2A3-4A45-9556-E4DD68F87B16}"/>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VALID STATE</a:t>
            </a:r>
          </a:p>
        </p:txBody>
      </p:sp>
      <p:sp>
        <p:nvSpPr>
          <p:cNvPr id="2" name="chrome-number-9">
            <a:extLst xmlns:a="http://schemas.openxmlformats.org/drawingml/2006/main">
              <a:ext uri="{FF2B5EF4-FFF2-40B4-BE49-F238E27FC236}">
                <a16:creationId xmlns:a16="http://schemas.microsoft.com/office/drawing/2014/main" id="{D02B8867-894B-4433-85AF-D74326E50EFC}"/>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09</a:t>
            </a:r>
          </a:p>
        </p:txBody>
      </p:sp>
      <p:sp>
        <p:nvSpPr>
          <p:cNvPr id="3" name="slide-title-9">
            <a:extLst xmlns:a="http://schemas.openxmlformats.org/drawingml/2006/main">
              <a:ext uri="{FF2B5EF4-FFF2-40B4-BE49-F238E27FC236}">
                <a16:creationId xmlns:a16="http://schemas.microsoft.com/office/drawing/2014/main" id="{A32D3E69-2530-437C-BF93-877F62E314B0}"/>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invariant</a:t>
            </a:r>
          </a:p>
        </p:txBody>
      </p:sp>
      <p:sp>
        <p:nvSpPr>
          <p:cNvPr id="4" name="title-rule-9">
            <a:extLst xmlns:a="http://schemas.openxmlformats.org/drawingml/2006/main">
              <a:ext uri="{FF2B5EF4-FFF2-40B4-BE49-F238E27FC236}">
                <a16:creationId xmlns:a16="http://schemas.microsoft.com/office/drawing/2014/main" id="{2071D6F0-ECF6-46EE-8AA9-2B4AA1338402}"/>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9">
            <a:extLst xmlns:a="http://schemas.openxmlformats.org/drawingml/2006/main">
              <a:ext uri="{FF2B5EF4-FFF2-40B4-BE49-F238E27FC236}">
                <a16:creationId xmlns:a16="http://schemas.microsoft.com/office/drawing/2014/main" id="{29D89B3C-1696-410F-B93F-F6D9940E1B72}"/>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Every completed public operation must leave the object within this range.</a:t>
            </a:r>
          </a:p>
        </p:txBody>
      </p:sp>
      <p:sp>
        <p:nvSpPr>
          <p:cNvPr id="6" name="">
            <a:extLst xmlns:a="http://schemas.openxmlformats.org/drawingml/2006/main">
              <a:ext uri="{FF2B5EF4-FFF2-40B4-BE49-F238E27FC236}">
                <a16:creationId xmlns:a16="http://schemas.microsoft.com/office/drawing/2014/main" id="{5AB64A2F-60B4-4919-9A83-14E024B22E44}"/>
              </a:ext>
            </a:extLst>
          </p:cNvPr>
          <p:cNvSpPr>
            <a:spLocks xmlns:a="http://schemas.openxmlformats.org/drawingml/2006/main" noGrp="1"/>
          </p:cNvSpPr>
          <p:nvPr/>
        </p:nvSpPr>
        <p:spPr>
          <a:xfrm xmlns:a="http://schemas.openxmlformats.org/drawingml/2006/main">
            <a:off x="2000250" y="2457450"/>
            <a:ext cx="8191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650" b="1">
                <a:solidFill>
                  <a:srgbClr val="78F0B2"/>
                </a:solidFill>
                <a:latin typeface="Consolas"/>
                <a:ea typeface="Consolas"/>
                <a:cs typeface="Consolas"/>
              </a:defRPr>
            </a:pPr>
            <a:r>
              <a:rPr sz="4650" b="1">
                <a:solidFill>
                  <a:srgbClr val="78F0B2"/>
                </a:solidFill>
                <a:latin typeface="Consolas"/>
                <a:ea typeface="Consolas"/>
                <a:cs typeface="Consolas"/>
              </a:rPr>
              <a:t>0 ≤ points ≤ 100</a:t>
            </a:r>
          </a:p>
        </p:txBody>
      </p:sp>
      <p:sp>
        <p:nvSpPr>
          <p:cNvPr id="7" name="">
            <a:extLst xmlns:a="http://schemas.openxmlformats.org/drawingml/2006/main">
              <a:ext uri="{FF2B5EF4-FFF2-40B4-BE49-F238E27FC236}">
                <a16:creationId xmlns:a16="http://schemas.microsoft.com/office/drawing/2014/main" id="{45A17778-CF55-43F2-A76C-7A71306D8C3B}"/>
              </a:ext>
            </a:extLst>
          </p:cNvPr>
          <p:cNvSpPr>
            <a:spLocks xmlns:a="http://schemas.openxmlformats.org/drawingml/2006/main" noGrp="1"/>
          </p:cNvSpPr>
          <p:nvPr/>
        </p:nvSpPr>
        <p:spPr>
          <a:xfrm xmlns:a="http://schemas.openxmlformats.org/drawingml/2006/main">
            <a:off x="1952625" y="4476750"/>
            <a:ext cx="8286750" cy="9525"/>
          </a:xfrm>
          <a:prstGeom xmlns:a="http://schemas.openxmlformats.org/drawingml/2006/main" prst="line">
            <a:avLst/>
          </a:prstGeom>
          <a:noFill xmlns:a="http://schemas.openxmlformats.org/drawingml/2006/main"/>
          <a:ln xmlns:a="http://schemas.openxmlformats.org/drawingml/2006/main" w="76200">
            <a:solidFill>
              <a:srgbClr val="78F0B2"/>
            </a:solidFill>
            <a:prstDash val="solid"/>
          </a:ln>
        </p:spPr>
      </p:sp>
      <p:sp>
        <p:nvSpPr>
          <p:cNvPr id="8" name="">
            <a:extLst xmlns:a="http://schemas.openxmlformats.org/drawingml/2006/main">
              <a:ext uri="{FF2B5EF4-FFF2-40B4-BE49-F238E27FC236}">
                <a16:creationId xmlns:a16="http://schemas.microsoft.com/office/drawing/2014/main" id="{4EA1621E-1B79-44D0-BBD6-E5184FACB664}"/>
              </a:ext>
            </a:extLst>
          </p:cNvPr>
          <p:cNvSpPr>
            <a:spLocks xmlns:a="http://schemas.openxmlformats.org/drawingml/2006/main" noGrp="1"/>
          </p:cNvSpPr>
          <p:nvPr/>
        </p:nvSpPr>
        <p:spPr>
          <a:xfrm xmlns:a="http://schemas.openxmlformats.org/drawingml/2006/main">
            <a:off x="1952625" y="4286250"/>
            <a:ext cx="9525" cy="381000"/>
          </a:xfrm>
          <a:prstGeom xmlns:a="http://schemas.openxmlformats.org/drawingml/2006/main" prst="line">
            <a:avLst/>
          </a:prstGeom>
          <a:noFill xmlns:a="http://schemas.openxmlformats.org/drawingml/2006/main"/>
          <a:ln xmlns:a="http://schemas.openxmlformats.org/drawingml/2006/main" w="28575">
            <a:solidFill>
              <a:srgbClr val="F3FBF7"/>
            </a:solidFill>
            <a:prstDash val="solid"/>
          </a:ln>
        </p:spPr>
      </p:sp>
      <p:sp>
        <p:nvSpPr>
          <p:cNvPr id="9" name="">
            <a:extLst xmlns:a="http://schemas.openxmlformats.org/drawingml/2006/main">
              <a:ext uri="{FF2B5EF4-FFF2-40B4-BE49-F238E27FC236}">
                <a16:creationId xmlns:a16="http://schemas.microsoft.com/office/drawing/2014/main" id="{3A2A92AE-6463-4695-AC77-D6A290F9DD42}"/>
              </a:ext>
            </a:extLst>
          </p:cNvPr>
          <p:cNvSpPr>
            <a:spLocks xmlns:a="http://schemas.openxmlformats.org/drawingml/2006/main" noGrp="1"/>
          </p:cNvSpPr>
          <p:nvPr/>
        </p:nvSpPr>
        <p:spPr>
          <a:xfrm xmlns:a="http://schemas.openxmlformats.org/drawingml/2006/main">
            <a:off x="1619250" y="48101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6D5CF"/>
                </a:solidFill>
                <a:latin typeface="Consolas"/>
                <a:ea typeface="Consolas"/>
                <a:cs typeface="Consolas"/>
              </a:defRPr>
            </a:pPr>
            <a:r>
              <a:rPr sz="1500" b="0">
                <a:solidFill>
                  <a:srgbClr val="C6D5CF"/>
                </a:solidFill>
                <a:latin typeface="Consolas"/>
                <a:ea typeface="Consolas"/>
                <a:cs typeface="Consolas"/>
              </a:rPr>
              <a:t>0</a:t>
            </a:r>
          </a:p>
        </p:txBody>
      </p:sp>
      <p:sp>
        <p:nvSpPr>
          <p:cNvPr id="10" name="">
            <a:extLst xmlns:a="http://schemas.openxmlformats.org/drawingml/2006/main">
              <a:ext uri="{FF2B5EF4-FFF2-40B4-BE49-F238E27FC236}">
                <a16:creationId xmlns:a16="http://schemas.microsoft.com/office/drawing/2014/main" id="{0F8D7A6E-6AFC-47E0-BB68-8A2E6E7C71A6}"/>
              </a:ext>
            </a:extLst>
          </p:cNvPr>
          <p:cNvSpPr>
            <a:spLocks xmlns:a="http://schemas.openxmlformats.org/drawingml/2006/main" noGrp="1"/>
          </p:cNvSpPr>
          <p:nvPr/>
        </p:nvSpPr>
        <p:spPr>
          <a:xfrm xmlns:a="http://schemas.openxmlformats.org/drawingml/2006/main">
            <a:off x="4024313" y="4286250"/>
            <a:ext cx="9525" cy="381000"/>
          </a:xfrm>
          <a:prstGeom xmlns:a="http://schemas.openxmlformats.org/drawingml/2006/main" prst="line">
            <a:avLst/>
          </a:prstGeom>
          <a:noFill xmlns:a="http://schemas.openxmlformats.org/drawingml/2006/main"/>
          <a:ln xmlns:a="http://schemas.openxmlformats.org/drawingml/2006/main" w="28575">
            <a:solidFill>
              <a:srgbClr val="F3FBF7"/>
            </a:solidFill>
            <a:prstDash val="solid"/>
          </a:ln>
        </p:spPr>
      </p:sp>
      <p:sp>
        <p:nvSpPr>
          <p:cNvPr id="11" name="">
            <a:extLst xmlns:a="http://schemas.openxmlformats.org/drawingml/2006/main">
              <a:ext uri="{FF2B5EF4-FFF2-40B4-BE49-F238E27FC236}">
                <a16:creationId xmlns:a16="http://schemas.microsoft.com/office/drawing/2014/main" id="{97C0F91C-4D77-4643-92B8-6C236A14394E}"/>
              </a:ext>
            </a:extLst>
          </p:cNvPr>
          <p:cNvSpPr>
            <a:spLocks xmlns:a="http://schemas.openxmlformats.org/drawingml/2006/main" noGrp="1"/>
          </p:cNvSpPr>
          <p:nvPr/>
        </p:nvSpPr>
        <p:spPr>
          <a:xfrm xmlns:a="http://schemas.openxmlformats.org/drawingml/2006/main">
            <a:off x="3690938" y="48101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6D5CF"/>
                </a:solidFill>
                <a:latin typeface="Consolas"/>
                <a:ea typeface="Consolas"/>
                <a:cs typeface="Consolas"/>
              </a:defRPr>
            </a:pPr>
            <a:r>
              <a:rPr sz="1500" b="0">
                <a:solidFill>
                  <a:srgbClr val="C6D5CF"/>
                </a:solidFill>
                <a:latin typeface="Consolas"/>
                <a:ea typeface="Consolas"/>
                <a:cs typeface="Consolas"/>
              </a:rPr>
              <a:t>25</a:t>
            </a:r>
          </a:p>
        </p:txBody>
      </p:sp>
      <p:sp>
        <p:nvSpPr>
          <p:cNvPr id="12" name="">
            <a:extLst xmlns:a="http://schemas.openxmlformats.org/drawingml/2006/main">
              <a:ext uri="{FF2B5EF4-FFF2-40B4-BE49-F238E27FC236}">
                <a16:creationId xmlns:a16="http://schemas.microsoft.com/office/drawing/2014/main" id="{D0D07D39-BF81-48E9-91A8-1372A0DB6676}"/>
              </a:ext>
            </a:extLst>
          </p:cNvPr>
          <p:cNvSpPr>
            <a:spLocks xmlns:a="http://schemas.openxmlformats.org/drawingml/2006/main" noGrp="1"/>
          </p:cNvSpPr>
          <p:nvPr/>
        </p:nvSpPr>
        <p:spPr>
          <a:xfrm xmlns:a="http://schemas.openxmlformats.org/drawingml/2006/main">
            <a:off x="6096000" y="4286250"/>
            <a:ext cx="9525" cy="381000"/>
          </a:xfrm>
          <a:prstGeom xmlns:a="http://schemas.openxmlformats.org/drawingml/2006/main" prst="line">
            <a:avLst/>
          </a:prstGeom>
          <a:noFill xmlns:a="http://schemas.openxmlformats.org/drawingml/2006/main"/>
          <a:ln xmlns:a="http://schemas.openxmlformats.org/drawingml/2006/main" w="28575">
            <a:solidFill>
              <a:srgbClr val="F3FBF7"/>
            </a:solidFill>
            <a:prstDash val="solid"/>
          </a:ln>
        </p:spPr>
      </p:sp>
      <p:sp>
        <p:nvSpPr>
          <p:cNvPr id="13" name="">
            <a:extLst xmlns:a="http://schemas.openxmlformats.org/drawingml/2006/main">
              <a:ext uri="{FF2B5EF4-FFF2-40B4-BE49-F238E27FC236}">
                <a16:creationId xmlns:a16="http://schemas.microsoft.com/office/drawing/2014/main" id="{FDE21037-4E50-472B-B6C3-787B10104C79}"/>
              </a:ext>
            </a:extLst>
          </p:cNvPr>
          <p:cNvSpPr>
            <a:spLocks xmlns:a="http://schemas.openxmlformats.org/drawingml/2006/main" noGrp="1"/>
          </p:cNvSpPr>
          <p:nvPr/>
        </p:nvSpPr>
        <p:spPr>
          <a:xfrm xmlns:a="http://schemas.openxmlformats.org/drawingml/2006/main">
            <a:off x="5762625" y="48101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6D5CF"/>
                </a:solidFill>
                <a:latin typeface="Consolas"/>
                <a:ea typeface="Consolas"/>
                <a:cs typeface="Consolas"/>
              </a:defRPr>
            </a:pPr>
            <a:r>
              <a:rPr sz="1500" b="0">
                <a:solidFill>
                  <a:srgbClr val="C6D5CF"/>
                </a:solidFill>
                <a:latin typeface="Consolas"/>
                <a:ea typeface="Consolas"/>
                <a:cs typeface="Consolas"/>
              </a:rPr>
              <a:t>50</a:t>
            </a:r>
          </a:p>
        </p:txBody>
      </p:sp>
      <p:sp>
        <p:nvSpPr>
          <p:cNvPr id="14" name="">
            <a:extLst xmlns:a="http://schemas.openxmlformats.org/drawingml/2006/main">
              <a:ext uri="{FF2B5EF4-FFF2-40B4-BE49-F238E27FC236}">
                <a16:creationId xmlns:a16="http://schemas.microsoft.com/office/drawing/2014/main" id="{5A336406-248B-4639-9A13-A429E1BB0606}"/>
              </a:ext>
            </a:extLst>
          </p:cNvPr>
          <p:cNvSpPr>
            <a:spLocks xmlns:a="http://schemas.openxmlformats.org/drawingml/2006/main" noGrp="1"/>
          </p:cNvSpPr>
          <p:nvPr/>
        </p:nvSpPr>
        <p:spPr>
          <a:xfrm xmlns:a="http://schemas.openxmlformats.org/drawingml/2006/main">
            <a:off x="8167688" y="4286250"/>
            <a:ext cx="9525" cy="381000"/>
          </a:xfrm>
          <a:prstGeom xmlns:a="http://schemas.openxmlformats.org/drawingml/2006/main" prst="line">
            <a:avLst/>
          </a:prstGeom>
          <a:noFill xmlns:a="http://schemas.openxmlformats.org/drawingml/2006/main"/>
          <a:ln xmlns:a="http://schemas.openxmlformats.org/drawingml/2006/main" w="28575">
            <a:solidFill>
              <a:srgbClr val="F3FBF7"/>
            </a:solidFill>
            <a:prstDash val="solid"/>
          </a:ln>
        </p:spPr>
      </p:sp>
      <p:sp>
        <p:nvSpPr>
          <p:cNvPr id="15" name="">
            <a:extLst xmlns:a="http://schemas.openxmlformats.org/drawingml/2006/main">
              <a:ext uri="{FF2B5EF4-FFF2-40B4-BE49-F238E27FC236}">
                <a16:creationId xmlns:a16="http://schemas.microsoft.com/office/drawing/2014/main" id="{A7297D19-7A81-45AF-9675-C208D592B580}"/>
              </a:ext>
            </a:extLst>
          </p:cNvPr>
          <p:cNvSpPr>
            <a:spLocks xmlns:a="http://schemas.openxmlformats.org/drawingml/2006/main" noGrp="1"/>
          </p:cNvSpPr>
          <p:nvPr/>
        </p:nvSpPr>
        <p:spPr>
          <a:xfrm xmlns:a="http://schemas.openxmlformats.org/drawingml/2006/main">
            <a:off x="7834313" y="48101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6D5CF"/>
                </a:solidFill>
                <a:latin typeface="Consolas"/>
                <a:ea typeface="Consolas"/>
                <a:cs typeface="Consolas"/>
              </a:defRPr>
            </a:pPr>
            <a:r>
              <a:rPr sz="1500" b="0">
                <a:solidFill>
                  <a:srgbClr val="C6D5CF"/>
                </a:solidFill>
                <a:latin typeface="Consolas"/>
                <a:ea typeface="Consolas"/>
                <a:cs typeface="Consolas"/>
              </a:rPr>
              <a:t>75</a:t>
            </a:r>
          </a:p>
        </p:txBody>
      </p:sp>
      <p:sp>
        <p:nvSpPr>
          <p:cNvPr id="16" name="">
            <a:extLst xmlns:a="http://schemas.openxmlformats.org/drawingml/2006/main">
              <a:ext uri="{FF2B5EF4-FFF2-40B4-BE49-F238E27FC236}">
                <a16:creationId xmlns:a16="http://schemas.microsoft.com/office/drawing/2014/main" id="{E7C39331-9CE5-4267-84EC-30D8C107041F}"/>
              </a:ext>
            </a:extLst>
          </p:cNvPr>
          <p:cNvSpPr>
            <a:spLocks xmlns:a="http://schemas.openxmlformats.org/drawingml/2006/main" noGrp="1"/>
          </p:cNvSpPr>
          <p:nvPr/>
        </p:nvSpPr>
        <p:spPr>
          <a:xfrm xmlns:a="http://schemas.openxmlformats.org/drawingml/2006/main">
            <a:off x="10239375" y="4286250"/>
            <a:ext cx="9525" cy="381000"/>
          </a:xfrm>
          <a:prstGeom xmlns:a="http://schemas.openxmlformats.org/drawingml/2006/main" prst="line">
            <a:avLst/>
          </a:prstGeom>
          <a:noFill xmlns:a="http://schemas.openxmlformats.org/drawingml/2006/main"/>
          <a:ln xmlns:a="http://schemas.openxmlformats.org/drawingml/2006/main" w="28575">
            <a:solidFill>
              <a:srgbClr val="F3FBF7"/>
            </a:solidFill>
            <a:prstDash val="solid"/>
          </a:ln>
        </p:spPr>
      </p:sp>
      <p:sp>
        <p:nvSpPr>
          <p:cNvPr id="17" name="">
            <a:extLst xmlns:a="http://schemas.openxmlformats.org/drawingml/2006/main">
              <a:ext uri="{FF2B5EF4-FFF2-40B4-BE49-F238E27FC236}">
                <a16:creationId xmlns:a16="http://schemas.microsoft.com/office/drawing/2014/main" id="{29A533C7-5E4A-4368-8322-821D9B8F42EB}"/>
              </a:ext>
            </a:extLst>
          </p:cNvPr>
          <p:cNvSpPr>
            <a:spLocks xmlns:a="http://schemas.openxmlformats.org/drawingml/2006/main" noGrp="1"/>
          </p:cNvSpPr>
          <p:nvPr/>
        </p:nvSpPr>
        <p:spPr>
          <a:xfrm xmlns:a="http://schemas.openxmlformats.org/drawingml/2006/main">
            <a:off x="9906000" y="4810125"/>
            <a:ext cx="66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C6D5CF"/>
                </a:solidFill>
                <a:latin typeface="Consolas"/>
                <a:ea typeface="Consolas"/>
                <a:cs typeface="Consolas"/>
              </a:defRPr>
            </a:pPr>
            <a:r>
              <a:rPr sz="1500" b="0">
                <a:solidFill>
                  <a:srgbClr val="C6D5CF"/>
                </a:solidFill>
                <a:latin typeface="Consolas"/>
                <a:ea typeface="Consolas"/>
                <a:cs typeface="Consolas"/>
              </a:rPr>
              <a:t>100</a:t>
            </a:r>
          </a:p>
        </p:txBody>
      </p:sp>
      <p:sp>
        <p:nvSpPr>
          <p:cNvPr id="18" name="">
            <a:extLst xmlns:a="http://schemas.openxmlformats.org/drawingml/2006/main">
              <a:ext uri="{FF2B5EF4-FFF2-40B4-BE49-F238E27FC236}">
                <a16:creationId xmlns:a16="http://schemas.microsoft.com/office/drawing/2014/main" id="{DC3BE4D1-5C6D-4E4C-B472-D217BD5DFAB2}"/>
              </a:ext>
            </a:extLst>
          </p:cNvPr>
          <p:cNvSpPr>
            <a:spLocks xmlns:a="http://schemas.openxmlformats.org/drawingml/2006/main" noGrp="1"/>
          </p:cNvSpPr>
          <p:nvPr/>
        </p:nvSpPr>
        <p:spPr>
          <a:xfrm xmlns:a="http://schemas.openxmlformats.org/drawingml/2006/main">
            <a:off x="723900" y="4219575"/>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F8278"/>
                </a:solidFill>
                <a:latin typeface="Segoe UI"/>
                <a:ea typeface="Segoe UI"/>
                <a:cs typeface="Segoe UI"/>
              </a:defRPr>
            </a:pPr>
            <a:r>
              <a:rPr sz="1500" b="1">
                <a:solidFill>
                  <a:srgbClr val="FF8278"/>
                </a:solidFill>
                <a:latin typeface="Segoe UI"/>
                <a:ea typeface="Segoe UI"/>
                <a:cs typeface="Segoe UI"/>
              </a:rPr>
              <a:t>invalid</a:t>
            </a:r>
          </a:p>
        </p:txBody>
      </p:sp>
      <p:sp>
        <p:nvSpPr>
          <p:cNvPr id="19" name="">
            <a:extLst xmlns:a="http://schemas.openxmlformats.org/drawingml/2006/main">
              <a:ext uri="{FF2B5EF4-FFF2-40B4-BE49-F238E27FC236}">
                <a16:creationId xmlns:a16="http://schemas.microsoft.com/office/drawing/2014/main" id="{4358E4AC-B473-42B4-8BA3-AC1EF73041C7}"/>
              </a:ext>
            </a:extLst>
          </p:cNvPr>
          <p:cNvSpPr>
            <a:spLocks xmlns:a="http://schemas.openxmlformats.org/drawingml/2006/main" noGrp="1"/>
          </p:cNvSpPr>
          <p:nvPr/>
        </p:nvSpPr>
        <p:spPr>
          <a:xfrm xmlns:a="http://schemas.openxmlformats.org/drawingml/2006/main">
            <a:off x="10439400" y="4219575"/>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F8278"/>
                </a:solidFill>
                <a:latin typeface="Segoe UI"/>
                <a:ea typeface="Segoe UI"/>
                <a:cs typeface="Segoe UI"/>
              </a:defRPr>
            </a:pPr>
            <a:r>
              <a:rPr sz="1500" b="1">
                <a:solidFill>
                  <a:srgbClr val="FF8278"/>
                </a:solidFill>
                <a:latin typeface="Segoe UI"/>
                <a:ea typeface="Segoe UI"/>
                <a:cs typeface="Segoe UI"/>
              </a:rPr>
              <a:t>invalid</a:t>
            </a:r>
          </a:p>
        </p:txBody>
      </p:sp>
    </p:spTree>
    <p:extLst>
      <p:ext uri="{BB962C8B-B14F-4D97-AF65-F5344CB8AC3E}">
        <p14:creationId xmlns:p14="http://schemas.microsoft.com/office/powerpoint/2010/main" val="426224027"/>
      </p:ext>
    </p:extLst>
  </p:cSld>
</p:sld>
</file>

<file path=ppt/slides/slide10.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8" name="chrome-section-10">
            <a:extLst xmlns:a="http://schemas.openxmlformats.org/drawingml/2006/main">
              <a:ext uri="{FF2B5EF4-FFF2-40B4-BE49-F238E27FC236}">
                <a16:creationId xmlns:a16="http://schemas.microsoft.com/office/drawing/2014/main" id="{C8EEE5E3-228B-45D8-A949-3628E87AD854}"/>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REPRESENTATION</a:t>
            </a:r>
          </a:p>
        </p:txBody>
      </p:sp>
      <p:sp>
        <p:nvSpPr>
          <p:cNvPr id="2" name="chrome-number-10">
            <a:extLst xmlns:a="http://schemas.openxmlformats.org/drawingml/2006/main">
              <a:ext uri="{FF2B5EF4-FFF2-40B4-BE49-F238E27FC236}">
                <a16:creationId xmlns:a16="http://schemas.microsoft.com/office/drawing/2014/main" id="{C99C2DE8-4D20-44E7-88FF-52C693FE5787}"/>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10</a:t>
            </a:r>
          </a:p>
        </p:txBody>
      </p:sp>
      <p:sp>
        <p:nvSpPr>
          <p:cNvPr id="3" name="slide-title-10">
            <a:extLst xmlns:a="http://schemas.openxmlformats.org/drawingml/2006/main">
              <a:ext uri="{FF2B5EF4-FFF2-40B4-BE49-F238E27FC236}">
                <a16:creationId xmlns:a16="http://schemas.microsoft.com/office/drawing/2014/main" id="{AEACF3AC-9D55-44C8-A166-39071FAABF96}"/>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Stored state is not derived state</a:t>
            </a:r>
          </a:p>
        </p:txBody>
      </p:sp>
      <p:sp>
        <p:nvSpPr>
          <p:cNvPr id="4" name="title-rule-10">
            <a:extLst xmlns:a="http://schemas.openxmlformats.org/drawingml/2006/main">
              <a:ext uri="{FF2B5EF4-FFF2-40B4-BE49-F238E27FC236}">
                <a16:creationId xmlns:a16="http://schemas.microsoft.com/office/drawing/2014/main" id="{60086FF0-BAD2-41A7-8133-FD50CE1F9925}"/>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0">
            <a:extLst xmlns:a="http://schemas.openxmlformats.org/drawingml/2006/main">
              <a:ext uri="{FF2B5EF4-FFF2-40B4-BE49-F238E27FC236}">
                <a16:creationId xmlns:a16="http://schemas.microsoft.com/office/drawing/2014/main" id="{4BC86C35-A882-4FD7-8031-59E45012CAF2}"/>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Draw only what the object actually stores.</a:t>
            </a:r>
          </a:p>
        </p:txBody>
      </p:sp>
      <p:sp>
        <p:nvSpPr>
          <p:cNvPr id="6" name="">
            <a:extLst xmlns:a="http://schemas.openxmlformats.org/drawingml/2006/main">
              <a:ext uri="{FF2B5EF4-FFF2-40B4-BE49-F238E27FC236}">
                <a16:creationId xmlns:a16="http://schemas.microsoft.com/office/drawing/2014/main" id="{82FED4FC-D3F5-4ED0-AC7B-5B2BA3325C5A}"/>
              </a:ext>
            </a:extLst>
          </p:cNvPr>
          <p:cNvSpPr>
            <a:spLocks xmlns:a="http://schemas.openxmlformats.org/drawingml/2006/main" noGrp="1"/>
          </p:cNvSpPr>
          <p:nvPr/>
        </p:nvSpPr>
        <p:spPr>
          <a:xfrm xmlns:a="http://schemas.openxmlformats.org/drawingml/2006/main">
            <a:off x="3905250" y="2571750"/>
            <a:ext cx="4381500" cy="2571750"/>
          </a:xfrm>
          <a:prstGeom xmlns:a="http://schemas.openxmlformats.org/drawingml/2006/main" prst="roundRect">
            <a:avLst>
              <a:gd name="adj" fmla="val 7407"/>
            </a:avLst>
          </a:prstGeom>
          <a:solidFill xmlns:a="http://schemas.openxmlformats.org/drawingml/2006/main">
            <a:srgbClr val="0D251E"/>
          </a:solidFill>
          <a:ln xmlns:a="http://schemas.openxmlformats.org/drawingml/2006/main" w="19050">
            <a:solidFill>
              <a:srgbClr val="F5B84B"/>
            </a:solidFill>
            <a:prstDash val="solid"/>
          </a:ln>
        </p:spPr>
      </p:sp>
      <p:sp>
        <p:nvSpPr>
          <p:cNvPr id="7" name="">
            <a:extLst xmlns:a="http://schemas.openxmlformats.org/drawingml/2006/main">
              <a:ext uri="{FF2B5EF4-FFF2-40B4-BE49-F238E27FC236}">
                <a16:creationId xmlns:a16="http://schemas.microsoft.com/office/drawing/2014/main" id="{B978B4FB-C8E2-405B-9D38-5DECB28693EE}"/>
              </a:ext>
            </a:extLst>
          </p:cNvPr>
          <p:cNvSpPr>
            <a:spLocks xmlns:a="http://schemas.openxmlformats.org/drawingml/2006/main" noGrp="1"/>
          </p:cNvSpPr>
          <p:nvPr/>
        </p:nvSpPr>
        <p:spPr>
          <a:xfrm xmlns:a="http://schemas.openxmlformats.org/drawingml/2006/main">
            <a:off x="4191000" y="278130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FFD989"/>
                </a:solidFill>
                <a:latin typeface="Segoe UI"/>
                <a:ea typeface="Segoe UI"/>
                <a:cs typeface="Segoe UI"/>
              </a:defRPr>
            </a:pPr>
            <a:r>
              <a:rPr sz="1875" b="1">
                <a:solidFill>
                  <a:srgbClr val="FFD989"/>
                </a:solidFill>
                <a:latin typeface="Segoe UI"/>
                <a:ea typeface="Segoe UI"/>
                <a:cs typeface="Segoe UI"/>
              </a:rPr>
              <a:t>PlayerHealth object</a:t>
            </a:r>
          </a:p>
        </p:txBody>
      </p:sp>
      <p:sp>
        <p:nvSpPr>
          <p:cNvPr id="8" name="">
            <a:extLst xmlns:a="http://schemas.openxmlformats.org/drawingml/2006/main">
              <a:ext uri="{FF2B5EF4-FFF2-40B4-BE49-F238E27FC236}">
                <a16:creationId xmlns:a16="http://schemas.microsoft.com/office/drawing/2014/main" id="{F958652F-D92A-4EE2-9A99-0D9D7F092665}"/>
              </a:ext>
            </a:extLst>
          </p:cNvPr>
          <p:cNvSpPr>
            <a:spLocks xmlns:a="http://schemas.openxmlformats.org/drawingml/2006/main" noGrp="1"/>
          </p:cNvSpPr>
          <p:nvPr/>
        </p:nvSpPr>
        <p:spPr>
          <a:xfrm xmlns:a="http://schemas.openxmlformats.org/drawingml/2006/main">
            <a:off x="4714875" y="3543300"/>
            <a:ext cx="2762250" cy="876300"/>
          </a:xfrm>
          <a:prstGeom xmlns:a="http://schemas.openxmlformats.org/drawingml/2006/main" prst="roundRect">
            <a:avLst>
              <a:gd name="adj" fmla="val 15217"/>
            </a:avLst>
          </a:prstGeom>
          <a:solidFill xmlns:a="http://schemas.openxmlformats.org/drawingml/2006/main">
            <a:srgbClr val="03100D"/>
          </a:solidFill>
          <a:ln xmlns:a="http://schemas.openxmlformats.org/drawingml/2006/main" w="19050">
            <a:solidFill>
              <a:srgbClr val="78F0B2"/>
            </a:solidFill>
            <a:prstDash val="solid"/>
          </a:ln>
        </p:spPr>
      </p:sp>
      <p:sp>
        <p:nvSpPr>
          <p:cNvPr id="9" name="">
            <a:extLst xmlns:a="http://schemas.openxmlformats.org/drawingml/2006/main">
              <a:ext uri="{FF2B5EF4-FFF2-40B4-BE49-F238E27FC236}">
                <a16:creationId xmlns:a16="http://schemas.microsoft.com/office/drawing/2014/main" id="{881CC5E8-E944-4BF4-950F-93BC670D83AD}"/>
              </a:ext>
            </a:extLst>
          </p:cNvPr>
          <p:cNvSpPr>
            <a:spLocks xmlns:a="http://schemas.openxmlformats.org/drawingml/2006/main" noGrp="1"/>
          </p:cNvSpPr>
          <p:nvPr/>
        </p:nvSpPr>
        <p:spPr>
          <a:xfrm xmlns:a="http://schemas.openxmlformats.org/drawingml/2006/main">
            <a:off x="4876800" y="371475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3FBF7"/>
                </a:solidFill>
                <a:latin typeface="Consolas"/>
                <a:ea typeface="Consolas"/>
                <a:cs typeface="Consolas"/>
              </a:defRPr>
            </a:pPr>
            <a:r>
              <a:rPr sz="1875" b="1">
                <a:solidFill>
                  <a:srgbClr val="F3FBF7"/>
                </a:solidFill>
                <a:latin typeface="Consolas"/>
                <a:ea typeface="Consolas"/>
                <a:cs typeface="Consolas"/>
              </a:rPr>
              <a:t>points_</a:t>
            </a:r>
          </a:p>
        </p:txBody>
      </p:sp>
      <p:sp>
        <p:nvSpPr>
          <p:cNvPr id="10" name="">
            <a:extLst xmlns:a="http://schemas.openxmlformats.org/drawingml/2006/main">
              <a:ext uri="{FF2B5EF4-FFF2-40B4-BE49-F238E27FC236}">
                <a16:creationId xmlns:a16="http://schemas.microsoft.com/office/drawing/2014/main" id="{F4597918-D92D-4D12-9C39-33A1FBB59864}"/>
              </a:ext>
            </a:extLst>
          </p:cNvPr>
          <p:cNvSpPr>
            <a:spLocks xmlns:a="http://schemas.openxmlformats.org/drawingml/2006/main" noGrp="1"/>
          </p:cNvSpPr>
          <p:nvPr/>
        </p:nvSpPr>
        <p:spPr>
          <a:xfrm xmlns:a="http://schemas.openxmlformats.org/drawingml/2006/main">
            <a:off x="6096000" y="3762375"/>
            <a:ext cx="1190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350" b="0">
                <a:solidFill>
                  <a:srgbClr val="78F0B2"/>
                </a:solidFill>
                <a:latin typeface="Consolas"/>
                <a:ea typeface="Consolas"/>
                <a:cs typeface="Consolas"/>
              </a:defRPr>
            </a:pPr>
            <a:r>
              <a:rPr sz="1350" b="0">
                <a:solidFill>
                  <a:srgbClr val="78F0B2"/>
                </a:solidFill>
                <a:latin typeface="Consolas"/>
                <a:ea typeface="Consolas"/>
                <a:cs typeface="Consolas"/>
              </a:rPr>
              <a:t>stored int</a:t>
            </a:r>
          </a:p>
        </p:txBody>
      </p:sp>
      <p:sp>
        <p:nvSpPr>
          <p:cNvPr id="11" name="">
            <a:extLst xmlns:a="http://schemas.openxmlformats.org/drawingml/2006/main">
              <a:ext uri="{FF2B5EF4-FFF2-40B4-BE49-F238E27FC236}">
                <a16:creationId xmlns:a16="http://schemas.microsoft.com/office/drawing/2014/main" id="{9C661DC5-B4E2-406C-8C4C-3B82BAC43322}"/>
              </a:ext>
            </a:extLst>
          </p:cNvPr>
          <p:cNvSpPr>
            <a:spLocks xmlns:a="http://schemas.openxmlformats.org/drawingml/2006/main" noGrp="1"/>
          </p:cNvSpPr>
          <p:nvPr/>
        </p:nvSpPr>
        <p:spPr>
          <a:xfrm xmlns:a="http://schemas.openxmlformats.org/drawingml/2006/main">
            <a:off x="685800" y="3067050"/>
            <a:ext cx="2381250" cy="514350"/>
          </a:xfrm>
          <a:prstGeom xmlns:a="http://schemas.openxmlformats.org/drawingml/2006/main" prst="roundRect">
            <a:avLst>
              <a:gd name="adj" fmla="val 22222"/>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875" b="1">
                <a:solidFill>
                  <a:srgbClr val="74D7FF"/>
                </a:solidFill>
                <a:latin typeface="Consolas"/>
                <a:ea typeface="Consolas"/>
                <a:cs typeface="Consolas"/>
              </a:defRPr>
            </a:pPr>
            <a:r>
              <a:rPr sz="1875" b="1">
                <a:solidFill>
                  <a:srgbClr val="74D7FF"/>
                </a:solidFill>
                <a:latin typeface="Consolas"/>
                <a:ea typeface="Consolas"/>
                <a:cs typeface="Consolas"/>
              </a:rPr>
              <a:t>maximum = 100</a:t>
            </a:r>
          </a:p>
        </p:txBody>
      </p:sp>
      <p:sp>
        <p:nvSpPr>
          <p:cNvPr id="12" name="">
            <a:extLst xmlns:a="http://schemas.openxmlformats.org/drawingml/2006/main">
              <a:ext uri="{FF2B5EF4-FFF2-40B4-BE49-F238E27FC236}">
                <a16:creationId xmlns:a16="http://schemas.microsoft.com/office/drawing/2014/main" id="{1A8FE3A5-3B61-4731-BE58-EC2A07AECD25}"/>
              </a:ext>
            </a:extLst>
          </p:cNvPr>
          <p:cNvSpPr>
            <a:spLocks xmlns:a="http://schemas.openxmlformats.org/drawingml/2006/main" noGrp="1"/>
          </p:cNvSpPr>
          <p:nvPr/>
        </p:nvSpPr>
        <p:spPr>
          <a:xfrm xmlns:a="http://schemas.openxmlformats.org/drawingml/2006/main">
            <a:off x="838200" y="3714750"/>
            <a:ext cx="20478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C6D5CF"/>
                </a:solidFill>
                <a:latin typeface="Segoe UI"/>
                <a:ea typeface="Segoe UI"/>
                <a:cs typeface="Segoe UI"/>
              </a:defRPr>
            </a:pPr>
            <a:r>
              <a:rPr sz="1350" b="0">
                <a:solidFill>
                  <a:srgbClr val="C6D5CF"/>
                </a:solidFill>
                <a:latin typeface="Segoe UI"/>
                <a:ea typeface="Segoe UI"/>
                <a:cs typeface="Segoe UI"/>
              </a:rPr>
              <a:t>class-wide policy</a:t>
            </a:r>
          </a:p>
        </p:txBody>
      </p:sp>
      <p:sp>
        <p:nvSpPr>
          <p:cNvPr id="13" name="">
            <a:extLst xmlns:a="http://schemas.openxmlformats.org/drawingml/2006/main">
              <a:ext uri="{FF2B5EF4-FFF2-40B4-BE49-F238E27FC236}">
                <a16:creationId xmlns:a16="http://schemas.microsoft.com/office/drawing/2014/main" id="{7F7AFF92-B4BC-4EBD-92A5-044062BCDFC2}"/>
              </a:ext>
            </a:extLst>
          </p:cNvPr>
          <p:cNvSpPr>
            <a:spLocks xmlns:a="http://schemas.openxmlformats.org/drawingml/2006/main" noGrp="1"/>
          </p:cNvSpPr>
          <p:nvPr/>
        </p:nvSpPr>
        <p:spPr>
          <a:xfrm xmlns:a="http://schemas.openxmlformats.org/drawingml/2006/main">
            <a:off x="3105150" y="3248025"/>
            <a:ext cx="609600" cy="171450"/>
          </a:xfrm>
          <a:prstGeom xmlns:a="http://schemas.openxmlformats.org/drawingml/2006/main" prst="rightArrow">
            <a:avLst/>
          </a:prstGeom>
          <a:solidFill xmlns:a="http://schemas.openxmlformats.org/drawingml/2006/main">
            <a:srgbClr val="3156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68C6A2A-E7B4-4395-A905-223442E2B2E0}"/>
              </a:ext>
            </a:extLst>
          </p:cNvPr>
          <p:cNvSpPr>
            <a:spLocks xmlns:a="http://schemas.openxmlformats.org/drawingml/2006/main" noGrp="1"/>
          </p:cNvSpPr>
          <p:nvPr/>
        </p:nvSpPr>
        <p:spPr>
          <a:xfrm xmlns:a="http://schemas.openxmlformats.org/drawingml/2006/main">
            <a:off x="8477250" y="3248025"/>
            <a:ext cx="609600" cy="171450"/>
          </a:xfrm>
          <a:prstGeom xmlns:a="http://schemas.openxmlformats.org/drawingml/2006/main" prst="rightArrow">
            <a:avLst/>
          </a:prstGeom>
          <a:solidFill xmlns:a="http://schemas.openxmlformats.org/drawingml/2006/main">
            <a:srgbClr val="31564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79F944-37CA-4EA1-AF88-3FD964ECCE48}"/>
              </a:ext>
            </a:extLst>
          </p:cNvPr>
          <p:cNvSpPr>
            <a:spLocks xmlns:a="http://schemas.openxmlformats.org/drawingml/2006/main" noGrp="1"/>
          </p:cNvSpPr>
          <p:nvPr/>
        </p:nvSpPr>
        <p:spPr>
          <a:xfrm xmlns:a="http://schemas.openxmlformats.org/drawingml/2006/main">
            <a:off x="9258300" y="3067050"/>
            <a:ext cx="2000250" cy="514350"/>
          </a:xfrm>
          <a:prstGeom xmlns:a="http://schemas.openxmlformats.org/drawingml/2006/main" prst="roundRect">
            <a:avLst>
              <a:gd name="adj" fmla="val 22222"/>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025" b="1">
                <a:solidFill>
                  <a:srgbClr val="74D7FF"/>
                </a:solidFill>
                <a:latin typeface="Consolas"/>
                <a:ea typeface="Consolas"/>
                <a:cs typeface="Consolas"/>
              </a:defRPr>
            </a:pPr>
            <a:r>
              <a:rPr sz="2025" b="1">
                <a:solidFill>
                  <a:srgbClr val="74D7FF"/>
                </a:solidFill>
                <a:latin typeface="Consolas"/>
                <a:ea typeface="Consolas"/>
                <a:cs typeface="Consolas"/>
              </a:rPr>
              <a:t>alive()</a:t>
            </a:r>
          </a:p>
        </p:txBody>
      </p:sp>
      <p:sp>
        <p:nvSpPr>
          <p:cNvPr id="16" name="">
            <a:extLst xmlns:a="http://schemas.openxmlformats.org/drawingml/2006/main">
              <a:ext uri="{FF2B5EF4-FFF2-40B4-BE49-F238E27FC236}">
                <a16:creationId xmlns:a16="http://schemas.microsoft.com/office/drawing/2014/main" id="{0DE03B5F-A1D7-4BD5-BE04-453FD5B701E7}"/>
              </a:ext>
            </a:extLst>
          </p:cNvPr>
          <p:cNvSpPr>
            <a:spLocks xmlns:a="http://schemas.openxmlformats.org/drawingml/2006/main" noGrp="1"/>
          </p:cNvSpPr>
          <p:nvPr/>
        </p:nvSpPr>
        <p:spPr>
          <a:xfrm xmlns:a="http://schemas.openxmlformats.org/drawingml/2006/main">
            <a:off x="9353550" y="37147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C6D5CF"/>
                </a:solidFill>
                <a:latin typeface="Segoe UI"/>
                <a:ea typeface="Segoe UI"/>
                <a:cs typeface="Segoe UI"/>
              </a:defRPr>
            </a:pPr>
            <a:r>
              <a:rPr sz="1350" b="0">
                <a:solidFill>
                  <a:srgbClr val="C6D5CF"/>
                </a:solidFill>
                <a:latin typeface="Segoe UI"/>
                <a:ea typeface="Segoe UI"/>
                <a:cs typeface="Segoe UI"/>
              </a:rPr>
              <a:t>derived query</a:t>
            </a:r>
          </a:p>
        </p:txBody>
      </p:sp>
      <p:sp>
        <p:nvSpPr>
          <p:cNvPr id="17" name="">
            <a:extLst xmlns:a="http://schemas.openxmlformats.org/drawingml/2006/main">
              <a:ext uri="{FF2B5EF4-FFF2-40B4-BE49-F238E27FC236}">
                <a16:creationId xmlns:a16="http://schemas.microsoft.com/office/drawing/2014/main" id="{50553405-5626-42F0-B7B1-6778AE93422A}"/>
              </a:ext>
            </a:extLst>
          </p:cNvPr>
          <p:cNvSpPr>
            <a:spLocks xmlns:a="http://schemas.openxmlformats.org/drawingml/2006/main" noGrp="1"/>
          </p:cNvSpPr>
          <p:nvPr/>
        </p:nvSpPr>
        <p:spPr>
          <a:xfrm xmlns:a="http://schemas.openxmlformats.org/drawingml/2006/main">
            <a:off x="3524250" y="5467350"/>
            <a:ext cx="514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0">
                <a:solidFill>
                  <a:srgbClr val="8FA59D"/>
                </a:solidFill>
                <a:latin typeface="Consolas"/>
                <a:ea typeface="Consolas"/>
                <a:cs typeface="Consolas"/>
              </a:defRPr>
            </a:pPr>
            <a:r>
              <a:rPr sz="1500" b="0">
                <a:solidFill>
                  <a:srgbClr val="8FA59D"/>
                </a:solidFill>
                <a:latin typeface="Consolas"/>
                <a:ea typeface="Consolas"/>
                <a:cs typeface="Consolas"/>
              </a:rPr>
              <a:t>No exact byte size is claimed here.</a:t>
            </a:r>
          </a:p>
        </p:txBody>
      </p:sp>
    </p:spTree>
    <p:extLst>
      <p:ext uri="{BB962C8B-B14F-4D97-AF65-F5344CB8AC3E}">
        <p14:creationId xmlns:p14="http://schemas.microsoft.com/office/powerpoint/2010/main" val="929662284"/>
      </p:ext>
    </p:extLst>
  </p:cSld>
</p:sld>
</file>

<file path=ppt/slides/slide11.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1" name="chrome-section-11">
            <a:extLst xmlns:a="http://schemas.openxmlformats.org/drawingml/2006/main">
              <a:ext uri="{FF2B5EF4-FFF2-40B4-BE49-F238E27FC236}">
                <a16:creationId xmlns:a16="http://schemas.microsoft.com/office/drawing/2014/main" id="{8700CA3F-1230-48D5-95E0-1B5C588926F8}"/>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CODE</a:t>
            </a:r>
          </a:p>
        </p:txBody>
      </p:sp>
      <p:sp>
        <p:nvSpPr>
          <p:cNvPr id="2" name="chrome-number-11">
            <a:extLst xmlns:a="http://schemas.openxmlformats.org/drawingml/2006/main">
              <a:ext uri="{FF2B5EF4-FFF2-40B4-BE49-F238E27FC236}">
                <a16:creationId xmlns:a16="http://schemas.microsoft.com/office/drawing/2014/main" id="{C0FBBC69-BABD-4EF5-8BCF-2886B43809C5}"/>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11</a:t>
            </a:r>
          </a:p>
        </p:txBody>
      </p:sp>
      <p:sp>
        <p:nvSpPr>
          <p:cNvPr id="3" name="slide-title-11">
            <a:extLst xmlns:a="http://schemas.openxmlformats.org/drawingml/2006/main">
              <a:ext uri="{FF2B5EF4-FFF2-40B4-BE49-F238E27FC236}">
                <a16:creationId xmlns:a16="http://schemas.microsoft.com/office/drawing/2014/main" id="{ECCEA82A-B557-4698-B1C4-F728EBCC04B5}"/>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class owns the rule</a:t>
            </a:r>
          </a:p>
        </p:txBody>
      </p:sp>
      <p:sp>
        <p:nvSpPr>
          <p:cNvPr id="4" name="title-rule-11">
            <a:extLst xmlns:a="http://schemas.openxmlformats.org/drawingml/2006/main">
              <a:ext uri="{FF2B5EF4-FFF2-40B4-BE49-F238E27FC236}">
                <a16:creationId xmlns:a16="http://schemas.microsoft.com/office/drawing/2014/main" id="{FCFC4799-139B-4027-A2D1-982362C907FB}"/>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1">
            <a:extLst xmlns:a="http://schemas.openxmlformats.org/drawingml/2006/main">
              <a:ext uri="{FF2B5EF4-FFF2-40B4-BE49-F238E27FC236}">
                <a16:creationId xmlns:a16="http://schemas.microsoft.com/office/drawing/2014/main" id="{12736817-326B-41AA-9BCE-CCCDB6EF8C16}"/>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Public names promise behaviour; private representation restricts ordinary access.</a:t>
            </a:r>
          </a:p>
        </p:txBody>
      </p:sp>
      <p:sp>
        <p:nvSpPr>
          <p:cNvPr id="6" name="">
            <a:extLst xmlns:a="http://schemas.openxmlformats.org/drawingml/2006/main">
              <a:ext uri="{FF2B5EF4-FFF2-40B4-BE49-F238E27FC236}">
                <a16:creationId xmlns:a16="http://schemas.microsoft.com/office/drawing/2014/main" id="{D382853B-67A1-4412-BE82-B25F53299F3F}"/>
              </a:ext>
            </a:extLst>
          </p:cNvPr>
          <p:cNvSpPr>
            <a:spLocks xmlns:a="http://schemas.openxmlformats.org/drawingml/2006/main" noGrp="1"/>
          </p:cNvSpPr>
          <p:nvPr/>
        </p:nvSpPr>
        <p:spPr>
          <a:xfrm xmlns:a="http://schemas.openxmlformats.org/drawingml/2006/main">
            <a:off x="628650" y="2343150"/>
            <a:ext cx="7477125" cy="3905250"/>
          </a:xfrm>
          <a:prstGeom xmlns:a="http://schemas.openxmlformats.org/drawingml/2006/main" prst="roundRect">
            <a:avLst>
              <a:gd name="adj" fmla="val 2927"/>
            </a:avLst>
          </a:prstGeom>
          <a:solidFill xmlns:a="http://schemas.openxmlformats.org/drawingml/2006/main">
            <a:srgbClr val="020806"/>
          </a:solidFill>
          <a:ln xmlns:a="http://schemas.openxmlformats.org/drawingml/2006/main" w="0">
            <a:noFill/>
            <a:prstDash val="solid"/>
          </a:ln>
        </p:spPr>
        <p:txBody>
          <a:bodyPr xmlns:a="http://schemas.openxmlformats.org/drawingml/2006/main" wrap="square" lIns="171450" tIns="152400" rIns="171450" bIns="114300" anchor="t">
            <a:normAutofit fontScale="92320"/>
          </a:bodyPr>
          <a:lstStyle xmlns:a="http://schemas.openxmlformats.org/drawingml/2006/main"/>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class PlayerHealth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public:</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static constexpr int maximum = 100;</a:t>
            </a:r>
          </a:p>
          <a:p xmlns:a="http://schemas.openxmlformats.org/drawingml/2006/main">
            <a:r>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explicit PlayerHealth(int initial) : points_{initial}</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if (initial &lt; 0 || initial &gt; maximum)</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throw std::out_of_range{"health must be between 0 and 100"};</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a:t>
            </a:r>
          </a:p>
          <a:p xmlns:a="http://schemas.openxmlformats.org/drawingml/2006/main">
            <a:r>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[[nodiscard]] int points() const noexcept { return points_;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[[nodiscard]] bool alive() const noexcept { return points_ &gt; 0; }</a:t>
            </a:r>
          </a:p>
          <a:p xmlns:a="http://schemas.openxmlformats.org/drawingml/2006/main">
            <a:r>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void take_damage(int amount)</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if (amount &lt; 0)</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throw std::invalid_argument{"damage cannot be negative"};</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points_ = std::max(0, points_ - amount);</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private:</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  int points_;</a:t>
            </a:r>
          </a:p>
          <a:p xmlns:a="http://schemas.openxmlformats.org/drawingml/2006/main">
            <a:pPr algn="l">
              <a:lnSpc>
                <a:spcPct val="89000"/>
              </a:lnSpc>
              <a:buNone/>
              <a:defRPr sz="1275" b="0">
                <a:solidFill>
                  <a:srgbClr val="F3FBF7"/>
                </a:solidFill>
                <a:latin typeface="Consolas"/>
                <a:ea typeface="Consolas"/>
                <a:cs typeface="Consolas"/>
              </a:defRPr>
            </a:pPr>
            <a:r>
              <a:rPr sz="1275" b="0">
                <a:solidFill>
                  <a:srgbClr val="F3FBF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54843BD3-C9C3-4A4F-B251-22101B030115}"/>
              </a:ext>
            </a:extLst>
          </p:cNvPr>
          <p:cNvSpPr>
            <a:spLocks xmlns:a="http://schemas.openxmlformats.org/drawingml/2006/main" noGrp="1"/>
          </p:cNvSpPr>
          <p:nvPr/>
        </p:nvSpPr>
        <p:spPr>
          <a:xfrm xmlns:a="http://schemas.openxmlformats.org/drawingml/2006/main">
            <a:off x="8667750" y="2647950"/>
            <a:ext cx="2190750" cy="438150"/>
          </a:xfrm>
          <a:prstGeom xmlns:a="http://schemas.openxmlformats.org/drawingml/2006/main" prst="roundRect">
            <a:avLst>
              <a:gd name="adj" fmla="val 21739"/>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FD989"/>
                </a:solidFill>
                <a:latin typeface="Segoe UI"/>
                <a:ea typeface="Segoe UI"/>
                <a:cs typeface="Segoe UI"/>
              </a:defRPr>
            </a:pPr>
            <a:r>
              <a:rPr sz="1575" b="1">
                <a:solidFill>
                  <a:srgbClr val="FFD989"/>
                </a:solidFill>
                <a:latin typeface="Segoe UI"/>
                <a:ea typeface="Segoe UI"/>
                <a:cs typeface="Segoe UI"/>
              </a:rPr>
              <a:t>constructor</a:t>
            </a:r>
          </a:p>
        </p:txBody>
      </p:sp>
      <p:sp>
        <p:nvSpPr>
          <p:cNvPr id="8" name="">
            <a:extLst xmlns:a="http://schemas.openxmlformats.org/drawingml/2006/main">
              <a:ext uri="{FF2B5EF4-FFF2-40B4-BE49-F238E27FC236}">
                <a16:creationId xmlns:a16="http://schemas.microsoft.com/office/drawing/2014/main" id="{EC1711F5-A9F7-495E-BC54-F1A20E559D71}"/>
              </a:ext>
            </a:extLst>
          </p:cNvPr>
          <p:cNvSpPr>
            <a:spLocks xmlns:a="http://schemas.openxmlformats.org/drawingml/2006/main" noGrp="1"/>
          </p:cNvSpPr>
          <p:nvPr/>
        </p:nvSpPr>
        <p:spPr>
          <a:xfrm xmlns:a="http://schemas.openxmlformats.org/drawingml/2006/main">
            <a:off x="8667750" y="3695700"/>
            <a:ext cx="2190750" cy="438150"/>
          </a:xfrm>
          <a:prstGeom xmlns:a="http://schemas.openxmlformats.org/drawingml/2006/main" prst="roundRect">
            <a:avLst>
              <a:gd name="adj" fmla="val 21739"/>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74D7FF"/>
                </a:solidFill>
                <a:latin typeface="Segoe UI"/>
                <a:ea typeface="Segoe UI"/>
                <a:cs typeface="Segoe UI"/>
              </a:defRPr>
            </a:pPr>
            <a:r>
              <a:rPr sz="1575" b="1">
                <a:solidFill>
                  <a:srgbClr val="74D7FF"/>
                </a:solidFill>
                <a:latin typeface="Segoe UI"/>
                <a:ea typeface="Segoe UI"/>
                <a:cs typeface="Segoe UI"/>
              </a:rPr>
              <a:t>queries</a:t>
            </a:r>
          </a:p>
        </p:txBody>
      </p:sp>
      <p:sp>
        <p:nvSpPr>
          <p:cNvPr id="9" name="">
            <a:extLst xmlns:a="http://schemas.openxmlformats.org/drawingml/2006/main">
              <a:ext uri="{FF2B5EF4-FFF2-40B4-BE49-F238E27FC236}">
                <a16:creationId xmlns:a16="http://schemas.microsoft.com/office/drawing/2014/main" id="{1B24A2E3-6294-4B04-BF58-4A6E0AD15796}"/>
              </a:ext>
            </a:extLst>
          </p:cNvPr>
          <p:cNvSpPr>
            <a:spLocks xmlns:a="http://schemas.openxmlformats.org/drawingml/2006/main" noGrp="1"/>
          </p:cNvSpPr>
          <p:nvPr/>
        </p:nvSpPr>
        <p:spPr>
          <a:xfrm xmlns:a="http://schemas.openxmlformats.org/drawingml/2006/main">
            <a:off x="8667750" y="4743450"/>
            <a:ext cx="2190750" cy="438150"/>
          </a:xfrm>
          <a:prstGeom xmlns:a="http://schemas.openxmlformats.org/drawingml/2006/main" prst="roundRect">
            <a:avLst>
              <a:gd name="adj" fmla="val 21739"/>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78F0B2"/>
                </a:solidFill>
                <a:latin typeface="Segoe UI"/>
                <a:ea typeface="Segoe UI"/>
                <a:cs typeface="Segoe UI"/>
              </a:defRPr>
            </a:pPr>
            <a:r>
              <a:rPr sz="1575" b="1">
                <a:solidFill>
                  <a:srgbClr val="78F0B2"/>
                </a:solidFill>
                <a:latin typeface="Segoe UI"/>
                <a:ea typeface="Segoe UI"/>
                <a:cs typeface="Segoe UI"/>
              </a:rPr>
              <a:t>transition</a:t>
            </a:r>
          </a:p>
        </p:txBody>
      </p:sp>
      <p:sp>
        <p:nvSpPr>
          <p:cNvPr id="10" name="">
            <a:extLst xmlns:a="http://schemas.openxmlformats.org/drawingml/2006/main">
              <a:ext uri="{FF2B5EF4-FFF2-40B4-BE49-F238E27FC236}">
                <a16:creationId xmlns:a16="http://schemas.microsoft.com/office/drawing/2014/main" id="{928420B9-9EF7-4BCE-8520-47DEA02B19B4}"/>
              </a:ext>
            </a:extLst>
          </p:cNvPr>
          <p:cNvSpPr>
            <a:spLocks xmlns:a="http://schemas.openxmlformats.org/drawingml/2006/main" noGrp="1"/>
          </p:cNvSpPr>
          <p:nvPr/>
        </p:nvSpPr>
        <p:spPr>
          <a:xfrm xmlns:a="http://schemas.openxmlformats.org/drawingml/2006/main">
            <a:off x="8448675" y="5619750"/>
            <a:ext cx="2628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425" b="0">
                <a:solidFill>
                  <a:srgbClr val="C6D5CF"/>
                </a:solidFill>
                <a:latin typeface="Segoe UI"/>
                <a:ea typeface="Segoe UI"/>
                <a:cs typeface="Segoe UI"/>
              </a:defRPr>
            </a:pPr>
            <a:r>
              <a:rPr sz="1425" b="0">
                <a:solidFill>
                  <a:srgbClr val="C6D5CF"/>
                </a:solidFill>
                <a:latin typeface="Segoe UI"/>
                <a:ea typeface="Segoe UI"/>
                <a:cs typeface="Segoe UI"/>
              </a:rPr>
              <a:t>one invariant owner</a:t>
            </a:r>
          </a:p>
        </p:txBody>
      </p:sp>
    </p:spTree>
    <p:extLst>
      <p:ext uri="{BB962C8B-B14F-4D97-AF65-F5344CB8AC3E}">
        <p14:creationId xmlns:p14="http://schemas.microsoft.com/office/powerpoint/2010/main" val="735511051"/>
      </p:ext>
    </p:extLst>
  </p:cSld>
</p:sld>
</file>

<file path=ppt/slides/slide12.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0" name="chrome-section-12">
            <a:extLst xmlns:a="http://schemas.openxmlformats.org/drawingml/2006/main">
              <a:ext uri="{FF2B5EF4-FFF2-40B4-BE49-F238E27FC236}">
                <a16:creationId xmlns:a16="http://schemas.microsoft.com/office/drawing/2014/main" id="{DEDA0DDD-E33E-4CA7-92CC-710E5AEAEC1A}"/>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EXECUTION</a:t>
            </a:r>
          </a:p>
        </p:txBody>
      </p:sp>
      <p:sp>
        <p:nvSpPr>
          <p:cNvPr id="2" name="chrome-number-12">
            <a:extLst xmlns:a="http://schemas.openxmlformats.org/drawingml/2006/main">
              <a:ext uri="{FF2B5EF4-FFF2-40B4-BE49-F238E27FC236}">
                <a16:creationId xmlns:a16="http://schemas.microsoft.com/office/drawing/2014/main" id="{BB75AEBC-48AC-4DA1-88AC-7F2E2581C627}"/>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12</a:t>
            </a:r>
          </a:p>
        </p:txBody>
      </p:sp>
      <p:sp>
        <p:nvSpPr>
          <p:cNvPr id="3" name="slide-title-12">
            <a:extLst xmlns:a="http://schemas.openxmlformats.org/drawingml/2006/main">
              <a:ext uri="{FF2B5EF4-FFF2-40B4-BE49-F238E27FC236}">
                <a16:creationId xmlns:a16="http://schemas.microsoft.com/office/drawing/2014/main" id="{A9F0A3A8-DA05-4B06-9FA4-012333BFF18E}"/>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One local object in main</a:t>
            </a:r>
          </a:p>
        </p:txBody>
      </p:sp>
      <p:sp>
        <p:nvSpPr>
          <p:cNvPr id="4" name="title-rule-12">
            <a:extLst xmlns:a="http://schemas.openxmlformats.org/drawingml/2006/main">
              <a:ext uri="{FF2B5EF4-FFF2-40B4-BE49-F238E27FC236}">
                <a16:creationId xmlns:a16="http://schemas.microsoft.com/office/drawing/2014/main" id="{A213BC5E-B31F-4A25-9B28-52770BED1E57}"/>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2">
            <a:extLst xmlns:a="http://schemas.openxmlformats.org/drawingml/2006/main">
              <a:ext uri="{FF2B5EF4-FFF2-40B4-BE49-F238E27FC236}">
                <a16:creationId xmlns:a16="http://schemas.microsoft.com/office/drawing/2014/main" id="{5B9EC841-CAB2-4AFA-BFC9-A29B43F758F9}"/>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Every call reaches the same health object.</a:t>
            </a:r>
          </a:p>
        </p:txBody>
      </p:sp>
      <p:sp>
        <p:nvSpPr>
          <p:cNvPr id="6" name="">
            <a:extLst xmlns:a="http://schemas.openxmlformats.org/drawingml/2006/main">
              <a:ext uri="{FF2B5EF4-FFF2-40B4-BE49-F238E27FC236}">
                <a16:creationId xmlns:a16="http://schemas.microsoft.com/office/drawing/2014/main" id="{6BEAAEB7-4C68-4B52-BD39-2CBACC8911A2}"/>
              </a:ext>
            </a:extLst>
          </p:cNvPr>
          <p:cNvSpPr>
            <a:spLocks xmlns:a="http://schemas.openxmlformats.org/drawingml/2006/main" noGrp="1"/>
          </p:cNvSpPr>
          <p:nvPr/>
        </p:nvSpPr>
        <p:spPr>
          <a:xfrm xmlns:a="http://schemas.openxmlformats.org/drawingml/2006/main">
            <a:off x="685800" y="2476500"/>
            <a:ext cx="6191250" cy="3333750"/>
          </a:xfrm>
          <a:prstGeom xmlns:a="http://schemas.openxmlformats.org/drawingml/2006/main" prst="roundRect">
            <a:avLst>
              <a:gd name="adj" fmla="val 3429"/>
            </a:avLst>
          </a:prstGeom>
          <a:solidFill xmlns:a="http://schemas.openxmlformats.org/drawingml/2006/main">
            <a:srgbClr val="020806"/>
          </a:solidFill>
          <a:ln xmlns:a="http://schemas.openxmlformats.org/drawingml/2006/main" w="0">
            <a:noFill/>
            <a:prstDash val="solid"/>
          </a:ln>
        </p:spPr>
        <p:txBody>
          <a:bodyPr xmlns:a="http://schemas.openxmlformats.org/drawingml/2006/main" wrap="square" lIns="171450" tIns="171450" rIns="171450" bIns="133350" anchor="t">
            <a:normAutofit fontScale="100000"/>
          </a:bodyPr>
          <a:lstStyle xmlns:a="http://schemas.openxmlformats.org/drawingml/2006/main"/>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int main()</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PlayerHealth health{10};</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std::cout &lt;&lt; "start: " &lt;&lt; health.points() &lt;&lt; '\n';</a:t>
            </a:r>
          </a:p>
          <a:p xmlns:a="http://schemas.openxmlformats.org/drawingml/2006/main">
            <a:r>
              <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health.take_damage(3);</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assert(health.points() == 7);</a:t>
            </a:r>
          </a:p>
          <a:p xmlns:a="http://schemas.openxmlformats.org/drawingml/2006/main">
            <a:r>
              <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health.take_damage(20);</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assert(health.points() == 0);</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  assert(!health.alive());</a:t>
            </a:r>
          </a:p>
          <a:p xmlns:a="http://schemas.openxmlformats.org/drawingml/2006/main">
            <a:pPr algn="l">
              <a:lnSpc>
                <a:spcPct val="95000"/>
              </a:lnSpc>
              <a:buNone/>
              <a:defRPr sz="1425" b="0">
                <a:solidFill>
                  <a:srgbClr val="F3FBF7"/>
                </a:solidFill>
                <a:latin typeface="Consolas"/>
                <a:ea typeface="Consolas"/>
                <a:cs typeface="Consolas"/>
              </a:defRPr>
            </a:pPr>
            <a:r>
              <a:rPr sz="1425" b="0">
                <a:solidFill>
                  <a:srgbClr val="F3FBF7"/>
                </a:solidFill>
                <a:latin typeface="Consolas"/>
                <a:ea typeface="Consolas"/>
                <a:cs typeface="Consolas"/>
              </a:rPr>
              <a:t>}</a:t>
            </a:r>
          </a:p>
        </p:txBody>
      </p:sp>
      <p:sp>
        <p:nvSpPr>
          <p:cNvPr id="7" name="">
            <a:extLst xmlns:a="http://schemas.openxmlformats.org/drawingml/2006/main">
              <a:ext uri="{FF2B5EF4-FFF2-40B4-BE49-F238E27FC236}">
                <a16:creationId xmlns:a16="http://schemas.microsoft.com/office/drawing/2014/main" id="{1ED202F9-F699-485D-9327-BB5F828A534D}"/>
              </a:ext>
            </a:extLst>
          </p:cNvPr>
          <p:cNvSpPr>
            <a:spLocks xmlns:a="http://schemas.openxmlformats.org/drawingml/2006/main" noGrp="1"/>
          </p:cNvSpPr>
          <p:nvPr/>
        </p:nvSpPr>
        <p:spPr>
          <a:xfrm xmlns:a="http://schemas.openxmlformats.org/drawingml/2006/main">
            <a:off x="7524750" y="25717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5B84B"/>
                </a:solidFill>
                <a:latin typeface="Consolas"/>
                <a:ea typeface="Consolas"/>
                <a:cs typeface="Consolas"/>
              </a:defRPr>
            </a:pPr>
            <a:r>
              <a:rPr sz="1200" b="1">
                <a:solidFill>
                  <a:srgbClr val="F5B84B"/>
                </a:solidFill>
                <a:latin typeface="Consolas"/>
                <a:ea typeface="Consolas"/>
                <a:cs typeface="Consolas"/>
              </a:rPr>
              <a:t>EXPECTED OUTPUT</a:t>
            </a:r>
          </a:p>
        </p:txBody>
      </p:sp>
      <p:sp>
        <p:nvSpPr>
          <p:cNvPr id="8" name="">
            <a:extLst xmlns:a="http://schemas.openxmlformats.org/drawingml/2006/main">
              <a:ext uri="{FF2B5EF4-FFF2-40B4-BE49-F238E27FC236}">
                <a16:creationId xmlns:a16="http://schemas.microsoft.com/office/drawing/2014/main" id="{2311124B-058F-480A-BCA0-B50B2761D7FE}"/>
              </a:ext>
            </a:extLst>
          </p:cNvPr>
          <p:cNvSpPr>
            <a:spLocks xmlns:a="http://schemas.openxmlformats.org/drawingml/2006/main" noGrp="1"/>
          </p:cNvSpPr>
          <p:nvPr/>
        </p:nvSpPr>
        <p:spPr>
          <a:xfrm xmlns:a="http://schemas.openxmlformats.org/drawingml/2006/main">
            <a:off x="7524750" y="3105150"/>
            <a:ext cx="3619500" cy="1619250"/>
          </a:xfrm>
          <a:prstGeom xmlns:a="http://schemas.openxmlformats.org/drawingml/2006/main" prst="roundRect">
            <a:avLst>
              <a:gd name="adj" fmla="val 7059"/>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209550" tIns="209550" rIns="190500" bIns="171450" anchor="t">
            <a:normAutofit fontScale="100000"/>
          </a:bodyPr>
          <a:lstStyle xmlns:a="http://schemas.openxmlformats.org/drawingml/2006/main"/>
          <a:p xmlns:a="http://schemas.openxmlformats.org/drawingml/2006/main">
            <a:pPr algn="l">
              <a:lnSpc>
                <a:spcPct val="115000"/>
              </a:lnSpc>
              <a:buNone/>
              <a:defRPr sz="1875" b="0">
                <a:solidFill>
                  <a:srgbClr val="78F0B2"/>
                </a:solidFill>
                <a:latin typeface="Consolas"/>
                <a:ea typeface="Consolas"/>
                <a:cs typeface="Consolas"/>
              </a:defRPr>
            </a:pPr>
            <a:r>
              <a:rPr sz="1875" b="0">
                <a:solidFill>
                  <a:srgbClr val="78F0B2"/>
                </a:solidFill>
                <a:latin typeface="Consolas"/>
                <a:ea typeface="Consolas"/>
                <a:cs typeface="Consolas"/>
              </a:rPr>
              <a:t>start: 10</a:t>
            </a:r>
          </a:p>
          <a:p xmlns:a="http://schemas.openxmlformats.org/drawingml/2006/main">
            <a:pPr algn="l">
              <a:lnSpc>
                <a:spcPct val="115000"/>
              </a:lnSpc>
              <a:buNone/>
              <a:defRPr sz="1875" b="0">
                <a:solidFill>
                  <a:srgbClr val="78F0B2"/>
                </a:solidFill>
                <a:latin typeface="Consolas"/>
                <a:ea typeface="Consolas"/>
                <a:cs typeface="Consolas"/>
              </a:defRPr>
            </a:pPr>
            <a:r>
              <a:rPr sz="1875" b="0">
                <a:solidFill>
                  <a:srgbClr val="78F0B2"/>
                </a:solidFill>
                <a:latin typeface="Consolas"/>
                <a:ea typeface="Consolas"/>
                <a:cs typeface="Consolas"/>
              </a:rPr>
              <a:t>after 3 damage: 7</a:t>
            </a:r>
          </a:p>
          <a:p xmlns:a="http://schemas.openxmlformats.org/drawingml/2006/main">
            <a:pPr algn="l">
              <a:lnSpc>
                <a:spcPct val="115000"/>
              </a:lnSpc>
              <a:buNone/>
              <a:defRPr sz="1875" b="0">
                <a:solidFill>
                  <a:srgbClr val="78F0B2"/>
                </a:solidFill>
                <a:latin typeface="Consolas"/>
                <a:ea typeface="Consolas"/>
                <a:cs typeface="Consolas"/>
              </a:defRPr>
            </a:pPr>
            <a:r>
              <a:rPr sz="1875" b="0">
                <a:solidFill>
                  <a:srgbClr val="78F0B2"/>
                </a:solidFill>
                <a:latin typeface="Consolas"/>
                <a:ea typeface="Consolas"/>
                <a:cs typeface="Consolas"/>
              </a:rPr>
              <a:t>after 20 damage: 0</a:t>
            </a:r>
          </a:p>
        </p:txBody>
      </p:sp>
      <p:sp>
        <p:nvSpPr>
          <p:cNvPr id="9" name="">
            <a:extLst xmlns:a="http://schemas.openxmlformats.org/drawingml/2006/main">
              <a:ext uri="{FF2B5EF4-FFF2-40B4-BE49-F238E27FC236}">
                <a16:creationId xmlns:a16="http://schemas.microsoft.com/office/drawing/2014/main" id="{A1C7663B-0C6F-49CF-A876-DE67A838FAEC}"/>
              </a:ext>
            </a:extLst>
          </p:cNvPr>
          <p:cNvSpPr>
            <a:spLocks xmlns:a="http://schemas.openxmlformats.org/drawingml/2006/main" noGrp="1"/>
          </p:cNvSpPr>
          <p:nvPr/>
        </p:nvSpPr>
        <p:spPr>
          <a:xfrm xmlns:a="http://schemas.openxmlformats.org/drawingml/2006/main">
            <a:off x="7524750" y="5105400"/>
            <a:ext cx="3619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C6D5CF"/>
                </a:solidFill>
                <a:latin typeface="Segoe UI"/>
                <a:ea typeface="Segoe UI"/>
                <a:cs typeface="Segoe UI"/>
              </a:defRPr>
            </a:pPr>
            <a:r>
              <a:rPr sz="1350" b="0">
                <a:solidFill>
                  <a:srgbClr val="C6D5CF"/>
                </a:solidFill>
                <a:latin typeface="Segoe UI"/>
                <a:ea typeface="Segoe UI"/>
                <a:cs typeface="Segoe UI"/>
              </a:rPr>
              <a:t>assert is development evidence, not a universal runtime check</a:t>
            </a:r>
          </a:p>
        </p:txBody>
      </p:sp>
    </p:spTree>
    <p:extLst>
      <p:ext uri="{BB962C8B-B14F-4D97-AF65-F5344CB8AC3E}">
        <p14:creationId xmlns:p14="http://schemas.microsoft.com/office/powerpoint/2010/main" val="1137885886"/>
      </p:ext>
    </p:extLst>
  </p:cSld>
</p:sld>
</file>

<file path=ppt/slides/slide13.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8" name="chrome-section-13">
            <a:extLst xmlns:a="http://schemas.openxmlformats.org/drawingml/2006/main">
              <a:ext uri="{FF2B5EF4-FFF2-40B4-BE49-F238E27FC236}">
                <a16:creationId xmlns:a16="http://schemas.microsoft.com/office/drawing/2014/main" id="{B31E427B-FA30-4660-B103-954516AD4FE1}"/>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TRANSITION 01</a:t>
            </a:r>
          </a:p>
        </p:txBody>
      </p:sp>
      <p:sp>
        <p:nvSpPr>
          <p:cNvPr id="2" name="chrome-number-13">
            <a:extLst xmlns:a="http://schemas.openxmlformats.org/drawingml/2006/main">
              <a:ext uri="{FF2B5EF4-FFF2-40B4-BE49-F238E27FC236}">
                <a16:creationId xmlns:a16="http://schemas.microsoft.com/office/drawing/2014/main" id="{F0BB0C4B-E394-4DB9-9F14-57FC25E55725}"/>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13</a:t>
            </a:r>
          </a:p>
        </p:txBody>
      </p:sp>
      <p:sp>
        <p:nvSpPr>
          <p:cNvPr id="3" name="slide-title-13">
            <a:extLst xmlns:a="http://schemas.openxmlformats.org/drawingml/2006/main">
              <a:ext uri="{FF2B5EF4-FFF2-40B4-BE49-F238E27FC236}">
                <a16:creationId xmlns:a16="http://schemas.microsoft.com/office/drawing/2014/main" id="{9D4F08D6-A114-4911-963A-62E69013F8BB}"/>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Construction: no completed object → 10</a:t>
            </a:r>
          </a:p>
        </p:txBody>
      </p:sp>
      <p:sp>
        <p:nvSpPr>
          <p:cNvPr id="4" name="title-rule-13">
            <a:extLst xmlns:a="http://schemas.openxmlformats.org/drawingml/2006/main">
              <a:ext uri="{FF2B5EF4-FFF2-40B4-BE49-F238E27FC236}">
                <a16:creationId xmlns:a16="http://schemas.microsoft.com/office/drawing/2014/main" id="{526C0754-0713-4BDA-9F7A-30C78A05BF37}"/>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3">
            <a:extLst xmlns:a="http://schemas.openxmlformats.org/drawingml/2006/main">
              <a:ext uri="{FF2B5EF4-FFF2-40B4-BE49-F238E27FC236}">
                <a16:creationId xmlns:a16="http://schemas.microsoft.com/office/drawing/2014/main" id="{AFAB394F-AF77-4BB4-8EC4-9E76529C4754}"/>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boundary is checked before a valid object becomes available.</a:t>
            </a:r>
          </a:p>
        </p:txBody>
      </p:sp>
      <p:sp>
        <p:nvSpPr>
          <p:cNvPr id="6" name="">
            <a:extLst xmlns:a="http://schemas.openxmlformats.org/drawingml/2006/main">
              <a:ext uri="{FF2B5EF4-FFF2-40B4-BE49-F238E27FC236}">
                <a16:creationId xmlns:a16="http://schemas.microsoft.com/office/drawing/2014/main" id="{1825B1F3-3E2E-4F95-8F1A-2797B5FEB9B5}"/>
              </a:ext>
            </a:extLst>
          </p:cNvPr>
          <p:cNvSpPr>
            <a:spLocks xmlns:a="http://schemas.openxmlformats.org/drawingml/2006/main" noGrp="1"/>
          </p:cNvSpPr>
          <p:nvPr/>
        </p:nvSpPr>
        <p:spPr>
          <a:xfrm xmlns:a="http://schemas.openxmlformats.org/drawingml/2006/main">
            <a:off x="857250" y="3143250"/>
            <a:ext cx="2238375" cy="1066800"/>
          </a:xfrm>
          <a:prstGeom xmlns:a="http://schemas.openxmlformats.org/drawingml/2006/main" prst="roundRect">
            <a:avLst>
              <a:gd name="adj" fmla="val 14286"/>
            </a:avLst>
          </a:prstGeom>
          <a:solidFill xmlns:a="http://schemas.openxmlformats.org/drawingml/2006/main">
            <a:srgbClr val="0D251E"/>
          </a:solidFill>
          <a:ln xmlns:a="http://schemas.openxmlformats.org/drawingml/2006/main" w="19050">
            <a:solidFill>
              <a:srgbClr val="74D7FF"/>
            </a:solidFill>
            <a:prstDash val="solid"/>
          </a:ln>
        </p:spPr>
      </p:sp>
      <p:sp>
        <p:nvSpPr>
          <p:cNvPr id="7" name="">
            <a:extLst xmlns:a="http://schemas.openxmlformats.org/drawingml/2006/main">
              <a:ext uri="{FF2B5EF4-FFF2-40B4-BE49-F238E27FC236}">
                <a16:creationId xmlns:a16="http://schemas.microsoft.com/office/drawing/2014/main" id="{D045FA8C-F2C1-44F5-BB61-6DCC34BF2415}"/>
              </a:ext>
            </a:extLst>
          </p:cNvPr>
          <p:cNvSpPr>
            <a:spLocks xmlns:a="http://schemas.openxmlformats.org/drawingml/2006/main" noGrp="1"/>
          </p:cNvSpPr>
          <p:nvPr/>
        </p:nvSpPr>
        <p:spPr>
          <a:xfrm xmlns:a="http://schemas.openxmlformats.org/drawingml/2006/main">
            <a:off x="1009650" y="3295650"/>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request</a:t>
            </a:r>
          </a:p>
        </p:txBody>
      </p:sp>
      <p:sp>
        <p:nvSpPr>
          <p:cNvPr id="8" name="">
            <a:extLst xmlns:a="http://schemas.openxmlformats.org/drawingml/2006/main">
              <a:ext uri="{FF2B5EF4-FFF2-40B4-BE49-F238E27FC236}">
                <a16:creationId xmlns:a16="http://schemas.microsoft.com/office/drawing/2014/main" id="{A79152B4-082F-4D97-B9E2-BF0AB99B1417}"/>
              </a:ext>
            </a:extLst>
          </p:cNvPr>
          <p:cNvSpPr>
            <a:spLocks xmlns:a="http://schemas.openxmlformats.org/drawingml/2006/main" noGrp="1"/>
          </p:cNvSpPr>
          <p:nvPr/>
        </p:nvSpPr>
        <p:spPr>
          <a:xfrm xmlns:a="http://schemas.openxmlformats.org/drawingml/2006/main">
            <a:off x="1009650" y="3648075"/>
            <a:ext cx="19335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PlayerHealth{10}</a:t>
            </a:r>
          </a:p>
        </p:txBody>
      </p:sp>
      <p:sp>
        <p:nvSpPr>
          <p:cNvPr id="9" name="">
            <a:extLst xmlns:a="http://schemas.openxmlformats.org/drawingml/2006/main">
              <a:ext uri="{FF2B5EF4-FFF2-40B4-BE49-F238E27FC236}">
                <a16:creationId xmlns:a16="http://schemas.microsoft.com/office/drawing/2014/main" id="{97DF9904-3E7C-44B9-9A26-E37D2C1867F2}"/>
              </a:ext>
            </a:extLst>
          </p:cNvPr>
          <p:cNvSpPr>
            <a:spLocks xmlns:a="http://schemas.openxmlformats.org/drawingml/2006/main" noGrp="1"/>
          </p:cNvSpPr>
          <p:nvPr/>
        </p:nvSpPr>
        <p:spPr>
          <a:xfrm xmlns:a="http://schemas.openxmlformats.org/drawingml/2006/main">
            <a:off x="3286125" y="3571875"/>
            <a:ext cx="742950" cy="2095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12F03A7-3172-4637-9C4A-E510F95DD31B}"/>
              </a:ext>
            </a:extLst>
          </p:cNvPr>
          <p:cNvSpPr>
            <a:spLocks xmlns:a="http://schemas.openxmlformats.org/drawingml/2006/main" noGrp="1"/>
          </p:cNvSpPr>
          <p:nvPr/>
        </p:nvSpPr>
        <p:spPr>
          <a:xfrm xmlns:a="http://schemas.openxmlformats.org/drawingml/2006/main">
            <a:off x="4238625" y="3143250"/>
            <a:ext cx="2238375" cy="1066800"/>
          </a:xfrm>
          <a:prstGeom xmlns:a="http://schemas.openxmlformats.org/drawingml/2006/main" prst="roundRect">
            <a:avLst>
              <a:gd name="adj" fmla="val 14286"/>
            </a:avLst>
          </a:prstGeom>
          <a:solidFill xmlns:a="http://schemas.openxmlformats.org/drawingml/2006/main">
            <a:srgbClr val="0D251E"/>
          </a:solidFill>
          <a:ln xmlns:a="http://schemas.openxmlformats.org/drawingml/2006/main" w="19050">
            <a:solidFill>
              <a:srgbClr val="F5B84B"/>
            </a:solidFill>
            <a:prstDash val="solid"/>
          </a:ln>
        </p:spPr>
      </p:sp>
      <p:sp>
        <p:nvSpPr>
          <p:cNvPr id="11" name="">
            <a:extLst xmlns:a="http://schemas.openxmlformats.org/drawingml/2006/main">
              <a:ext uri="{FF2B5EF4-FFF2-40B4-BE49-F238E27FC236}">
                <a16:creationId xmlns:a16="http://schemas.microsoft.com/office/drawing/2014/main" id="{14D1B94A-E82C-4C77-96C7-D22614572A73}"/>
              </a:ext>
            </a:extLst>
          </p:cNvPr>
          <p:cNvSpPr>
            <a:spLocks xmlns:a="http://schemas.openxmlformats.org/drawingml/2006/main" noGrp="1"/>
          </p:cNvSpPr>
          <p:nvPr/>
        </p:nvSpPr>
        <p:spPr>
          <a:xfrm xmlns:a="http://schemas.openxmlformats.org/drawingml/2006/main">
            <a:off x="4391025" y="3295650"/>
            <a:ext cx="19335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validate</a:t>
            </a:r>
          </a:p>
        </p:txBody>
      </p:sp>
      <p:sp>
        <p:nvSpPr>
          <p:cNvPr id="12" name="">
            <a:extLst xmlns:a="http://schemas.openxmlformats.org/drawingml/2006/main">
              <a:ext uri="{FF2B5EF4-FFF2-40B4-BE49-F238E27FC236}">
                <a16:creationId xmlns:a16="http://schemas.microsoft.com/office/drawing/2014/main" id="{505D12D9-B9AF-4C39-956B-A80C14A9A6A9}"/>
              </a:ext>
            </a:extLst>
          </p:cNvPr>
          <p:cNvSpPr>
            <a:spLocks xmlns:a="http://schemas.openxmlformats.org/drawingml/2006/main" noGrp="1"/>
          </p:cNvSpPr>
          <p:nvPr/>
        </p:nvSpPr>
        <p:spPr>
          <a:xfrm xmlns:a="http://schemas.openxmlformats.org/drawingml/2006/main">
            <a:off x="4391025" y="3648075"/>
            <a:ext cx="19335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0 ≤ 10 ≤ 100</a:t>
            </a:r>
          </a:p>
        </p:txBody>
      </p:sp>
      <p:sp>
        <p:nvSpPr>
          <p:cNvPr id="13" name="">
            <a:extLst xmlns:a="http://schemas.openxmlformats.org/drawingml/2006/main">
              <a:ext uri="{FF2B5EF4-FFF2-40B4-BE49-F238E27FC236}">
                <a16:creationId xmlns:a16="http://schemas.microsoft.com/office/drawing/2014/main" id="{48928CA4-19CF-4D77-AFE4-8109E34643E6}"/>
              </a:ext>
            </a:extLst>
          </p:cNvPr>
          <p:cNvSpPr>
            <a:spLocks xmlns:a="http://schemas.openxmlformats.org/drawingml/2006/main" noGrp="1"/>
          </p:cNvSpPr>
          <p:nvPr/>
        </p:nvSpPr>
        <p:spPr>
          <a:xfrm xmlns:a="http://schemas.openxmlformats.org/drawingml/2006/main">
            <a:off x="6667500" y="3571875"/>
            <a:ext cx="742950" cy="2095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EA0EF11-0368-4792-9C08-CA7EFA2F7480}"/>
              </a:ext>
            </a:extLst>
          </p:cNvPr>
          <p:cNvSpPr>
            <a:spLocks xmlns:a="http://schemas.openxmlformats.org/drawingml/2006/main" noGrp="1"/>
          </p:cNvSpPr>
          <p:nvPr/>
        </p:nvSpPr>
        <p:spPr>
          <a:xfrm xmlns:a="http://schemas.openxmlformats.org/drawingml/2006/main">
            <a:off x="7620000" y="3000375"/>
            <a:ext cx="3143250" cy="1352550"/>
          </a:xfrm>
          <a:prstGeom xmlns:a="http://schemas.openxmlformats.org/drawingml/2006/main" prst="roundRect">
            <a:avLst>
              <a:gd name="adj" fmla="val 11268"/>
            </a:avLst>
          </a:prstGeom>
          <a:solidFill xmlns:a="http://schemas.openxmlformats.org/drawingml/2006/main">
            <a:srgbClr val="0D251E"/>
          </a:solidFill>
          <a:ln xmlns:a="http://schemas.openxmlformats.org/drawingml/2006/main" w="19050">
            <a:solidFill>
              <a:srgbClr val="78F0B2"/>
            </a:solidFill>
            <a:prstDash val="solid"/>
          </a:ln>
        </p:spPr>
      </p:sp>
      <p:sp>
        <p:nvSpPr>
          <p:cNvPr id="15" name="">
            <a:extLst xmlns:a="http://schemas.openxmlformats.org/drawingml/2006/main">
              <a:ext uri="{FF2B5EF4-FFF2-40B4-BE49-F238E27FC236}">
                <a16:creationId xmlns:a16="http://schemas.microsoft.com/office/drawing/2014/main" id="{696EC16D-B022-4FC8-B419-5AD362684575}"/>
              </a:ext>
            </a:extLst>
          </p:cNvPr>
          <p:cNvSpPr>
            <a:spLocks xmlns:a="http://schemas.openxmlformats.org/drawingml/2006/main" noGrp="1"/>
          </p:cNvSpPr>
          <p:nvPr/>
        </p:nvSpPr>
        <p:spPr>
          <a:xfrm xmlns:a="http://schemas.openxmlformats.org/drawingml/2006/main">
            <a:off x="7772400" y="31527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object exists</a:t>
            </a:r>
          </a:p>
        </p:txBody>
      </p:sp>
      <p:sp>
        <p:nvSpPr>
          <p:cNvPr id="16" name="">
            <a:extLst xmlns:a="http://schemas.openxmlformats.org/drawingml/2006/main">
              <a:ext uri="{FF2B5EF4-FFF2-40B4-BE49-F238E27FC236}">
                <a16:creationId xmlns:a16="http://schemas.microsoft.com/office/drawing/2014/main" id="{81BF93F3-E2C5-4D10-8143-0E6B3EA32339}"/>
              </a:ext>
            </a:extLst>
          </p:cNvPr>
          <p:cNvSpPr>
            <a:spLocks xmlns:a="http://schemas.openxmlformats.org/drawingml/2006/main" noGrp="1"/>
          </p:cNvSpPr>
          <p:nvPr/>
        </p:nvSpPr>
        <p:spPr>
          <a:xfrm xmlns:a="http://schemas.openxmlformats.org/drawingml/2006/main">
            <a:off x="7772400" y="3505200"/>
            <a:ext cx="2838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points_ = 10 · alive</a:t>
            </a:r>
          </a:p>
        </p:txBody>
      </p:sp>
      <p:sp>
        <p:nvSpPr>
          <p:cNvPr id="17" name="">
            <a:extLst xmlns:a="http://schemas.openxmlformats.org/drawingml/2006/main">
              <a:ext uri="{FF2B5EF4-FFF2-40B4-BE49-F238E27FC236}">
                <a16:creationId xmlns:a16="http://schemas.microsoft.com/office/drawing/2014/main" id="{BBB12D4C-98A0-41F5-A1A8-D96FFA51B8FD}"/>
              </a:ext>
            </a:extLst>
          </p:cNvPr>
          <p:cNvSpPr>
            <a:spLocks xmlns:a="http://schemas.openxmlformats.org/drawingml/2006/main" noGrp="1"/>
          </p:cNvSpPr>
          <p:nvPr/>
        </p:nvSpPr>
        <p:spPr>
          <a:xfrm xmlns:a="http://schemas.openxmlformats.org/drawingml/2006/main">
            <a:off x="2428875" y="5048250"/>
            <a:ext cx="7334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F8278"/>
                </a:solidFill>
                <a:latin typeface="Segoe UI"/>
                <a:ea typeface="Segoe UI"/>
                <a:cs typeface="Segoe UI"/>
              </a:defRPr>
            </a:pPr>
            <a:r>
              <a:rPr sz="1725" b="1">
                <a:solidFill>
                  <a:srgbClr val="FF8278"/>
                </a:solidFill>
                <a:latin typeface="Segoe UI"/>
                <a:ea typeface="Segoe UI"/>
                <a:cs typeface="Segoe UI"/>
              </a:rPr>
              <a:t>Invalid construction: no completed PlayerHealth object emerges.</a:t>
            </a:r>
          </a:p>
        </p:txBody>
      </p:sp>
    </p:spTree>
    <p:extLst>
      <p:ext uri="{BB962C8B-B14F-4D97-AF65-F5344CB8AC3E}">
        <p14:creationId xmlns:p14="http://schemas.microsoft.com/office/powerpoint/2010/main" val="1109186387"/>
      </p:ext>
    </p:extLst>
  </p:cSld>
</p:sld>
</file>

<file path=ppt/slides/slide14.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4" name="chrome-section-14">
            <a:extLst xmlns:a="http://schemas.openxmlformats.org/drawingml/2006/main">
              <a:ext uri="{FF2B5EF4-FFF2-40B4-BE49-F238E27FC236}">
                <a16:creationId xmlns:a16="http://schemas.microsoft.com/office/drawing/2014/main" id="{96D9446A-FC28-4929-83BA-C54802084AEE}"/>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TRANSITION 02</a:t>
            </a:r>
          </a:p>
        </p:txBody>
      </p:sp>
      <p:sp>
        <p:nvSpPr>
          <p:cNvPr id="2" name="chrome-number-14">
            <a:extLst xmlns:a="http://schemas.openxmlformats.org/drawingml/2006/main">
              <a:ext uri="{FF2B5EF4-FFF2-40B4-BE49-F238E27FC236}">
                <a16:creationId xmlns:a16="http://schemas.microsoft.com/office/drawing/2014/main" id="{A900AC49-7D97-40E2-8495-07ACF94CD75D}"/>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14</a:t>
            </a:r>
          </a:p>
        </p:txBody>
      </p:sp>
      <p:sp>
        <p:nvSpPr>
          <p:cNvPr id="3" name="slide-title-14">
            <a:extLst xmlns:a="http://schemas.openxmlformats.org/drawingml/2006/main">
              <a:ext uri="{FF2B5EF4-FFF2-40B4-BE49-F238E27FC236}">
                <a16:creationId xmlns:a16="http://schemas.microsoft.com/office/drawing/2014/main" id="{60466F50-59F2-4068-B6ED-E4A80B9107C8}"/>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Damage: 10 → 7</a:t>
            </a:r>
          </a:p>
        </p:txBody>
      </p:sp>
      <p:sp>
        <p:nvSpPr>
          <p:cNvPr id="4" name="title-rule-14">
            <a:extLst xmlns:a="http://schemas.openxmlformats.org/drawingml/2006/main">
              <a:ext uri="{FF2B5EF4-FFF2-40B4-BE49-F238E27FC236}">
                <a16:creationId xmlns:a16="http://schemas.microsoft.com/office/drawing/2014/main" id="{4E5E5E17-4B14-4D1E-B735-2EC7BED98B15}"/>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4">
            <a:extLst xmlns:a="http://schemas.openxmlformats.org/drawingml/2006/main">
              <a:ext uri="{FF2B5EF4-FFF2-40B4-BE49-F238E27FC236}">
                <a16:creationId xmlns:a16="http://schemas.microsoft.com/office/drawing/2014/main" id="{724EDF3A-A4E7-40B5-8C35-58E91F68F605}"/>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stored value changes; the invariant and derived alive state remain true.</a:t>
            </a:r>
          </a:p>
        </p:txBody>
      </p:sp>
      <p:sp>
        <p:nvSpPr>
          <p:cNvPr id="6" name="">
            <a:extLst xmlns:a="http://schemas.openxmlformats.org/drawingml/2006/main">
              <a:ext uri="{FF2B5EF4-FFF2-40B4-BE49-F238E27FC236}">
                <a16:creationId xmlns:a16="http://schemas.microsoft.com/office/drawing/2014/main" id="{B44663D8-87D3-43DA-8FD0-A924E523A4F3}"/>
              </a:ext>
            </a:extLst>
          </p:cNvPr>
          <p:cNvSpPr>
            <a:spLocks xmlns:a="http://schemas.openxmlformats.org/drawingml/2006/main" noGrp="1"/>
          </p:cNvSpPr>
          <p:nvPr/>
        </p:nvSpPr>
        <p:spPr>
          <a:xfrm xmlns:a="http://schemas.openxmlformats.org/drawingml/2006/main">
            <a:off x="1190625" y="29527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00" b="1">
                <a:solidFill>
                  <a:srgbClr val="78F0B2"/>
                </a:solidFill>
                <a:latin typeface="Georgia"/>
                <a:ea typeface="Georgia"/>
                <a:cs typeface="Georgia"/>
              </a:defRPr>
            </a:pPr>
            <a:r>
              <a:rPr sz="7500" b="1">
                <a:solidFill>
                  <a:srgbClr val="78F0B2"/>
                </a:solidFill>
                <a:latin typeface="Georgia"/>
                <a:ea typeface="Georgia"/>
                <a:cs typeface="Georgia"/>
              </a:rPr>
              <a:t>10</a:t>
            </a:r>
          </a:p>
        </p:txBody>
      </p:sp>
      <p:sp>
        <p:nvSpPr>
          <p:cNvPr id="7" name="">
            <a:extLst xmlns:a="http://schemas.openxmlformats.org/drawingml/2006/main">
              <a:ext uri="{FF2B5EF4-FFF2-40B4-BE49-F238E27FC236}">
                <a16:creationId xmlns:a16="http://schemas.microsoft.com/office/drawing/2014/main" id="{F2E85498-BB7E-4313-86DE-3D26C1584964}"/>
              </a:ext>
            </a:extLst>
          </p:cNvPr>
          <p:cNvSpPr>
            <a:spLocks xmlns:a="http://schemas.openxmlformats.org/drawingml/2006/main" noGrp="1"/>
          </p:cNvSpPr>
          <p:nvPr/>
        </p:nvSpPr>
        <p:spPr>
          <a:xfrm xmlns:a="http://schemas.openxmlformats.org/drawingml/2006/main">
            <a:off x="3476625" y="3543300"/>
            <a:ext cx="1333500" cy="26670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554BAB7-A887-494F-8D76-D92515DF5059}"/>
              </a:ext>
            </a:extLst>
          </p:cNvPr>
          <p:cNvSpPr>
            <a:spLocks xmlns:a="http://schemas.openxmlformats.org/drawingml/2006/main" noGrp="1"/>
          </p:cNvSpPr>
          <p:nvPr/>
        </p:nvSpPr>
        <p:spPr>
          <a:xfrm xmlns:a="http://schemas.openxmlformats.org/drawingml/2006/main">
            <a:off x="3638550" y="2981325"/>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2100" b="1">
                <a:solidFill>
                  <a:srgbClr val="FFD989"/>
                </a:solidFill>
                <a:latin typeface="Consolas"/>
                <a:ea typeface="Consolas"/>
                <a:cs typeface="Consolas"/>
              </a:defRPr>
            </a:pPr>
            <a:r>
              <a:rPr sz="2100" b="1">
                <a:solidFill>
                  <a:srgbClr val="FFD989"/>
                </a:solidFill>
                <a:latin typeface="Consolas"/>
                <a:ea typeface="Consolas"/>
                <a:cs typeface="Consolas"/>
              </a:rPr>
              <a:t>− 3</a:t>
            </a:r>
          </a:p>
        </p:txBody>
      </p:sp>
      <p:sp>
        <p:nvSpPr>
          <p:cNvPr id="9" name="">
            <a:extLst xmlns:a="http://schemas.openxmlformats.org/drawingml/2006/main">
              <a:ext uri="{FF2B5EF4-FFF2-40B4-BE49-F238E27FC236}">
                <a16:creationId xmlns:a16="http://schemas.microsoft.com/office/drawing/2014/main" id="{0A270652-C830-4BCA-BFE4-2C5EF077164E}"/>
              </a:ext>
            </a:extLst>
          </p:cNvPr>
          <p:cNvSpPr>
            <a:spLocks xmlns:a="http://schemas.openxmlformats.org/drawingml/2006/main" noGrp="1"/>
          </p:cNvSpPr>
          <p:nvPr/>
        </p:nvSpPr>
        <p:spPr>
          <a:xfrm xmlns:a="http://schemas.openxmlformats.org/drawingml/2006/main">
            <a:off x="5143500" y="295275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7500" b="1">
                <a:solidFill>
                  <a:srgbClr val="78F0B2"/>
                </a:solidFill>
                <a:latin typeface="Georgia"/>
                <a:ea typeface="Georgia"/>
                <a:cs typeface="Georgia"/>
              </a:defRPr>
            </a:pPr>
            <a:r>
              <a:rPr sz="7500" b="1">
                <a:solidFill>
                  <a:srgbClr val="78F0B2"/>
                </a:solidFill>
                <a:latin typeface="Georgia"/>
                <a:ea typeface="Georgia"/>
                <a:cs typeface="Georgia"/>
              </a:rPr>
              <a:t>7</a:t>
            </a:r>
          </a:p>
        </p:txBody>
      </p:sp>
      <p:sp>
        <p:nvSpPr>
          <p:cNvPr id="10" name="">
            <a:extLst xmlns:a="http://schemas.openxmlformats.org/drawingml/2006/main">
              <a:ext uri="{FF2B5EF4-FFF2-40B4-BE49-F238E27FC236}">
                <a16:creationId xmlns:a16="http://schemas.microsoft.com/office/drawing/2014/main" id="{D32EA821-FBFB-48E1-8E26-2C1824002782}"/>
              </a:ext>
            </a:extLst>
          </p:cNvPr>
          <p:cNvSpPr>
            <a:spLocks xmlns:a="http://schemas.openxmlformats.org/drawingml/2006/main" noGrp="1"/>
          </p:cNvSpPr>
          <p:nvPr/>
        </p:nvSpPr>
        <p:spPr>
          <a:xfrm xmlns:a="http://schemas.openxmlformats.org/drawingml/2006/main">
            <a:off x="7620000" y="2838450"/>
            <a:ext cx="9525" cy="180975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1" name="">
            <a:extLst xmlns:a="http://schemas.openxmlformats.org/drawingml/2006/main">
              <a:ext uri="{FF2B5EF4-FFF2-40B4-BE49-F238E27FC236}">
                <a16:creationId xmlns:a16="http://schemas.microsoft.com/office/drawing/2014/main" id="{BB266926-7A67-4C78-952E-EF84188D45BA}"/>
              </a:ext>
            </a:extLst>
          </p:cNvPr>
          <p:cNvSpPr>
            <a:spLocks xmlns:a="http://schemas.openxmlformats.org/drawingml/2006/main" noGrp="1"/>
          </p:cNvSpPr>
          <p:nvPr/>
        </p:nvSpPr>
        <p:spPr>
          <a:xfrm xmlns:a="http://schemas.openxmlformats.org/drawingml/2006/main">
            <a:off x="8143875" y="29051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8FA59D"/>
                </a:solidFill>
                <a:latin typeface="Consolas"/>
                <a:ea typeface="Consolas"/>
                <a:cs typeface="Consolas"/>
              </a:defRPr>
            </a:pPr>
            <a:r>
              <a:rPr sz="1350" b="1">
                <a:solidFill>
                  <a:srgbClr val="8FA59D"/>
                </a:solidFill>
                <a:latin typeface="Consolas"/>
                <a:ea typeface="Consolas"/>
                <a:cs typeface="Consolas"/>
              </a:rPr>
              <a:t>invariant</a:t>
            </a:r>
          </a:p>
        </p:txBody>
      </p:sp>
      <p:sp>
        <p:nvSpPr>
          <p:cNvPr id="12" name="">
            <a:extLst xmlns:a="http://schemas.openxmlformats.org/drawingml/2006/main">
              <a:ext uri="{FF2B5EF4-FFF2-40B4-BE49-F238E27FC236}">
                <a16:creationId xmlns:a16="http://schemas.microsoft.com/office/drawing/2014/main" id="{9CD47DD8-8274-4B71-ADB1-B6606B8721C4}"/>
              </a:ext>
            </a:extLst>
          </p:cNvPr>
          <p:cNvSpPr>
            <a:spLocks xmlns:a="http://schemas.openxmlformats.org/drawingml/2006/main" noGrp="1"/>
          </p:cNvSpPr>
          <p:nvPr/>
        </p:nvSpPr>
        <p:spPr>
          <a:xfrm xmlns:a="http://schemas.openxmlformats.org/drawingml/2006/main">
            <a:off x="8143875" y="3352800"/>
            <a:ext cx="266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325" b="1">
                <a:solidFill>
                  <a:srgbClr val="78F0B2"/>
                </a:solidFill>
                <a:latin typeface="Consolas"/>
                <a:ea typeface="Consolas"/>
                <a:cs typeface="Consolas"/>
              </a:defRPr>
            </a:pPr>
            <a:r>
              <a:rPr sz="2325" b="1">
                <a:solidFill>
                  <a:srgbClr val="78F0B2"/>
                </a:solidFill>
                <a:latin typeface="Consolas"/>
                <a:ea typeface="Consolas"/>
                <a:cs typeface="Consolas"/>
              </a:rPr>
              <a:t>0 ≤ 7 ≤ 100</a:t>
            </a:r>
          </a:p>
        </p:txBody>
      </p:sp>
      <p:sp>
        <p:nvSpPr>
          <p:cNvPr id="13" name="">
            <a:extLst xmlns:a="http://schemas.openxmlformats.org/drawingml/2006/main">
              <a:ext uri="{FF2B5EF4-FFF2-40B4-BE49-F238E27FC236}">
                <a16:creationId xmlns:a16="http://schemas.microsoft.com/office/drawing/2014/main" id="{F723BC42-700C-453F-A595-A0C93217F2CE}"/>
              </a:ext>
            </a:extLst>
          </p:cNvPr>
          <p:cNvSpPr>
            <a:spLocks xmlns:a="http://schemas.openxmlformats.org/drawingml/2006/main" noGrp="1"/>
          </p:cNvSpPr>
          <p:nvPr/>
        </p:nvSpPr>
        <p:spPr>
          <a:xfrm xmlns:a="http://schemas.openxmlformats.org/drawingml/2006/main">
            <a:off x="8143875" y="4057650"/>
            <a:ext cx="266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74D7FF"/>
                </a:solidFill>
                <a:latin typeface="Consolas"/>
                <a:ea typeface="Consolas"/>
                <a:cs typeface="Consolas"/>
              </a:defRPr>
            </a:pPr>
            <a:r>
              <a:rPr sz="1800" b="0">
                <a:solidFill>
                  <a:srgbClr val="74D7FF"/>
                </a:solidFill>
                <a:latin typeface="Consolas"/>
                <a:ea typeface="Consolas"/>
                <a:cs typeface="Consolas"/>
              </a:rPr>
              <a:t>alive() → true</a:t>
            </a:r>
          </a:p>
        </p:txBody>
      </p:sp>
    </p:spTree>
    <p:extLst>
      <p:ext uri="{BB962C8B-B14F-4D97-AF65-F5344CB8AC3E}">
        <p14:creationId xmlns:p14="http://schemas.microsoft.com/office/powerpoint/2010/main" val="2039406831"/>
      </p:ext>
    </p:extLst>
  </p:cSld>
</p:sld>
</file>

<file path=ppt/slides/slide15.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4" name="chrome-section-15">
            <a:extLst xmlns:a="http://schemas.openxmlformats.org/drawingml/2006/main">
              <a:ext uri="{FF2B5EF4-FFF2-40B4-BE49-F238E27FC236}">
                <a16:creationId xmlns:a16="http://schemas.microsoft.com/office/drawing/2014/main" id="{27693459-D884-4530-8CC1-EF962C5C2119}"/>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TRANSITION 03</a:t>
            </a:r>
          </a:p>
        </p:txBody>
      </p:sp>
      <p:sp>
        <p:nvSpPr>
          <p:cNvPr id="2" name="chrome-number-15">
            <a:extLst xmlns:a="http://schemas.openxmlformats.org/drawingml/2006/main">
              <a:ext uri="{FF2B5EF4-FFF2-40B4-BE49-F238E27FC236}">
                <a16:creationId xmlns:a16="http://schemas.microsoft.com/office/drawing/2014/main" id="{3E2B6F54-D3AA-4741-8E1A-EF4CDD131EC7}"/>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15</a:t>
            </a:r>
          </a:p>
        </p:txBody>
      </p:sp>
      <p:sp>
        <p:nvSpPr>
          <p:cNvPr id="3" name="slide-title-15">
            <a:extLst xmlns:a="http://schemas.openxmlformats.org/drawingml/2006/main">
              <a:ext uri="{FF2B5EF4-FFF2-40B4-BE49-F238E27FC236}">
                <a16:creationId xmlns:a16="http://schemas.microsoft.com/office/drawing/2014/main" id="{A3E74BCE-AD73-4AB4-AF93-DAE58F26C2E5}"/>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Large damage: 7 → 0</a:t>
            </a:r>
          </a:p>
        </p:txBody>
      </p:sp>
      <p:sp>
        <p:nvSpPr>
          <p:cNvPr id="4" name="title-rule-15">
            <a:extLst xmlns:a="http://schemas.openxmlformats.org/drawingml/2006/main">
              <a:ext uri="{FF2B5EF4-FFF2-40B4-BE49-F238E27FC236}">
                <a16:creationId xmlns:a16="http://schemas.microsoft.com/office/drawing/2014/main" id="{1203C82A-E718-4593-888E-F6850EB800A8}"/>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5">
            <a:extLst xmlns:a="http://schemas.openxmlformats.org/drawingml/2006/main">
              <a:ext uri="{FF2B5EF4-FFF2-40B4-BE49-F238E27FC236}">
                <a16:creationId xmlns:a16="http://schemas.microsoft.com/office/drawing/2014/main" id="{AB17250B-F31F-4701-A41C-5CB2888FDAD3}"/>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Clamping prevents the candidate negative value becoming valid state.</a:t>
            </a:r>
          </a:p>
        </p:txBody>
      </p:sp>
      <p:sp>
        <p:nvSpPr>
          <p:cNvPr id="6" name="">
            <a:extLst xmlns:a="http://schemas.openxmlformats.org/drawingml/2006/main">
              <a:ext uri="{FF2B5EF4-FFF2-40B4-BE49-F238E27FC236}">
                <a16:creationId xmlns:a16="http://schemas.microsoft.com/office/drawing/2014/main" id="{4B747C63-8C1D-4273-8090-038BBFE2639C}"/>
              </a:ext>
            </a:extLst>
          </p:cNvPr>
          <p:cNvSpPr>
            <a:spLocks xmlns:a="http://schemas.openxmlformats.org/drawingml/2006/main" noGrp="1"/>
          </p:cNvSpPr>
          <p:nvPr/>
        </p:nvSpPr>
        <p:spPr>
          <a:xfrm xmlns:a="http://schemas.openxmlformats.org/drawingml/2006/main">
            <a:off x="876300" y="2952750"/>
            <a:ext cx="304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350" b="1">
                <a:solidFill>
                  <a:srgbClr val="F3FBF7"/>
                </a:solidFill>
                <a:latin typeface="Consolas"/>
                <a:ea typeface="Consolas"/>
                <a:cs typeface="Consolas"/>
              </a:defRPr>
            </a:pPr>
            <a:r>
              <a:rPr sz="4350" b="1">
                <a:solidFill>
                  <a:srgbClr val="F3FBF7"/>
                </a:solidFill>
                <a:latin typeface="Consolas"/>
                <a:ea typeface="Consolas"/>
                <a:cs typeface="Consolas"/>
              </a:rPr>
              <a:t>7 − 20</a:t>
            </a:r>
          </a:p>
        </p:txBody>
      </p:sp>
      <p:sp>
        <p:nvSpPr>
          <p:cNvPr id="7" name="">
            <a:extLst xmlns:a="http://schemas.openxmlformats.org/drawingml/2006/main">
              <a:ext uri="{FF2B5EF4-FFF2-40B4-BE49-F238E27FC236}">
                <a16:creationId xmlns:a16="http://schemas.microsoft.com/office/drawing/2014/main" id="{C5B1561F-220D-4DA4-936A-7CE508FE53BE}"/>
              </a:ext>
            </a:extLst>
          </p:cNvPr>
          <p:cNvSpPr>
            <a:spLocks xmlns:a="http://schemas.openxmlformats.org/drawingml/2006/main" noGrp="1"/>
          </p:cNvSpPr>
          <p:nvPr/>
        </p:nvSpPr>
        <p:spPr>
          <a:xfrm xmlns:a="http://schemas.openxmlformats.org/drawingml/2006/main">
            <a:off x="4095750" y="3286125"/>
            <a:ext cx="1095375" cy="2476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CFF042-41A2-4908-9D9C-409CB993ADCC}"/>
              </a:ext>
            </a:extLst>
          </p:cNvPr>
          <p:cNvSpPr>
            <a:spLocks xmlns:a="http://schemas.openxmlformats.org/drawingml/2006/main" noGrp="1"/>
          </p:cNvSpPr>
          <p:nvPr/>
        </p:nvSpPr>
        <p:spPr>
          <a:xfrm xmlns:a="http://schemas.openxmlformats.org/drawingml/2006/main">
            <a:off x="5524500" y="3000375"/>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4050" b="1">
                <a:solidFill>
                  <a:srgbClr val="FF8278"/>
                </a:solidFill>
                <a:latin typeface="Consolas"/>
                <a:ea typeface="Consolas"/>
                <a:cs typeface="Consolas"/>
              </a:defRPr>
            </a:pPr>
            <a:r>
              <a:rPr sz="4050" b="1">
                <a:solidFill>
                  <a:srgbClr val="FF8278"/>
                </a:solidFill>
                <a:latin typeface="Consolas"/>
                <a:ea typeface="Consolas"/>
                <a:cs typeface="Consolas"/>
              </a:rPr>
              <a:t>−13</a:t>
            </a:r>
          </a:p>
        </p:txBody>
      </p:sp>
      <p:sp>
        <p:nvSpPr>
          <p:cNvPr id="9" name="">
            <a:extLst xmlns:a="http://schemas.openxmlformats.org/drawingml/2006/main">
              <a:ext uri="{FF2B5EF4-FFF2-40B4-BE49-F238E27FC236}">
                <a16:creationId xmlns:a16="http://schemas.microsoft.com/office/drawing/2014/main" id="{5C996235-0FAC-479A-94AD-D8A8C813E3E4}"/>
              </a:ext>
            </a:extLst>
          </p:cNvPr>
          <p:cNvSpPr>
            <a:spLocks xmlns:a="http://schemas.openxmlformats.org/drawingml/2006/main" noGrp="1"/>
          </p:cNvSpPr>
          <p:nvPr/>
        </p:nvSpPr>
        <p:spPr>
          <a:xfrm xmlns:a="http://schemas.openxmlformats.org/drawingml/2006/main">
            <a:off x="5715000" y="3857625"/>
            <a:ext cx="142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8FA59D"/>
                </a:solidFill>
                <a:latin typeface="Segoe UI"/>
                <a:ea typeface="Segoe UI"/>
                <a:cs typeface="Segoe UI"/>
              </a:defRPr>
            </a:pPr>
            <a:r>
              <a:rPr sz="1350" b="0">
                <a:solidFill>
                  <a:srgbClr val="8FA59D"/>
                </a:solidFill>
                <a:latin typeface="Segoe UI"/>
                <a:ea typeface="Segoe UI"/>
                <a:cs typeface="Segoe UI"/>
              </a:rPr>
              <a:t>candidate</a:t>
            </a:r>
          </a:p>
        </p:txBody>
      </p:sp>
      <p:sp>
        <p:nvSpPr>
          <p:cNvPr id="10" name="">
            <a:extLst xmlns:a="http://schemas.openxmlformats.org/drawingml/2006/main">
              <a:ext uri="{FF2B5EF4-FFF2-40B4-BE49-F238E27FC236}">
                <a16:creationId xmlns:a16="http://schemas.microsoft.com/office/drawing/2014/main" id="{25906BAD-E206-4DD1-ADA5-6A21C61E1D7A}"/>
              </a:ext>
            </a:extLst>
          </p:cNvPr>
          <p:cNvSpPr>
            <a:spLocks xmlns:a="http://schemas.openxmlformats.org/drawingml/2006/main" noGrp="1"/>
          </p:cNvSpPr>
          <p:nvPr/>
        </p:nvSpPr>
        <p:spPr>
          <a:xfrm xmlns:a="http://schemas.openxmlformats.org/drawingml/2006/main">
            <a:off x="7524750" y="3286125"/>
            <a:ext cx="1095375" cy="247650"/>
          </a:xfrm>
          <a:prstGeom xmlns:a="http://schemas.openxmlformats.org/drawingml/2006/main" prst="rightArrow">
            <a:avLst/>
          </a:prstGeom>
          <a:solidFill xmlns:a="http://schemas.openxmlformats.org/drawingml/2006/main">
            <a:srgbClr val="F5B8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7CF7208-687B-4A19-A6D8-5FDCA7A770E9}"/>
              </a:ext>
            </a:extLst>
          </p:cNvPr>
          <p:cNvSpPr>
            <a:spLocks xmlns:a="http://schemas.openxmlformats.org/drawingml/2006/main" noGrp="1"/>
          </p:cNvSpPr>
          <p:nvPr/>
        </p:nvSpPr>
        <p:spPr>
          <a:xfrm xmlns:a="http://schemas.openxmlformats.org/drawingml/2006/main">
            <a:off x="9048750" y="2838450"/>
            <a:ext cx="1809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6000" b="1">
                <a:solidFill>
                  <a:srgbClr val="78F0B2"/>
                </a:solidFill>
                <a:latin typeface="Georgia"/>
                <a:ea typeface="Georgia"/>
                <a:cs typeface="Georgia"/>
              </a:defRPr>
            </a:pPr>
            <a:r>
              <a:rPr sz="6000" b="1">
                <a:solidFill>
                  <a:srgbClr val="78F0B2"/>
                </a:solidFill>
                <a:latin typeface="Georgia"/>
                <a:ea typeface="Georgia"/>
                <a:cs typeface="Georgia"/>
              </a:rPr>
              <a:t>0</a:t>
            </a:r>
          </a:p>
        </p:txBody>
      </p:sp>
      <p:sp>
        <p:nvSpPr>
          <p:cNvPr id="12" name="">
            <a:extLst xmlns:a="http://schemas.openxmlformats.org/drawingml/2006/main">
              <a:ext uri="{FF2B5EF4-FFF2-40B4-BE49-F238E27FC236}">
                <a16:creationId xmlns:a16="http://schemas.microsoft.com/office/drawing/2014/main" id="{C9722829-9522-42E1-8252-30D1E3225988}"/>
              </a:ext>
            </a:extLst>
          </p:cNvPr>
          <p:cNvSpPr>
            <a:spLocks xmlns:a="http://schemas.openxmlformats.org/drawingml/2006/main" noGrp="1"/>
          </p:cNvSpPr>
          <p:nvPr/>
        </p:nvSpPr>
        <p:spPr>
          <a:xfrm xmlns:a="http://schemas.openxmlformats.org/drawingml/2006/main">
            <a:off x="9048750" y="39814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350" b="0">
                <a:solidFill>
                  <a:srgbClr val="C6D5CF"/>
                </a:solidFill>
                <a:latin typeface="Segoe UI"/>
                <a:ea typeface="Segoe UI"/>
                <a:cs typeface="Segoe UI"/>
              </a:defRPr>
            </a:pPr>
            <a:r>
              <a:rPr sz="1350" b="0">
                <a:solidFill>
                  <a:srgbClr val="C6D5CF"/>
                </a:solidFill>
                <a:latin typeface="Segoe UI"/>
                <a:ea typeface="Segoe UI"/>
                <a:cs typeface="Segoe UI"/>
              </a:rPr>
              <a:t>stored state</a:t>
            </a:r>
          </a:p>
        </p:txBody>
      </p:sp>
      <p:sp>
        <p:nvSpPr>
          <p:cNvPr id="13" name="">
            <a:extLst xmlns:a="http://schemas.openxmlformats.org/drawingml/2006/main">
              <a:ext uri="{FF2B5EF4-FFF2-40B4-BE49-F238E27FC236}">
                <a16:creationId xmlns:a16="http://schemas.microsoft.com/office/drawing/2014/main" id="{DE2E61C3-811F-45C4-A1B4-B5D0E481FDF3}"/>
              </a:ext>
            </a:extLst>
          </p:cNvPr>
          <p:cNvSpPr>
            <a:spLocks xmlns:a="http://schemas.openxmlformats.org/drawingml/2006/main" noGrp="1"/>
          </p:cNvSpPr>
          <p:nvPr/>
        </p:nvSpPr>
        <p:spPr>
          <a:xfrm xmlns:a="http://schemas.openxmlformats.org/drawingml/2006/main">
            <a:off x="3048000" y="5048250"/>
            <a:ext cx="609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74D7FF"/>
                </a:solidFill>
                <a:latin typeface="Consolas"/>
                <a:ea typeface="Consolas"/>
                <a:cs typeface="Consolas"/>
              </a:defRPr>
            </a:pPr>
            <a:r>
              <a:rPr sz="1875" b="1">
                <a:solidFill>
                  <a:srgbClr val="74D7FF"/>
                </a:solidFill>
                <a:latin typeface="Consolas"/>
                <a:ea typeface="Consolas"/>
                <a:cs typeface="Consolas"/>
              </a:rPr>
              <a:t>std::max(0, points_ − amount)</a:t>
            </a:r>
          </a:p>
        </p:txBody>
      </p:sp>
    </p:spTree>
    <p:extLst>
      <p:ext uri="{BB962C8B-B14F-4D97-AF65-F5344CB8AC3E}">
        <p14:creationId xmlns:p14="http://schemas.microsoft.com/office/powerpoint/2010/main" val="2055568513"/>
      </p:ext>
    </p:extLst>
  </p:cSld>
</p:sld>
</file>

<file path=ppt/slides/slide16.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9" name="chrome-section-16">
            <a:extLst xmlns:a="http://schemas.openxmlformats.org/drawingml/2006/main">
              <a:ext uri="{FF2B5EF4-FFF2-40B4-BE49-F238E27FC236}">
                <a16:creationId xmlns:a16="http://schemas.microsoft.com/office/drawing/2014/main" id="{9B91A829-188E-4AC6-A302-3D1BBE24D603}"/>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PLAYERHEALTH · REJECTED TRANSITION</a:t>
            </a:r>
          </a:p>
        </p:txBody>
      </p:sp>
      <p:sp>
        <p:nvSpPr>
          <p:cNvPr id="2" name="chrome-number-16">
            <a:extLst xmlns:a="http://schemas.openxmlformats.org/drawingml/2006/main">
              <a:ext uri="{FF2B5EF4-FFF2-40B4-BE49-F238E27FC236}">
                <a16:creationId xmlns:a16="http://schemas.microsoft.com/office/drawing/2014/main" id="{0A424863-6478-4229-B985-45342C49436A}"/>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16</a:t>
            </a:r>
          </a:p>
        </p:txBody>
      </p:sp>
      <p:sp>
        <p:nvSpPr>
          <p:cNvPr id="3" name="slide-title-16">
            <a:extLst xmlns:a="http://schemas.openxmlformats.org/drawingml/2006/main">
              <a:ext uri="{FF2B5EF4-FFF2-40B4-BE49-F238E27FC236}">
                <a16:creationId xmlns:a16="http://schemas.microsoft.com/office/drawing/2014/main" id="{2D421B85-4F45-4851-AB73-AE4B1BAB8736}"/>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Invalid request: state unchanged</a:t>
            </a:r>
          </a:p>
        </p:txBody>
      </p:sp>
      <p:sp>
        <p:nvSpPr>
          <p:cNvPr id="4" name="title-rule-16">
            <a:extLst xmlns:a="http://schemas.openxmlformats.org/drawingml/2006/main">
              <a:ext uri="{FF2B5EF4-FFF2-40B4-BE49-F238E27FC236}">
                <a16:creationId xmlns:a16="http://schemas.microsoft.com/office/drawing/2014/main" id="{8EA178CE-A7FD-4CCD-8187-8FF2D6B1B9DE}"/>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6">
            <a:extLst xmlns:a="http://schemas.openxmlformats.org/drawingml/2006/main">
              <a:ext uri="{FF2B5EF4-FFF2-40B4-BE49-F238E27FC236}">
                <a16:creationId xmlns:a16="http://schemas.microsoft.com/office/drawing/2014/main" id="{DFDD8132-26CE-493A-828C-A10B15F1CB57}"/>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The negative-damage case is reasoned about; it is not shown program output.</a:t>
            </a:r>
          </a:p>
        </p:txBody>
      </p:sp>
      <p:sp>
        <p:nvSpPr>
          <p:cNvPr id="6" name="">
            <a:extLst xmlns:a="http://schemas.openxmlformats.org/drawingml/2006/main">
              <a:ext uri="{FF2B5EF4-FFF2-40B4-BE49-F238E27FC236}">
                <a16:creationId xmlns:a16="http://schemas.microsoft.com/office/drawing/2014/main" id="{0C539B3D-B079-452C-8935-E62E08E33E10}"/>
              </a:ext>
            </a:extLst>
          </p:cNvPr>
          <p:cNvSpPr>
            <a:spLocks xmlns:a="http://schemas.openxmlformats.org/drawingml/2006/main" noGrp="1"/>
          </p:cNvSpPr>
          <p:nvPr/>
        </p:nvSpPr>
        <p:spPr>
          <a:xfrm xmlns:a="http://schemas.openxmlformats.org/drawingml/2006/main">
            <a:off x="952500" y="3143250"/>
            <a:ext cx="2381250" cy="1066800"/>
          </a:xfrm>
          <a:prstGeom xmlns:a="http://schemas.openxmlformats.org/drawingml/2006/main" prst="roundRect">
            <a:avLst>
              <a:gd name="adj" fmla="val 14286"/>
            </a:avLst>
          </a:prstGeom>
          <a:solidFill xmlns:a="http://schemas.openxmlformats.org/drawingml/2006/main">
            <a:srgbClr val="0D251E"/>
          </a:solidFill>
          <a:ln xmlns:a="http://schemas.openxmlformats.org/drawingml/2006/main" w="19050">
            <a:solidFill>
              <a:srgbClr val="78F0B2"/>
            </a:solidFill>
            <a:prstDash val="solid"/>
          </a:ln>
        </p:spPr>
      </p:sp>
      <p:sp>
        <p:nvSpPr>
          <p:cNvPr id="7" name="">
            <a:extLst xmlns:a="http://schemas.openxmlformats.org/drawingml/2006/main">
              <a:ext uri="{FF2B5EF4-FFF2-40B4-BE49-F238E27FC236}">
                <a16:creationId xmlns:a16="http://schemas.microsoft.com/office/drawing/2014/main" id="{8486DD8D-9F5A-4846-B679-85C6DF5E3879}"/>
              </a:ext>
            </a:extLst>
          </p:cNvPr>
          <p:cNvSpPr>
            <a:spLocks xmlns:a="http://schemas.openxmlformats.org/drawingml/2006/main" noGrp="1"/>
          </p:cNvSpPr>
          <p:nvPr/>
        </p:nvSpPr>
        <p:spPr>
          <a:xfrm xmlns:a="http://schemas.openxmlformats.org/drawingml/2006/main">
            <a:off x="1104900" y="32956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valid object</a:t>
            </a:r>
          </a:p>
        </p:txBody>
      </p:sp>
      <p:sp>
        <p:nvSpPr>
          <p:cNvPr id="8" name="">
            <a:extLst xmlns:a="http://schemas.openxmlformats.org/drawingml/2006/main">
              <a:ext uri="{FF2B5EF4-FFF2-40B4-BE49-F238E27FC236}">
                <a16:creationId xmlns:a16="http://schemas.microsoft.com/office/drawing/2014/main" id="{2A73145B-2005-4EAE-BD2E-F8D8B6AFC5CC}"/>
              </a:ext>
            </a:extLst>
          </p:cNvPr>
          <p:cNvSpPr>
            <a:spLocks xmlns:a="http://schemas.openxmlformats.org/drawingml/2006/main" noGrp="1"/>
          </p:cNvSpPr>
          <p:nvPr/>
        </p:nvSpPr>
        <p:spPr>
          <a:xfrm xmlns:a="http://schemas.openxmlformats.org/drawingml/2006/main">
            <a:off x="1104900" y="36480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points_ = 7</a:t>
            </a:r>
          </a:p>
        </p:txBody>
      </p:sp>
      <p:sp>
        <p:nvSpPr>
          <p:cNvPr id="9" name="">
            <a:extLst xmlns:a="http://schemas.openxmlformats.org/drawingml/2006/main">
              <a:ext uri="{FF2B5EF4-FFF2-40B4-BE49-F238E27FC236}">
                <a16:creationId xmlns:a16="http://schemas.microsoft.com/office/drawing/2014/main" id="{162C141F-839F-4172-9283-8823FB8B8F39}"/>
              </a:ext>
            </a:extLst>
          </p:cNvPr>
          <p:cNvSpPr>
            <a:spLocks xmlns:a="http://schemas.openxmlformats.org/drawingml/2006/main" noGrp="1"/>
          </p:cNvSpPr>
          <p:nvPr/>
        </p:nvSpPr>
        <p:spPr>
          <a:xfrm xmlns:a="http://schemas.openxmlformats.org/drawingml/2006/main">
            <a:off x="3667125" y="3571875"/>
            <a:ext cx="1143000" cy="228600"/>
          </a:xfrm>
          <a:prstGeom xmlns:a="http://schemas.openxmlformats.org/drawingml/2006/main" prst="rightArrow">
            <a:avLst/>
          </a:prstGeom>
          <a:solidFill xmlns:a="http://schemas.openxmlformats.org/drawingml/2006/main">
            <a:srgbClr val="FF827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538023-CA9E-4205-B1BF-C232E7E7E27D}"/>
              </a:ext>
            </a:extLst>
          </p:cNvPr>
          <p:cNvSpPr>
            <a:spLocks xmlns:a="http://schemas.openxmlformats.org/drawingml/2006/main" noGrp="1"/>
          </p:cNvSpPr>
          <p:nvPr/>
        </p:nvSpPr>
        <p:spPr>
          <a:xfrm xmlns:a="http://schemas.openxmlformats.org/drawingml/2006/main">
            <a:off x="3333750" y="2886075"/>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F8278"/>
                </a:solidFill>
                <a:latin typeface="Consolas"/>
                <a:ea typeface="Consolas"/>
                <a:cs typeface="Consolas"/>
              </a:defRPr>
            </a:pPr>
            <a:r>
              <a:rPr sz="1500" b="1">
                <a:solidFill>
                  <a:srgbClr val="FF8278"/>
                </a:solidFill>
                <a:latin typeface="Consolas"/>
                <a:ea typeface="Consolas"/>
                <a:cs typeface="Consolas"/>
              </a:rPr>
              <a:t>take_damage(−2)</a:t>
            </a:r>
          </a:p>
        </p:txBody>
      </p:sp>
      <p:sp>
        <p:nvSpPr>
          <p:cNvPr id="11" name="">
            <a:extLst xmlns:a="http://schemas.openxmlformats.org/drawingml/2006/main">
              <a:ext uri="{FF2B5EF4-FFF2-40B4-BE49-F238E27FC236}">
                <a16:creationId xmlns:a16="http://schemas.microsoft.com/office/drawing/2014/main" id="{8AFDDF26-1795-4055-986A-7F9C7B6A37FC}"/>
              </a:ext>
            </a:extLst>
          </p:cNvPr>
          <p:cNvSpPr>
            <a:spLocks xmlns:a="http://schemas.openxmlformats.org/drawingml/2006/main" noGrp="1"/>
          </p:cNvSpPr>
          <p:nvPr/>
        </p:nvSpPr>
        <p:spPr>
          <a:xfrm xmlns:a="http://schemas.openxmlformats.org/drawingml/2006/main">
            <a:off x="5143500" y="3143250"/>
            <a:ext cx="2381250" cy="1066800"/>
          </a:xfrm>
          <a:prstGeom xmlns:a="http://schemas.openxmlformats.org/drawingml/2006/main" prst="roundRect">
            <a:avLst>
              <a:gd name="adj" fmla="val 14286"/>
            </a:avLst>
          </a:prstGeom>
          <a:solidFill xmlns:a="http://schemas.openxmlformats.org/drawingml/2006/main">
            <a:srgbClr val="0D251E"/>
          </a:solidFill>
          <a:ln xmlns:a="http://schemas.openxmlformats.org/drawingml/2006/main" w="19050">
            <a:solidFill>
              <a:srgbClr val="FF8278"/>
            </a:solidFill>
            <a:prstDash val="solid"/>
          </a:ln>
        </p:spPr>
      </p:sp>
      <p:sp>
        <p:nvSpPr>
          <p:cNvPr id="12" name="">
            <a:extLst xmlns:a="http://schemas.openxmlformats.org/drawingml/2006/main">
              <a:ext uri="{FF2B5EF4-FFF2-40B4-BE49-F238E27FC236}">
                <a16:creationId xmlns:a16="http://schemas.microsoft.com/office/drawing/2014/main" id="{D30F66A3-9E5A-4441-9340-D6AD83B13BC2}"/>
              </a:ext>
            </a:extLst>
          </p:cNvPr>
          <p:cNvSpPr>
            <a:spLocks xmlns:a="http://schemas.openxmlformats.org/drawingml/2006/main" noGrp="1"/>
          </p:cNvSpPr>
          <p:nvPr/>
        </p:nvSpPr>
        <p:spPr>
          <a:xfrm xmlns:a="http://schemas.openxmlformats.org/drawingml/2006/main">
            <a:off x="5295900" y="3295650"/>
            <a:ext cx="207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rejected</a:t>
            </a:r>
          </a:p>
        </p:txBody>
      </p:sp>
      <p:sp>
        <p:nvSpPr>
          <p:cNvPr id="13" name="">
            <a:extLst xmlns:a="http://schemas.openxmlformats.org/drawingml/2006/main">
              <a:ext uri="{FF2B5EF4-FFF2-40B4-BE49-F238E27FC236}">
                <a16:creationId xmlns:a16="http://schemas.microsoft.com/office/drawing/2014/main" id="{AC1D9B98-2D73-4F3B-AE88-04C6D8D2367E}"/>
              </a:ext>
            </a:extLst>
          </p:cNvPr>
          <p:cNvSpPr>
            <a:spLocks xmlns:a="http://schemas.openxmlformats.org/drawingml/2006/main" noGrp="1"/>
          </p:cNvSpPr>
          <p:nvPr/>
        </p:nvSpPr>
        <p:spPr>
          <a:xfrm xmlns:a="http://schemas.openxmlformats.org/drawingml/2006/main">
            <a:off x="5295900" y="3648075"/>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throw before mutation</a:t>
            </a:r>
          </a:p>
        </p:txBody>
      </p:sp>
      <p:sp>
        <p:nvSpPr>
          <p:cNvPr id="14" name="">
            <a:extLst xmlns:a="http://schemas.openxmlformats.org/drawingml/2006/main">
              <a:ext uri="{FF2B5EF4-FFF2-40B4-BE49-F238E27FC236}">
                <a16:creationId xmlns:a16="http://schemas.microsoft.com/office/drawing/2014/main" id="{DC4018EB-5CDD-4987-B882-5A13B39B6A41}"/>
              </a:ext>
            </a:extLst>
          </p:cNvPr>
          <p:cNvSpPr>
            <a:spLocks xmlns:a="http://schemas.openxmlformats.org/drawingml/2006/main" noGrp="1"/>
          </p:cNvSpPr>
          <p:nvPr/>
        </p:nvSpPr>
        <p:spPr>
          <a:xfrm xmlns:a="http://schemas.openxmlformats.org/drawingml/2006/main">
            <a:off x="7858125" y="3571875"/>
            <a:ext cx="1143000" cy="228600"/>
          </a:xfrm>
          <a:prstGeom xmlns:a="http://schemas.openxmlformats.org/drawingml/2006/main" prst="rightArrow">
            <a:avLst/>
          </a:prstGeom>
          <a:solidFill xmlns:a="http://schemas.openxmlformats.org/drawingml/2006/main">
            <a:srgbClr val="78F0B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83B7399-2DF5-4247-9B32-22C3EF930683}"/>
              </a:ext>
            </a:extLst>
          </p:cNvPr>
          <p:cNvSpPr>
            <a:spLocks xmlns:a="http://schemas.openxmlformats.org/drawingml/2006/main" noGrp="1"/>
          </p:cNvSpPr>
          <p:nvPr/>
        </p:nvSpPr>
        <p:spPr>
          <a:xfrm xmlns:a="http://schemas.openxmlformats.org/drawingml/2006/main">
            <a:off x="9334500" y="3143250"/>
            <a:ext cx="2095500" cy="1066800"/>
          </a:xfrm>
          <a:prstGeom xmlns:a="http://schemas.openxmlformats.org/drawingml/2006/main" prst="roundRect">
            <a:avLst>
              <a:gd name="adj" fmla="val 14286"/>
            </a:avLst>
          </a:prstGeom>
          <a:solidFill xmlns:a="http://schemas.openxmlformats.org/drawingml/2006/main">
            <a:srgbClr val="0D251E"/>
          </a:solidFill>
          <a:ln xmlns:a="http://schemas.openxmlformats.org/drawingml/2006/main" w="19050">
            <a:solidFill>
              <a:srgbClr val="78F0B2"/>
            </a:solidFill>
            <a:prstDash val="solid"/>
          </a:ln>
        </p:spPr>
      </p:sp>
      <p:sp>
        <p:nvSpPr>
          <p:cNvPr id="16" name="">
            <a:extLst xmlns:a="http://schemas.openxmlformats.org/drawingml/2006/main">
              <a:ext uri="{FF2B5EF4-FFF2-40B4-BE49-F238E27FC236}">
                <a16:creationId xmlns:a16="http://schemas.microsoft.com/office/drawing/2014/main" id="{A7BC3F28-3E1C-431E-956A-EEDD4422BC39}"/>
              </a:ext>
            </a:extLst>
          </p:cNvPr>
          <p:cNvSpPr>
            <a:spLocks xmlns:a="http://schemas.openxmlformats.org/drawingml/2006/main" noGrp="1"/>
          </p:cNvSpPr>
          <p:nvPr/>
        </p:nvSpPr>
        <p:spPr>
          <a:xfrm xmlns:a="http://schemas.openxmlformats.org/drawingml/2006/main">
            <a:off x="9486900" y="3295650"/>
            <a:ext cx="1790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same valid object</a:t>
            </a:r>
          </a:p>
        </p:txBody>
      </p:sp>
      <p:sp>
        <p:nvSpPr>
          <p:cNvPr id="17" name="">
            <a:extLst xmlns:a="http://schemas.openxmlformats.org/drawingml/2006/main">
              <a:ext uri="{FF2B5EF4-FFF2-40B4-BE49-F238E27FC236}">
                <a16:creationId xmlns:a16="http://schemas.microsoft.com/office/drawing/2014/main" id="{A62EC49D-85B6-4B3C-B249-23D846BB4760}"/>
              </a:ext>
            </a:extLst>
          </p:cNvPr>
          <p:cNvSpPr>
            <a:spLocks xmlns:a="http://schemas.openxmlformats.org/drawingml/2006/main" noGrp="1"/>
          </p:cNvSpPr>
          <p:nvPr/>
        </p:nvSpPr>
        <p:spPr>
          <a:xfrm xmlns:a="http://schemas.openxmlformats.org/drawingml/2006/main">
            <a:off x="9486900" y="3648075"/>
            <a:ext cx="1790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200" b="0">
                <a:solidFill>
                  <a:srgbClr val="C6D5CF"/>
                </a:solidFill>
                <a:latin typeface="Segoe UI"/>
                <a:ea typeface="Segoe UI"/>
                <a:cs typeface="Segoe UI"/>
              </a:defRPr>
            </a:pPr>
            <a:r>
              <a:rPr sz="1200" b="0">
                <a:solidFill>
                  <a:srgbClr val="C6D5CF"/>
                </a:solidFill>
                <a:latin typeface="Segoe UI"/>
                <a:ea typeface="Segoe UI"/>
                <a:cs typeface="Segoe UI"/>
              </a:rPr>
              <a:t>points_ = 7</a:t>
            </a:r>
          </a:p>
        </p:txBody>
      </p:sp>
      <p:sp>
        <p:nvSpPr>
          <p:cNvPr id="18" name="">
            <a:extLst xmlns:a="http://schemas.openxmlformats.org/drawingml/2006/main">
              <a:ext uri="{FF2B5EF4-FFF2-40B4-BE49-F238E27FC236}">
                <a16:creationId xmlns:a16="http://schemas.microsoft.com/office/drawing/2014/main" id="{63C059AC-1C45-4FBF-80A2-6F2B026F52C8}"/>
              </a:ext>
            </a:extLst>
          </p:cNvPr>
          <p:cNvSpPr>
            <a:spLocks xmlns:a="http://schemas.openxmlformats.org/drawingml/2006/main" noGrp="1"/>
          </p:cNvSpPr>
          <p:nvPr/>
        </p:nvSpPr>
        <p:spPr>
          <a:xfrm xmlns:a="http://schemas.openxmlformats.org/drawingml/2006/main">
            <a:off x="2905125" y="5095875"/>
            <a:ext cx="6381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950" b="1">
                <a:solidFill>
                  <a:srgbClr val="FFD989"/>
                </a:solidFill>
                <a:latin typeface="Georgia"/>
                <a:ea typeface="Georgia"/>
                <a:cs typeface="Georgia"/>
              </a:defRPr>
            </a:pPr>
            <a:r>
              <a:rPr sz="1950" b="1">
                <a:solidFill>
                  <a:srgbClr val="FFD989"/>
                </a:solidFill>
                <a:latin typeface="Georgia"/>
                <a:ea typeface="Georgia"/>
                <a:cs typeface="Georgia"/>
              </a:rPr>
              <a:t>Failure behaviour belongs in the state model.</a:t>
            </a:r>
          </a:p>
        </p:txBody>
      </p:sp>
    </p:spTree>
    <p:extLst>
      <p:ext uri="{BB962C8B-B14F-4D97-AF65-F5344CB8AC3E}">
        <p14:creationId xmlns:p14="http://schemas.microsoft.com/office/powerpoint/2010/main" val="1950065041"/>
      </p:ext>
    </p:extLst>
  </p:cSld>
</p:sld>
</file>

<file path=ppt/slides/slide17.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0" name="chrome-section-17">
            <a:extLst xmlns:a="http://schemas.openxmlformats.org/drawingml/2006/main">
              <a:ext uri="{FF2B5EF4-FFF2-40B4-BE49-F238E27FC236}">
                <a16:creationId xmlns:a16="http://schemas.microsoft.com/office/drawing/2014/main" id="{6B04CAD9-8F62-46CD-903E-3A72C6850BF5}"/>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ARCHITECTURE IS A REASONED RESTRICTION</a:t>
            </a:r>
          </a:p>
        </p:txBody>
      </p:sp>
      <p:sp>
        <p:nvSpPr>
          <p:cNvPr id="2" name="chrome-number-17">
            <a:extLst xmlns:a="http://schemas.openxmlformats.org/drawingml/2006/main">
              <a:ext uri="{FF2B5EF4-FFF2-40B4-BE49-F238E27FC236}">
                <a16:creationId xmlns:a16="http://schemas.microsoft.com/office/drawing/2014/main" id="{B07E5272-443E-427C-91E1-390518F16801}"/>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17</a:t>
            </a:r>
          </a:p>
        </p:txBody>
      </p:sp>
      <p:sp>
        <p:nvSpPr>
          <p:cNvPr id="3" name="slide-title-17">
            <a:extLst xmlns:a="http://schemas.openxmlformats.org/drawingml/2006/main">
              <a:ext uri="{FF2B5EF4-FFF2-40B4-BE49-F238E27FC236}">
                <a16:creationId xmlns:a16="http://schemas.microsoft.com/office/drawing/2014/main" id="{B3D72359-D56B-4BE4-B2AE-3D14D8278FD9}"/>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boundary earns its place</a:t>
            </a:r>
          </a:p>
        </p:txBody>
      </p:sp>
      <p:sp>
        <p:nvSpPr>
          <p:cNvPr id="4" name="title-rule-17">
            <a:extLst xmlns:a="http://schemas.openxmlformats.org/drawingml/2006/main">
              <a:ext uri="{FF2B5EF4-FFF2-40B4-BE49-F238E27FC236}">
                <a16:creationId xmlns:a16="http://schemas.microsoft.com/office/drawing/2014/main" id="{CF43C641-4B0F-40FD-AB0C-4280F199B58C}"/>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7">
            <a:extLst xmlns:a="http://schemas.openxmlformats.org/drawingml/2006/main">
              <a:ext uri="{FF2B5EF4-FFF2-40B4-BE49-F238E27FC236}">
                <a16:creationId xmlns:a16="http://schemas.microsoft.com/office/drawing/2014/main" id="{D391F32F-8C13-4193-8DB3-2A56A34F85F3}"/>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A class is useful here because every permitted change shares one rule.</a:t>
            </a:r>
          </a:p>
        </p:txBody>
      </p:sp>
      <p:sp>
        <p:nvSpPr>
          <p:cNvPr id="6" name="">
            <a:extLst xmlns:a="http://schemas.openxmlformats.org/drawingml/2006/main">
              <a:ext uri="{FF2B5EF4-FFF2-40B4-BE49-F238E27FC236}">
                <a16:creationId xmlns:a16="http://schemas.microsoft.com/office/drawing/2014/main" id="{B4E73163-39F3-4139-8C74-134C0CFD15FF}"/>
              </a:ext>
            </a:extLst>
          </p:cNvPr>
          <p:cNvSpPr>
            <a:spLocks xmlns:a="http://schemas.openxmlformats.org/drawingml/2006/main" noGrp="1"/>
          </p:cNvSpPr>
          <p:nvPr/>
        </p:nvSpPr>
        <p:spPr>
          <a:xfrm xmlns:a="http://schemas.openxmlformats.org/drawingml/2006/main">
            <a:off x="4857750" y="2857500"/>
            <a:ext cx="2381250" cy="2381250"/>
          </a:xfrm>
          <a:prstGeom xmlns:a="http://schemas.openxmlformats.org/drawingml/2006/main" prst="ellipse">
            <a:avLst/>
          </a:prstGeom>
          <a:solidFill xmlns:a="http://schemas.openxmlformats.org/drawingml/2006/main">
            <a:srgbClr val="0D251E"/>
          </a:solidFill>
          <a:ln xmlns:a="http://schemas.openxmlformats.org/drawingml/2006/main" w="19050">
            <a:solidFill>
              <a:srgbClr val="F5B84B"/>
            </a:solidFill>
            <a:prstDash val="solid"/>
          </a:ln>
        </p:spPr>
      </p:sp>
      <p:sp>
        <p:nvSpPr>
          <p:cNvPr id="7" name="">
            <a:extLst xmlns:a="http://schemas.openxmlformats.org/drawingml/2006/main">
              <a:ext uri="{FF2B5EF4-FFF2-40B4-BE49-F238E27FC236}">
                <a16:creationId xmlns:a16="http://schemas.microsoft.com/office/drawing/2014/main" id="{415BF9A1-E69C-4364-9C53-0BD1B3111A74}"/>
              </a:ext>
            </a:extLst>
          </p:cNvPr>
          <p:cNvSpPr>
            <a:spLocks xmlns:a="http://schemas.openxmlformats.org/drawingml/2006/main" noGrp="1"/>
          </p:cNvSpPr>
          <p:nvPr/>
        </p:nvSpPr>
        <p:spPr>
          <a:xfrm xmlns:a="http://schemas.openxmlformats.org/drawingml/2006/main">
            <a:off x="4857750" y="36671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250" b="1">
                <a:solidFill>
                  <a:srgbClr val="FFD989"/>
                </a:solidFill>
                <a:latin typeface="Georgia"/>
                <a:ea typeface="Georgia"/>
                <a:cs typeface="Georgia"/>
              </a:defRPr>
            </a:pPr>
            <a:r>
              <a:rPr sz="2250" b="1">
                <a:solidFill>
                  <a:srgbClr val="FFD989"/>
                </a:solidFill>
                <a:latin typeface="Georgia"/>
                <a:ea typeface="Georgia"/>
                <a:cs typeface="Georgia"/>
              </a:rPr>
              <a:t>PlayerHealth</a:t>
            </a:r>
          </a:p>
        </p:txBody>
      </p:sp>
      <p:sp>
        <p:nvSpPr>
          <p:cNvPr id="8" name="">
            <a:extLst xmlns:a="http://schemas.openxmlformats.org/drawingml/2006/main">
              <a:ext uri="{FF2B5EF4-FFF2-40B4-BE49-F238E27FC236}">
                <a16:creationId xmlns:a16="http://schemas.microsoft.com/office/drawing/2014/main" id="{DCCD9586-114B-4C5B-88D0-778FEA62AEC6}"/>
              </a:ext>
            </a:extLst>
          </p:cNvPr>
          <p:cNvSpPr>
            <a:spLocks xmlns:a="http://schemas.openxmlformats.org/drawingml/2006/main" noGrp="1"/>
          </p:cNvSpPr>
          <p:nvPr/>
        </p:nvSpPr>
        <p:spPr>
          <a:xfrm xmlns:a="http://schemas.openxmlformats.org/drawingml/2006/main">
            <a:off x="762000" y="2571750"/>
            <a:ext cx="2857500" cy="781050"/>
          </a:xfrm>
          <a:prstGeom xmlns:a="http://schemas.openxmlformats.org/drawingml/2006/main" prst="roundRect">
            <a:avLst>
              <a:gd name="adj" fmla="val 19512"/>
            </a:avLst>
          </a:prstGeom>
          <a:solidFill xmlns:a="http://schemas.openxmlformats.org/drawingml/2006/main">
            <a:srgbClr val="0D251E"/>
          </a:solidFill>
          <a:ln xmlns:a="http://schemas.openxmlformats.org/drawingml/2006/main" w="19050">
            <a:solidFill>
              <a:srgbClr val="78F0B2"/>
            </a:solidFill>
            <a:prstDash val="solid"/>
          </a:ln>
        </p:spPr>
      </p:sp>
      <p:sp>
        <p:nvSpPr>
          <p:cNvPr id="9" name="">
            <a:extLst xmlns:a="http://schemas.openxmlformats.org/drawingml/2006/main">
              <a:ext uri="{FF2B5EF4-FFF2-40B4-BE49-F238E27FC236}">
                <a16:creationId xmlns:a16="http://schemas.microsoft.com/office/drawing/2014/main" id="{580EBB02-53D5-4255-AFB0-947BDBBA481B}"/>
              </a:ext>
            </a:extLst>
          </p:cNvPr>
          <p:cNvSpPr>
            <a:spLocks xmlns:a="http://schemas.openxmlformats.org/drawingml/2006/main" noGrp="1"/>
          </p:cNvSpPr>
          <p:nvPr/>
        </p:nvSpPr>
        <p:spPr>
          <a:xfrm xmlns:a="http://schemas.openxmlformats.org/drawingml/2006/main">
            <a:off x="914400" y="27241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one invariant owner</a:t>
            </a:r>
          </a:p>
        </p:txBody>
      </p:sp>
      <p:sp>
        <p:nvSpPr>
          <p:cNvPr id="10" name="">
            <a:extLst xmlns:a="http://schemas.openxmlformats.org/drawingml/2006/main">
              <a:ext uri="{FF2B5EF4-FFF2-40B4-BE49-F238E27FC236}">
                <a16:creationId xmlns:a16="http://schemas.microsoft.com/office/drawing/2014/main" id="{31EB5A56-755C-4C0F-BD72-CCFDBC7B30B0}"/>
              </a:ext>
            </a:extLst>
          </p:cNvPr>
          <p:cNvSpPr>
            <a:spLocks xmlns:a="http://schemas.openxmlformats.org/drawingml/2006/main" noGrp="1"/>
          </p:cNvSpPr>
          <p:nvPr/>
        </p:nvSpPr>
        <p:spPr>
          <a:xfrm xmlns:a="http://schemas.openxmlformats.org/drawingml/2006/main">
            <a:off x="762000" y="4476750"/>
            <a:ext cx="2857500" cy="781050"/>
          </a:xfrm>
          <a:prstGeom xmlns:a="http://schemas.openxmlformats.org/drawingml/2006/main" prst="roundRect">
            <a:avLst>
              <a:gd name="adj" fmla="val 19512"/>
            </a:avLst>
          </a:prstGeom>
          <a:solidFill xmlns:a="http://schemas.openxmlformats.org/drawingml/2006/main">
            <a:srgbClr val="0D251E"/>
          </a:solidFill>
          <a:ln xmlns:a="http://schemas.openxmlformats.org/drawingml/2006/main" w="19050">
            <a:solidFill>
              <a:srgbClr val="74D7FF"/>
            </a:solidFill>
            <a:prstDash val="solid"/>
          </a:ln>
        </p:spPr>
      </p:sp>
      <p:sp>
        <p:nvSpPr>
          <p:cNvPr id="11" name="">
            <a:extLst xmlns:a="http://schemas.openxmlformats.org/drawingml/2006/main">
              <a:ext uri="{FF2B5EF4-FFF2-40B4-BE49-F238E27FC236}">
                <a16:creationId xmlns:a16="http://schemas.microsoft.com/office/drawing/2014/main" id="{EF936D73-FB11-47D9-8FBB-0B1079EB2D33}"/>
              </a:ext>
            </a:extLst>
          </p:cNvPr>
          <p:cNvSpPr>
            <a:spLocks xmlns:a="http://schemas.openxmlformats.org/drawingml/2006/main" noGrp="1"/>
          </p:cNvSpPr>
          <p:nvPr/>
        </p:nvSpPr>
        <p:spPr>
          <a:xfrm xmlns:a="http://schemas.openxmlformats.org/drawingml/2006/main">
            <a:off x="914400" y="46291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domain-language interface</a:t>
            </a:r>
          </a:p>
        </p:txBody>
      </p:sp>
      <p:sp>
        <p:nvSpPr>
          <p:cNvPr id="12" name="">
            <a:extLst xmlns:a="http://schemas.openxmlformats.org/drawingml/2006/main">
              <a:ext uri="{FF2B5EF4-FFF2-40B4-BE49-F238E27FC236}">
                <a16:creationId xmlns:a16="http://schemas.microsoft.com/office/drawing/2014/main" id="{4C6662A6-4EC3-4A95-A297-78DC1625643C}"/>
              </a:ext>
            </a:extLst>
          </p:cNvPr>
          <p:cNvSpPr>
            <a:spLocks xmlns:a="http://schemas.openxmlformats.org/drawingml/2006/main" noGrp="1"/>
          </p:cNvSpPr>
          <p:nvPr/>
        </p:nvSpPr>
        <p:spPr>
          <a:xfrm xmlns:a="http://schemas.openxmlformats.org/drawingml/2006/main">
            <a:off x="8572500" y="2571750"/>
            <a:ext cx="2857500" cy="781050"/>
          </a:xfrm>
          <a:prstGeom xmlns:a="http://schemas.openxmlformats.org/drawingml/2006/main" prst="roundRect">
            <a:avLst>
              <a:gd name="adj" fmla="val 19512"/>
            </a:avLst>
          </a:prstGeom>
          <a:solidFill xmlns:a="http://schemas.openxmlformats.org/drawingml/2006/main">
            <a:srgbClr val="0D251E"/>
          </a:solidFill>
          <a:ln xmlns:a="http://schemas.openxmlformats.org/drawingml/2006/main" w="19050">
            <a:solidFill>
              <a:srgbClr val="FF8278"/>
            </a:solidFill>
            <a:prstDash val="solid"/>
          </a:ln>
        </p:spPr>
      </p:sp>
      <p:sp>
        <p:nvSpPr>
          <p:cNvPr id="13" name="">
            <a:extLst xmlns:a="http://schemas.openxmlformats.org/drawingml/2006/main">
              <a:ext uri="{FF2B5EF4-FFF2-40B4-BE49-F238E27FC236}">
                <a16:creationId xmlns:a16="http://schemas.microsoft.com/office/drawing/2014/main" id="{4FE78D47-2D90-4EF4-A2AD-6C258CE17CBA}"/>
              </a:ext>
            </a:extLst>
          </p:cNvPr>
          <p:cNvSpPr>
            <a:spLocks xmlns:a="http://schemas.openxmlformats.org/drawingml/2006/main" noGrp="1"/>
          </p:cNvSpPr>
          <p:nvPr/>
        </p:nvSpPr>
        <p:spPr>
          <a:xfrm xmlns:a="http://schemas.openxmlformats.org/drawingml/2006/main">
            <a:off x="8724900" y="27241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failure near the cause</a:t>
            </a:r>
          </a:p>
        </p:txBody>
      </p:sp>
      <p:sp>
        <p:nvSpPr>
          <p:cNvPr id="14" name="">
            <a:extLst xmlns:a="http://schemas.openxmlformats.org/drawingml/2006/main">
              <a:ext uri="{FF2B5EF4-FFF2-40B4-BE49-F238E27FC236}">
                <a16:creationId xmlns:a16="http://schemas.microsoft.com/office/drawing/2014/main" id="{413329EE-0712-464A-B25E-BBC60181CE2E}"/>
              </a:ext>
            </a:extLst>
          </p:cNvPr>
          <p:cNvSpPr>
            <a:spLocks xmlns:a="http://schemas.openxmlformats.org/drawingml/2006/main" noGrp="1"/>
          </p:cNvSpPr>
          <p:nvPr/>
        </p:nvSpPr>
        <p:spPr>
          <a:xfrm xmlns:a="http://schemas.openxmlformats.org/drawingml/2006/main">
            <a:off x="8572500" y="4476750"/>
            <a:ext cx="2857500" cy="781050"/>
          </a:xfrm>
          <a:prstGeom xmlns:a="http://schemas.openxmlformats.org/drawingml/2006/main" prst="roundRect">
            <a:avLst>
              <a:gd name="adj" fmla="val 19512"/>
            </a:avLst>
          </a:prstGeom>
          <a:solidFill xmlns:a="http://schemas.openxmlformats.org/drawingml/2006/main">
            <a:srgbClr val="0D251E"/>
          </a:solidFill>
          <a:ln xmlns:a="http://schemas.openxmlformats.org/drawingml/2006/main" w="19050">
            <a:solidFill>
              <a:srgbClr val="F5B84B"/>
            </a:solidFill>
            <a:prstDash val="solid"/>
          </a:ln>
        </p:spPr>
      </p:sp>
      <p:sp>
        <p:nvSpPr>
          <p:cNvPr id="15" name="">
            <a:extLst xmlns:a="http://schemas.openxmlformats.org/drawingml/2006/main">
              <a:ext uri="{FF2B5EF4-FFF2-40B4-BE49-F238E27FC236}">
                <a16:creationId xmlns:a16="http://schemas.microsoft.com/office/drawing/2014/main" id="{E07B0026-7283-46BD-9490-C70ACB6AC888}"/>
              </a:ext>
            </a:extLst>
          </p:cNvPr>
          <p:cNvSpPr>
            <a:spLocks xmlns:a="http://schemas.openxmlformats.org/drawingml/2006/main" noGrp="1"/>
          </p:cNvSpPr>
          <p:nvPr/>
        </p:nvSpPr>
        <p:spPr>
          <a:xfrm xmlns:a="http://schemas.openxmlformats.org/drawingml/2006/main">
            <a:off x="8724900" y="4629150"/>
            <a:ext cx="25527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1">
                <a:solidFill>
                  <a:srgbClr val="F3FBF7"/>
                </a:solidFill>
                <a:latin typeface="Segoe UI"/>
                <a:ea typeface="Segoe UI"/>
                <a:cs typeface="Segoe UI"/>
              </a:defRPr>
            </a:pPr>
            <a:r>
              <a:rPr sz="1500" b="1">
                <a:solidFill>
                  <a:srgbClr val="F3FBF7"/>
                </a:solidFill>
                <a:latin typeface="Segoe UI"/>
                <a:ea typeface="Segoe UI"/>
                <a:cs typeface="Segoe UI"/>
              </a:rPr>
              <a:t>replaceable representation</a:t>
            </a:r>
          </a:p>
        </p:txBody>
      </p:sp>
      <p:sp>
        <p:nvSpPr>
          <p:cNvPr id="16" name="">
            <a:extLst xmlns:a="http://schemas.openxmlformats.org/drawingml/2006/main">
              <a:ext uri="{FF2B5EF4-FFF2-40B4-BE49-F238E27FC236}">
                <a16:creationId xmlns:a16="http://schemas.microsoft.com/office/drawing/2014/main" id="{2414812E-3FC9-4519-9D6E-295E2A772AAF}"/>
              </a:ext>
            </a:extLst>
          </p:cNvPr>
          <p:cNvSpPr>
            <a:spLocks xmlns:a="http://schemas.openxmlformats.org/drawingml/2006/main" noGrp="1"/>
          </p:cNvSpPr>
          <p:nvPr/>
        </p:nvSpPr>
        <p:spPr>
          <a:xfrm xmlns:a="http://schemas.openxmlformats.org/drawingml/2006/main">
            <a:off x="3619500" y="2952750"/>
            <a:ext cx="1238250" cy="6191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7" name="">
            <a:extLst xmlns:a="http://schemas.openxmlformats.org/drawingml/2006/main">
              <a:ext uri="{FF2B5EF4-FFF2-40B4-BE49-F238E27FC236}">
                <a16:creationId xmlns:a16="http://schemas.microsoft.com/office/drawing/2014/main" id="{1564FCFF-D8C2-418A-A4B6-1FD4EAC41276}"/>
              </a:ext>
            </a:extLst>
          </p:cNvPr>
          <p:cNvSpPr>
            <a:spLocks xmlns:a="http://schemas.openxmlformats.org/drawingml/2006/main" noGrp="1"/>
          </p:cNvSpPr>
          <p:nvPr/>
        </p:nvSpPr>
        <p:spPr>
          <a:xfrm xmlns:a="http://schemas.openxmlformats.org/drawingml/2006/main">
            <a:off x="3619500" y="4238625"/>
            <a:ext cx="1238250" cy="6191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8" name="">
            <a:extLst xmlns:a="http://schemas.openxmlformats.org/drawingml/2006/main">
              <a:ext uri="{FF2B5EF4-FFF2-40B4-BE49-F238E27FC236}">
                <a16:creationId xmlns:a16="http://schemas.microsoft.com/office/drawing/2014/main" id="{81B74777-1DF5-4C10-9E2C-C1DEE8D4E0EE}"/>
              </a:ext>
            </a:extLst>
          </p:cNvPr>
          <p:cNvSpPr>
            <a:spLocks xmlns:a="http://schemas.openxmlformats.org/drawingml/2006/main" noGrp="1"/>
          </p:cNvSpPr>
          <p:nvPr/>
        </p:nvSpPr>
        <p:spPr>
          <a:xfrm xmlns:a="http://schemas.openxmlformats.org/drawingml/2006/main">
            <a:off x="7239000" y="2952750"/>
            <a:ext cx="1333500" cy="6191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9" name="">
            <a:extLst xmlns:a="http://schemas.openxmlformats.org/drawingml/2006/main">
              <a:ext uri="{FF2B5EF4-FFF2-40B4-BE49-F238E27FC236}">
                <a16:creationId xmlns:a16="http://schemas.microsoft.com/office/drawing/2014/main" id="{208A11EF-CCA2-4AB1-8AF9-F387C47BBEC8}"/>
              </a:ext>
            </a:extLst>
          </p:cNvPr>
          <p:cNvSpPr>
            <a:spLocks xmlns:a="http://schemas.openxmlformats.org/drawingml/2006/main" noGrp="1"/>
          </p:cNvSpPr>
          <p:nvPr/>
        </p:nvSpPr>
        <p:spPr>
          <a:xfrm xmlns:a="http://schemas.openxmlformats.org/drawingml/2006/main">
            <a:off x="7239000" y="4238625"/>
            <a:ext cx="1333500" cy="6191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Tree>
    <p:extLst>
      <p:ext uri="{BB962C8B-B14F-4D97-AF65-F5344CB8AC3E}">
        <p14:creationId xmlns:p14="http://schemas.microsoft.com/office/powerpoint/2010/main" val="579854853"/>
      </p:ext>
    </p:extLst>
  </p:cSld>
</p:sld>
</file>

<file path=ppt/slides/slide18.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2" name="chrome-section-18">
            <a:extLst xmlns:a="http://schemas.openxmlformats.org/drawingml/2006/main">
              <a:ext uri="{FF2B5EF4-FFF2-40B4-BE49-F238E27FC236}">
                <a16:creationId xmlns:a16="http://schemas.microsoft.com/office/drawing/2014/main" id="{6EEBF4D9-66D5-4753-87FC-1DF415EC6256}"/>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EVIDENCE · CLAIMS AND LIMITS</a:t>
            </a:r>
          </a:p>
        </p:txBody>
      </p:sp>
      <p:sp>
        <p:nvSpPr>
          <p:cNvPr id="2" name="chrome-number-18">
            <a:extLst xmlns:a="http://schemas.openxmlformats.org/drawingml/2006/main">
              <a:ext uri="{FF2B5EF4-FFF2-40B4-BE49-F238E27FC236}">
                <a16:creationId xmlns:a16="http://schemas.microsoft.com/office/drawing/2014/main" id="{E338A9C3-B6FF-4650-BCA8-ABF854CC79B9}"/>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18</a:t>
            </a:r>
          </a:p>
        </p:txBody>
      </p:sp>
      <p:sp>
        <p:nvSpPr>
          <p:cNvPr id="3" name="slide-title-18">
            <a:extLst xmlns:a="http://schemas.openxmlformats.org/drawingml/2006/main">
              <a:ext uri="{FF2B5EF4-FFF2-40B4-BE49-F238E27FC236}">
                <a16:creationId xmlns:a16="http://schemas.microsoft.com/office/drawing/2014/main" id="{1B670B6C-B86E-4F50-AAF7-190B698EF656}"/>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What do the output and assertions establish?</a:t>
            </a:r>
          </a:p>
        </p:txBody>
      </p:sp>
      <p:sp>
        <p:nvSpPr>
          <p:cNvPr id="4" name="title-rule-18">
            <a:extLst xmlns:a="http://schemas.openxmlformats.org/drawingml/2006/main">
              <a:ext uri="{FF2B5EF4-FFF2-40B4-BE49-F238E27FC236}">
                <a16:creationId xmlns:a16="http://schemas.microsoft.com/office/drawing/2014/main" id="{5E81E806-0165-4C22-A8F2-12FAB70DF5CC}"/>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8">
            <a:extLst xmlns:a="http://schemas.openxmlformats.org/drawingml/2006/main">
              <a:ext uri="{FF2B5EF4-FFF2-40B4-BE49-F238E27FC236}">
                <a16:creationId xmlns:a16="http://schemas.microsoft.com/office/drawing/2014/main" id="{E9052584-6FD0-48E3-AB13-7A4CFF58DF63}"/>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Give the observation its correct boundary.</a:t>
            </a:r>
          </a:p>
        </p:txBody>
      </p:sp>
      <p:sp>
        <p:nvSpPr>
          <p:cNvPr id="6" name="">
            <a:extLst xmlns:a="http://schemas.openxmlformats.org/drawingml/2006/main">
              <a:ext uri="{FF2B5EF4-FFF2-40B4-BE49-F238E27FC236}">
                <a16:creationId xmlns:a16="http://schemas.microsoft.com/office/drawing/2014/main" id="{DBAD2AFC-D225-4E2F-B341-90EED45215E2}"/>
              </a:ext>
            </a:extLst>
          </p:cNvPr>
          <p:cNvSpPr>
            <a:spLocks xmlns:a="http://schemas.openxmlformats.org/drawingml/2006/main" noGrp="1"/>
          </p:cNvSpPr>
          <p:nvPr/>
        </p:nvSpPr>
        <p:spPr>
          <a:xfrm xmlns:a="http://schemas.openxmlformats.org/drawingml/2006/main">
            <a:off x="876300" y="24765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78F0B2"/>
                </a:solidFill>
                <a:latin typeface="Consolas"/>
                <a:ea typeface="Consolas"/>
                <a:cs typeface="Consolas"/>
              </a:defRPr>
            </a:pPr>
            <a:r>
              <a:rPr sz="1350" b="1">
                <a:solidFill>
                  <a:srgbClr val="78F0B2"/>
                </a:solidFill>
                <a:latin typeface="Consolas"/>
                <a:ea typeface="Consolas"/>
                <a:cs typeface="Consolas"/>
              </a:rPr>
              <a:t>SUPPORTS</a:t>
            </a:r>
          </a:p>
        </p:txBody>
      </p:sp>
      <p:sp>
        <p:nvSpPr>
          <p:cNvPr id="7" name="">
            <a:extLst xmlns:a="http://schemas.openxmlformats.org/drawingml/2006/main">
              <a:ext uri="{FF2B5EF4-FFF2-40B4-BE49-F238E27FC236}">
                <a16:creationId xmlns:a16="http://schemas.microsoft.com/office/drawing/2014/main" id="{4A11026D-0A24-44D2-A168-775D6022658D}"/>
              </a:ext>
            </a:extLst>
          </p:cNvPr>
          <p:cNvSpPr>
            <a:spLocks xmlns:a="http://schemas.openxmlformats.org/drawingml/2006/main" noGrp="1"/>
          </p:cNvSpPr>
          <p:nvPr/>
        </p:nvSpPr>
        <p:spPr>
          <a:xfrm xmlns:a="http://schemas.openxmlformats.org/drawingml/2006/main">
            <a:off x="914400" y="3143250"/>
            <a:ext cx="76200" cy="76200"/>
          </a:xfrm>
          <a:prstGeom xmlns:a="http://schemas.openxmlformats.org/drawingml/2006/main" prst="ellipse">
            <a:avLst/>
          </a:prstGeom>
          <a:solidFill xmlns:a="http://schemas.openxmlformats.org/drawingml/2006/main">
            <a:srgbClr val="78F0B2"/>
          </a:solidFill>
          <a:ln xmlns:a="http://schemas.openxmlformats.org/drawingml/2006/main" w="19050">
            <a:solidFill>
              <a:srgbClr val="78F0B2"/>
            </a:solidFill>
            <a:prstDash val="solid"/>
          </a:ln>
        </p:spPr>
      </p:sp>
      <p:sp>
        <p:nvSpPr>
          <p:cNvPr id="8" name="">
            <a:extLst xmlns:a="http://schemas.openxmlformats.org/drawingml/2006/main">
              <a:ext uri="{FF2B5EF4-FFF2-40B4-BE49-F238E27FC236}">
                <a16:creationId xmlns:a16="http://schemas.microsoft.com/office/drawing/2014/main" id="{7B34CB84-0397-4FEE-989F-C88DA021905E}"/>
              </a:ext>
            </a:extLst>
          </p:cNvPr>
          <p:cNvSpPr>
            <a:spLocks xmlns:a="http://schemas.openxmlformats.org/drawingml/2006/main" noGrp="1"/>
          </p:cNvSpPr>
          <p:nvPr/>
        </p:nvSpPr>
        <p:spPr>
          <a:xfrm xmlns:a="http://schemas.openxmlformats.org/drawingml/2006/main">
            <a:off x="1123950" y="3048000"/>
            <a:ext cx="417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construction with 10</a:t>
            </a:r>
          </a:p>
        </p:txBody>
      </p:sp>
      <p:sp>
        <p:nvSpPr>
          <p:cNvPr id="9" name="">
            <a:extLst xmlns:a="http://schemas.openxmlformats.org/drawingml/2006/main">
              <a:ext uri="{FF2B5EF4-FFF2-40B4-BE49-F238E27FC236}">
                <a16:creationId xmlns:a16="http://schemas.microsoft.com/office/drawing/2014/main" id="{3BE81E6E-48ED-45C0-BF36-96FCFC06D480}"/>
              </a:ext>
            </a:extLst>
          </p:cNvPr>
          <p:cNvSpPr>
            <a:spLocks xmlns:a="http://schemas.openxmlformats.org/drawingml/2006/main" noGrp="1"/>
          </p:cNvSpPr>
          <p:nvPr/>
        </p:nvSpPr>
        <p:spPr>
          <a:xfrm xmlns:a="http://schemas.openxmlformats.org/drawingml/2006/main">
            <a:off x="914400" y="3762375"/>
            <a:ext cx="76200" cy="76200"/>
          </a:xfrm>
          <a:prstGeom xmlns:a="http://schemas.openxmlformats.org/drawingml/2006/main" prst="ellipse">
            <a:avLst/>
          </a:prstGeom>
          <a:solidFill xmlns:a="http://schemas.openxmlformats.org/drawingml/2006/main">
            <a:srgbClr val="78F0B2"/>
          </a:solidFill>
          <a:ln xmlns:a="http://schemas.openxmlformats.org/drawingml/2006/main" w="19050">
            <a:solidFill>
              <a:srgbClr val="78F0B2"/>
            </a:solidFill>
            <a:prstDash val="solid"/>
          </a:ln>
        </p:spPr>
      </p:sp>
      <p:sp>
        <p:nvSpPr>
          <p:cNvPr id="10" name="">
            <a:extLst xmlns:a="http://schemas.openxmlformats.org/drawingml/2006/main">
              <a:ext uri="{FF2B5EF4-FFF2-40B4-BE49-F238E27FC236}">
                <a16:creationId xmlns:a16="http://schemas.microsoft.com/office/drawing/2014/main" id="{7F5AC555-E56A-45AE-A04E-8E28518CB1BF}"/>
              </a:ext>
            </a:extLst>
          </p:cNvPr>
          <p:cNvSpPr>
            <a:spLocks xmlns:a="http://schemas.openxmlformats.org/drawingml/2006/main" noGrp="1"/>
          </p:cNvSpPr>
          <p:nvPr/>
        </p:nvSpPr>
        <p:spPr>
          <a:xfrm xmlns:a="http://schemas.openxmlformats.org/drawingml/2006/main">
            <a:off x="1123950" y="3667125"/>
            <a:ext cx="417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10 → 7 on one call</a:t>
            </a:r>
          </a:p>
        </p:txBody>
      </p:sp>
      <p:sp>
        <p:nvSpPr>
          <p:cNvPr id="11" name="">
            <a:extLst xmlns:a="http://schemas.openxmlformats.org/drawingml/2006/main">
              <a:ext uri="{FF2B5EF4-FFF2-40B4-BE49-F238E27FC236}">
                <a16:creationId xmlns:a16="http://schemas.microsoft.com/office/drawing/2014/main" id="{E416E45A-758B-46BB-AC02-FE619D801264}"/>
              </a:ext>
            </a:extLst>
          </p:cNvPr>
          <p:cNvSpPr>
            <a:spLocks xmlns:a="http://schemas.openxmlformats.org/drawingml/2006/main" noGrp="1"/>
          </p:cNvSpPr>
          <p:nvPr/>
        </p:nvSpPr>
        <p:spPr>
          <a:xfrm xmlns:a="http://schemas.openxmlformats.org/drawingml/2006/main">
            <a:off x="914400" y="4381500"/>
            <a:ext cx="76200" cy="76200"/>
          </a:xfrm>
          <a:prstGeom xmlns:a="http://schemas.openxmlformats.org/drawingml/2006/main" prst="ellipse">
            <a:avLst/>
          </a:prstGeom>
          <a:solidFill xmlns:a="http://schemas.openxmlformats.org/drawingml/2006/main">
            <a:srgbClr val="78F0B2"/>
          </a:solidFill>
          <a:ln xmlns:a="http://schemas.openxmlformats.org/drawingml/2006/main" w="19050">
            <a:solidFill>
              <a:srgbClr val="78F0B2"/>
            </a:solidFill>
            <a:prstDash val="solid"/>
          </a:ln>
        </p:spPr>
      </p:sp>
      <p:sp>
        <p:nvSpPr>
          <p:cNvPr id="12" name="">
            <a:extLst xmlns:a="http://schemas.openxmlformats.org/drawingml/2006/main">
              <a:ext uri="{FF2B5EF4-FFF2-40B4-BE49-F238E27FC236}">
                <a16:creationId xmlns:a16="http://schemas.microsoft.com/office/drawing/2014/main" id="{94B66AAB-0A9E-4AC5-AAF7-6B86D1C04B3F}"/>
              </a:ext>
            </a:extLst>
          </p:cNvPr>
          <p:cNvSpPr>
            <a:spLocks xmlns:a="http://schemas.openxmlformats.org/drawingml/2006/main" noGrp="1"/>
          </p:cNvSpPr>
          <p:nvPr/>
        </p:nvSpPr>
        <p:spPr>
          <a:xfrm xmlns:a="http://schemas.openxmlformats.org/drawingml/2006/main">
            <a:off x="1123950" y="4286250"/>
            <a:ext cx="41719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7 → 0 on one call</a:t>
            </a:r>
          </a:p>
        </p:txBody>
      </p:sp>
      <p:sp>
        <p:nvSpPr>
          <p:cNvPr id="13" name="">
            <a:extLst xmlns:a="http://schemas.openxmlformats.org/drawingml/2006/main">
              <a:ext uri="{FF2B5EF4-FFF2-40B4-BE49-F238E27FC236}">
                <a16:creationId xmlns:a16="http://schemas.microsoft.com/office/drawing/2014/main" id="{138E9C05-2917-4E0E-9EAC-B7C8ACF092E7}"/>
              </a:ext>
            </a:extLst>
          </p:cNvPr>
          <p:cNvSpPr>
            <a:spLocks xmlns:a="http://schemas.openxmlformats.org/drawingml/2006/main" noGrp="1"/>
          </p:cNvSpPr>
          <p:nvPr/>
        </p:nvSpPr>
        <p:spPr>
          <a:xfrm xmlns:a="http://schemas.openxmlformats.org/drawingml/2006/main">
            <a:off x="5905500" y="2476500"/>
            <a:ext cx="9525" cy="2857500"/>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4" name="">
            <a:extLst xmlns:a="http://schemas.openxmlformats.org/drawingml/2006/main">
              <a:ext uri="{FF2B5EF4-FFF2-40B4-BE49-F238E27FC236}">
                <a16:creationId xmlns:a16="http://schemas.microsoft.com/office/drawing/2014/main" id="{50A38829-DC4B-4F37-9E72-7C4450065222}"/>
              </a:ext>
            </a:extLst>
          </p:cNvPr>
          <p:cNvSpPr>
            <a:spLocks xmlns:a="http://schemas.openxmlformats.org/drawingml/2006/main" noGrp="1"/>
          </p:cNvSpPr>
          <p:nvPr/>
        </p:nvSpPr>
        <p:spPr>
          <a:xfrm xmlns:a="http://schemas.openxmlformats.org/drawingml/2006/main">
            <a:off x="6524625" y="24765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8278"/>
                </a:solidFill>
                <a:latin typeface="Consolas"/>
                <a:ea typeface="Consolas"/>
                <a:cs typeface="Consolas"/>
              </a:defRPr>
            </a:pPr>
            <a:r>
              <a:rPr sz="1350" b="1">
                <a:solidFill>
                  <a:srgbClr val="FF8278"/>
                </a:solidFill>
                <a:latin typeface="Consolas"/>
                <a:ea typeface="Consolas"/>
                <a:cs typeface="Consolas"/>
              </a:rPr>
              <a:t>DOES NOT YET SUPPORT</a:t>
            </a:r>
          </a:p>
        </p:txBody>
      </p:sp>
      <p:sp>
        <p:nvSpPr>
          <p:cNvPr id="15" name="">
            <a:extLst xmlns:a="http://schemas.openxmlformats.org/drawingml/2006/main">
              <a:ext uri="{FF2B5EF4-FFF2-40B4-BE49-F238E27FC236}">
                <a16:creationId xmlns:a16="http://schemas.microsoft.com/office/drawing/2014/main" id="{C2BB7668-5B31-49F1-ABE8-1C8B0B177F78}"/>
              </a:ext>
            </a:extLst>
          </p:cNvPr>
          <p:cNvSpPr>
            <a:spLocks xmlns:a="http://schemas.openxmlformats.org/drawingml/2006/main" noGrp="1"/>
          </p:cNvSpPr>
          <p:nvPr/>
        </p:nvSpPr>
        <p:spPr>
          <a:xfrm xmlns:a="http://schemas.openxmlformats.org/drawingml/2006/main">
            <a:off x="6524625" y="3143250"/>
            <a:ext cx="76200" cy="76200"/>
          </a:xfrm>
          <a:prstGeom xmlns:a="http://schemas.openxmlformats.org/drawingml/2006/main" prst="ellipse">
            <a:avLst/>
          </a:prstGeom>
          <a:solidFill xmlns:a="http://schemas.openxmlformats.org/drawingml/2006/main">
            <a:srgbClr val="FF8278"/>
          </a:solidFill>
          <a:ln xmlns:a="http://schemas.openxmlformats.org/drawingml/2006/main" w="19050">
            <a:solidFill>
              <a:srgbClr val="FF8278"/>
            </a:solidFill>
            <a:prstDash val="solid"/>
          </a:ln>
        </p:spPr>
      </p:sp>
      <p:sp>
        <p:nvSpPr>
          <p:cNvPr id="16" name="">
            <a:extLst xmlns:a="http://schemas.openxmlformats.org/drawingml/2006/main">
              <a:ext uri="{FF2B5EF4-FFF2-40B4-BE49-F238E27FC236}">
                <a16:creationId xmlns:a16="http://schemas.microsoft.com/office/drawing/2014/main" id="{DF42B25B-9D02-45E6-A821-3709F671416D}"/>
              </a:ext>
            </a:extLst>
          </p:cNvPr>
          <p:cNvSpPr>
            <a:spLocks xmlns:a="http://schemas.openxmlformats.org/drawingml/2006/main" noGrp="1"/>
          </p:cNvSpPr>
          <p:nvPr/>
        </p:nvSpPr>
        <p:spPr>
          <a:xfrm xmlns:a="http://schemas.openxmlformats.org/drawingml/2006/main">
            <a:off x="6734175" y="304800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invalid construction</a:t>
            </a:r>
          </a:p>
        </p:txBody>
      </p:sp>
      <p:sp>
        <p:nvSpPr>
          <p:cNvPr id="17" name="">
            <a:extLst xmlns:a="http://schemas.openxmlformats.org/drawingml/2006/main">
              <a:ext uri="{FF2B5EF4-FFF2-40B4-BE49-F238E27FC236}">
                <a16:creationId xmlns:a16="http://schemas.microsoft.com/office/drawing/2014/main" id="{12007212-CF07-459D-9272-1979A732EA0B}"/>
              </a:ext>
            </a:extLst>
          </p:cNvPr>
          <p:cNvSpPr>
            <a:spLocks xmlns:a="http://schemas.openxmlformats.org/drawingml/2006/main" noGrp="1"/>
          </p:cNvSpPr>
          <p:nvPr/>
        </p:nvSpPr>
        <p:spPr>
          <a:xfrm xmlns:a="http://schemas.openxmlformats.org/drawingml/2006/main">
            <a:off x="6524625" y="3762375"/>
            <a:ext cx="76200" cy="76200"/>
          </a:xfrm>
          <a:prstGeom xmlns:a="http://schemas.openxmlformats.org/drawingml/2006/main" prst="ellipse">
            <a:avLst/>
          </a:prstGeom>
          <a:solidFill xmlns:a="http://schemas.openxmlformats.org/drawingml/2006/main">
            <a:srgbClr val="FF8278"/>
          </a:solidFill>
          <a:ln xmlns:a="http://schemas.openxmlformats.org/drawingml/2006/main" w="19050">
            <a:solidFill>
              <a:srgbClr val="FF8278"/>
            </a:solidFill>
            <a:prstDash val="solid"/>
          </a:ln>
        </p:spPr>
      </p:sp>
      <p:sp>
        <p:nvSpPr>
          <p:cNvPr id="18" name="">
            <a:extLst xmlns:a="http://schemas.openxmlformats.org/drawingml/2006/main">
              <a:ext uri="{FF2B5EF4-FFF2-40B4-BE49-F238E27FC236}">
                <a16:creationId xmlns:a16="http://schemas.microsoft.com/office/drawing/2014/main" id="{0FE8A62B-2524-476C-8B6D-3B470C94E7D9}"/>
              </a:ext>
            </a:extLst>
          </p:cNvPr>
          <p:cNvSpPr>
            <a:spLocks xmlns:a="http://schemas.openxmlformats.org/drawingml/2006/main" noGrp="1"/>
          </p:cNvSpPr>
          <p:nvPr/>
        </p:nvSpPr>
        <p:spPr>
          <a:xfrm xmlns:a="http://schemas.openxmlformats.org/drawingml/2006/main">
            <a:off x="6734175" y="3667125"/>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negative-damage execution</a:t>
            </a:r>
          </a:p>
        </p:txBody>
      </p:sp>
      <p:sp>
        <p:nvSpPr>
          <p:cNvPr id="19" name="">
            <a:extLst xmlns:a="http://schemas.openxmlformats.org/drawingml/2006/main">
              <a:ext uri="{FF2B5EF4-FFF2-40B4-BE49-F238E27FC236}">
                <a16:creationId xmlns:a16="http://schemas.microsoft.com/office/drawing/2014/main" id="{53BE0B01-09FE-49DF-B7EE-285511296DE6}"/>
              </a:ext>
            </a:extLst>
          </p:cNvPr>
          <p:cNvSpPr>
            <a:spLocks xmlns:a="http://schemas.openxmlformats.org/drawingml/2006/main" noGrp="1"/>
          </p:cNvSpPr>
          <p:nvPr/>
        </p:nvSpPr>
        <p:spPr>
          <a:xfrm xmlns:a="http://schemas.openxmlformats.org/drawingml/2006/main">
            <a:off x="6524625" y="4381500"/>
            <a:ext cx="76200" cy="76200"/>
          </a:xfrm>
          <a:prstGeom xmlns:a="http://schemas.openxmlformats.org/drawingml/2006/main" prst="ellipse">
            <a:avLst/>
          </a:prstGeom>
          <a:solidFill xmlns:a="http://schemas.openxmlformats.org/drawingml/2006/main">
            <a:srgbClr val="FF8278"/>
          </a:solidFill>
          <a:ln xmlns:a="http://schemas.openxmlformats.org/drawingml/2006/main" w="19050">
            <a:solidFill>
              <a:srgbClr val="FF8278"/>
            </a:solidFill>
            <a:prstDash val="solid"/>
          </a:ln>
        </p:spPr>
      </p:sp>
      <p:sp>
        <p:nvSpPr>
          <p:cNvPr id="20" name="">
            <a:extLst xmlns:a="http://schemas.openxmlformats.org/drawingml/2006/main">
              <a:ext uri="{FF2B5EF4-FFF2-40B4-BE49-F238E27FC236}">
                <a16:creationId xmlns:a16="http://schemas.microsoft.com/office/drawing/2014/main" id="{BA9CB6AC-869F-44F5-9BA9-1AB0DAA80E61}"/>
              </a:ext>
            </a:extLst>
          </p:cNvPr>
          <p:cNvSpPr>
            <a:spLocks xmlns:a="http://schemas.openxmlformats.org/drawingml/2006/main" noGrp="1"/>
          </p:cNvSpPr>
          <p:nvPr/>
        </p:nvSpPr>
        <p:spPr>
          <a:xfrm xmlns:a="http://schemas.openxmlformats.org/drawingml/2006/main">
            <a:off x="6734175" y="4286250"/>
            <a:ext cx="426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all future transitions</a:t>
            </a:r>
          </a:p>
        </p:txBody>
      </p:sp>
      <p:sp>
        <p:nvSpPr>
          <p:cNvPr id="21" name="">
            <a:extLst xmlns:a="http://schemas.openxmlformats.org/drawingml/2006/main">
              <a:ext uri="{FF2B5EF4-FFF2-40B4-BE49-F238E27FC236}">
                <a16:creationId xmlns:a16="http://schemas.microsoft.com/office/drawing/2014/main" id="{D8C29101-1A1F-4677-97B9-440F2652F65A}"/>
              </a:ext>
            </a:extLst>
          </p:cNvPr>
          <p:cNvSpPr>
            <a:spLocks xmlns:a="http://schemas.openxmlformats.org/drawingml/2006/main" noGrp="1"/>
          </p:cNvSpPr>
          <p:nvPr/>
        </p:nvSpPr>
        <p:spPr>
          <a:xfrm xmlns:a="http://schemas.openxmlformats.org/drawingml/2006/main">
            <a:off x="1581150" y="5619750"/>
            <a:ext cx="9029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FD989"/>
                </a:solidFill>
                <a:latin typeface="Segoe UI"/>
                <a:ea typeface="Segoe UI"/>
                <a:cs typeface="Segoe UI"/>
              </a:defRPr>
            </a:pPr>
            <a:r>
              <a:rPr sz="1650" b="1">
                <a:solidFill>
                  <a:srgbClr val="FFD989"/>
                </a:solidFill>
                <a:latin typeface="Segoe UI"/>
                <a:ea typeface="Segoe UI"/>
                <a:cs typeface="Segoe UI"/>
              </a:rPr>
              <a:t>Useful evidence becomes misleading only when its claim grows beyond its conditions.</a:t>
            </a:r>
          </a:p>
        </p:txBody>
      </p:sp>
    </p:spTree>
    <p:extLst>
      <p:ext uri="{BB962C8B-B14F-4D97-AF65-F5344CB8AC3E}">
        <p14:creationId xmlns:p14="http://schemas.microsoft.com/office/powerpoint/2010/main" val="1890946891"/>
      </p:ext>
    </p:extLst>
  </p:cSld>
</p:sld>
</file>

<file path=ppt/slides/slide19.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12" name="chrome-section-19">
            <a:extLst xmlns:a="http://schemas.openxmlformats.org/drawingml/2006/main">
              <a:ext uri="{FF2B5EF4-FFF2-40B4-BE49-F238E27FC236}">
                <a16:creationId xmlns:a16="http://schemas.microsoft.com/office/drawing/2014/main" id="{3DACE702-23C9-43E1-B212-7C4E82C05B02}"/>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EVALUATION · PROPORTIONATE EVIDENCE</a:t>
            </a:r>
          </a:p>
        </p:txBody>
      </p:sp>
      <p:sp>
        <p:nvSpPr>
          <p:cNvPr id="2" name="chrome-number-19">
            <a:extLst xmlns:a="http://schemas.openxmlformats.org/drawingml/2006/main">
              <a:ext uri="{FF2B5EF4-FFF2-40B4-BE49-F238E27FC236}">
                <a16:creationId xmlns:a16="http://schemas.microsoft.com/office/drawing/2014/main" id="{71C90E9E-4502-47F1-B8D6-D8230FAE18FA}"/>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19</a:t>
            </a:r>
          </a:p>
        </p:txBody>
      </p:sp>
      <p:sp>
        <p:nvSpPr>
          <p:cNvPr id="3" name="slide-title-19">
            <a:extLst xmlns:a="http://schemas.openxmlformats.org/drawingml/2006/main">
              <a:ext uri="{FF2B5EF4-FFF2-40B4-BE49-F238E27FC236}">
                <a16:creationId xmlns:a16="http://schemas.microsoft.com/office/drawing/2014/main" id="{672DC2F6-1532-4BFF-9EA6-D55691E794A5}"/>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Evidence is a portfolio</a:t>
            </a:r>
          </a:p>
        </p:txBody>
      </p:sp>
      <p:sp>
        <p:nvSpPr>
          <p:cNvPr id="4" name="title-rule-19">
            <a:extLst xmlns:a="http://schemas.openxmlformats.org/drawingml/2006/main">
              <a:ext uri="{FF2B5EF4-FFF2-40B4-BE49-F238E27FC236}">
                <a16:creationId xmlns:a16="http://schemas.microsoft.com/office/drawing/2014/main" id="{A9F3258A-C0D1-44B5-8BFF-26DB5CE601BE}"/>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19">
            <a:extLst xmlns:a="http://schemas.openxmlformats.org/drawingml/2006/main">
              <a:ext uri="{FF2B5EF4-FFF2-40B4-BE49-F238E27FC236}">
                <a16:creationId xmlns:a16="http://schemas.microsoft.com/office/drawing/2014/main" id="{3D5DECC2-1B5C-4C97-88AC-B60E65F6385D}"/>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Different techniques expose different mistakes.</a:t>
            </a:r>
          </a:p>
        </p:txBody>
      </p:sp>
      <p:sp>
        <p:nvSpPr>
          <p:cNvPr id="6" name="">
            <a:extLst xmlns:a="http://schemas.openxmlformats.org/drawingml/2006/main">
              <a:ext uri="{FF2B5EF4-FFF2-40B4-BE49-F238E27FC236}">
                <a16:creationId xmlns:a16="http://schemas.microsoft.com/office/drawing/2014/main" id="{3B730451-A117-4F30-BA4D-9209A7DDE7D9}"/>
              </a:ext>
            </a:extLst>
          </p:cNvPr>
          <p:cNvSpPr>
            <a:spLocks xmlns:a="http://schemas.openxmlformats.org/drawingml/2006/main" noGrp="1"/>
          </p:cNvSpPr>
          <p:nvPr/>
        </p:nvSpPr>
        <p:spPr>
          <a:xfrm xmlns:a="http://schemas.openxmlformats.org/drawingml/2006/main">
            <a:off x="1714500" y="2428875"/>
            <a:ext cx="8763000" cy="400050"/>
          </a:xfrm>
          <a:prstGeom xmlns:a="http://schemas.openxmlformats.org/drawingml/2006/main" prst="roundRect">
            <a:avLst>
              <a:gd name="adj" fmla="val 19048"/>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B84B"/>
                </a:solidFill>
                <a:latin typeface="Segoe UI"/>
                <a:ea typeface="Segoe UI"/>
                <a:cs typeface="Segoe UI"/>
              </a:defRPr>
            </a:pPr>
            <a:r>
              <a:rPr sz="1575" b="1">
                <a:solidFill>
                  <a:srgbClr val="F5B84B"/>
                </a:solidFill>
                <a:latin typeface="Segoe UI"/>
                <a:ea typeface="Segoe UI"/>
                <a:cs typeface="Segoe UI"/>
              </a:rPr>
              <a:t>Requirement + invariant</a:t>
            </a:r>
          </a:p>
        </p:txBody>
      </p:sp>
      <p:sp>
        <p:nvSpPr>
          <p:cNvPr id="7" name="">
            <a:extLst xmlns:a="http://schemas.openxmlformats.org/drawingml/2006/main">
              <a:ext uri="{FF2B5EF4-FFF2-40B4-BE49-F238E27FC236}">
                <a16:creationId xmlns:a16="http://schemas.microsoft.com/office/drawing/2014/main" id="{81FFC568-09F5-4F12-B306-69D903B8D165}"/>
              </a:ext>
            </a:extLst>
          </p:cNvPr>
          <p:cNvSpPr>
            <a:spLocks xmlns:a="http://schemas.openxmlformats.org/drawingml/2006/main" noGrp="1"/>
          </p:cNvSpPr>
          <p:nvPr/>
        </p:nvSpPr>
        <p:spPr>
          <a:xfrm xmlns:a="http://schemas.openxmlformats.org/drawingml/2006/main">
            <a:off x="2190750" y="3000375"/>
            <a:ext cx="7810500" cy="400050"/>
          </a:xfrm>
          <a:prstGeom xmlns:a="http://schemas.openxmlformats.org/drawingml/2006/main" prst="roundRect">
            <a:avLst>
              <a:gd name="adj" fmla="val 19048"/>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74D7FF"/>
                </a:solidFill>
                <a:latin typeface="Segoe UI"/>
                <a:ea typeface="Segoe UI"/>
                <a:cs typeface="Segoe UI"/>
              </a:defRPr>
            </a:pPr>
            <a:r>
              <a:rPr sz="1575" b="1">
                <a:solidFill>
                  <a:srgbClr val="74D7FF"/>
                </a:solidFill>
                <a:latin typeface="Segoe UI"/>
                <a:ea typeface="Segoe UI"/>
                <a:cs typeface="Segoe UI"/>
              </a:rPr>
              <a:t>Boundary examples</a:t>
            </a:r>
          </a:p>
        </p:txBody>
      </p:sp>
      <p:sp>
        <p:nvSpPr>
          <p:cNvPr id="8" name="">
            <a:extLst xmlns:a="http://schemas.openxmlformats.org/drawingml/2006/main">
              <a:ext uri="{FF2B5EF4-FFF2-40B4-BE49-F238E27FC236}">
                <a16:creationId xmlns:a16="http://schemas.microsoft.com/office/drawing/2014/main" id="{D375B2B7-A8D5-4F52-A4E1-7CF89C6EF577}"/>
              </a:ext>
            </a:extLst>
          </p:cNvPr>
          <p:cNvSpPr>
            <a:spLocks xmlns:a="http://schemas.openxmlformats.org/drawingml/2006/main" noGrp="1"/>
          </p:cNvSpPr>
          <p:nvPr/>
        </p:nvSpPr>
        <p:spPr>
          <a:xfrm xmlns:a="http://schemas.openxmlformats.org/drawingml/2006/main">
            <a:off x="2667000" y="3571875"/>
            <a:ext cx="6858000" cy="400050"/>
          </a:xfrm>
          <a:prstGeom xmlns:a="http://schemas.openxmlformats.org/drawingml/2006/main" prst="roundRect">
            <a:avLst>
              <a:gd name="adj" fmla="val 19048"/>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78F0B2"/>
                </a:solidFill>
                <a:latin typeface="Segoe UI"/>
                <a:ea typeface="Segoe UI"/>
                <a:cs typeface="Segoe UI"/>
              </a:defRPr>
            </a:pPr>
            <a:r>
              <a:rPr sz="1575" b="1">
                <a:solidFill>
                  <a:srgbClr val="78F0B2"/>
                </a:solidFill>
                <a:latin typeface="Segoe UI"/>
                <a:ea typeface="Segoe UI"/>
                <a:cs typeface="Segoe UI"/>
              </a:rPr>
              <a:t>Properties + analysis</a:t>
            </a:r>
          </a:p>
        </p:txBody>
      </p:sp>
      <p:sp>
        <p:nvSpPr>
          <p:cNvPr id="9" name="">
            <a:extLst xmlns:a="http://schemas.openxmlformats.org/drawingml/2006/main">
              <a:ext uri="{FF2B5EF4-FFF2-40B4-BE49-F238E27FC236}">
                <a16:creationId xmlns:a16="http://schemas.microsoft.com/office/drawing/2014/main" id="{C7B56D78-3B60-4011-BE9B-EF611D938D73}"/>
              </a:ext>
            </a:extLst>
          </p:cNvPr>
          <p:cNvSpPr>
            <a:spLocks xmlns:a="http://schemas.openxmlformats.org/drawingml/2006/main" noGrp="1"/>
          </p:cNvSpPr>
          <p:nvPr/>
        </p:nvSpPr>
        <p:spPr>
          <a:xfrm xmlns:a="http://schemas.openxmlformats.org/drawingml/2006/main">
            <a:off x="3143250" y="4143375"/>
            <a:ext cx="5905500" cy="400050"/>
          </a:xfrm>
          <a:prstGeom xmlns:a="http://schemas.openxmlformats.org/drawingml/2006/main" prst="roundRect">
            <a:avLst>
              <a:gd name="adj" fmla="val 19048"/>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74D7FF"/>
                </a:solidFill>
                <a:latin typeface="Segoe UI"/>
                <a:ea typeface="Segoe UI"/>
                <a:cs typeface="Segoe UI"/>
              </a:defRPr>
            </a:pPr>
            <a:r>
              <a:rPr sz="1575" b="1">
                <a:solidFill>
                  <a:srgbClr val="74D7FF"/>
                </a:solidFill>
                <a:latin typeface="Segoe UI"/>
                <a:ea typeface="Segoe UI"/>
                <a:cs typeface="Segoe UI"/>
              </a:rPr>
              <a:t>Human review</a:t>
            </a:r>
          </a:p>
        </p:txBody>
      </p:sp>
      <p:sp>
        <p:nvSpPr>
          <p:cNvPr id="10" name="">
            <a:extLst xmlns:a="http://schemas.openxmlformats.org/drawingml/2006/main">
              <a:ext uri="{FF2B5EF4-FFF2-40B4-BE49-F238E27FC236}">
                <a16:creationId xmlns:a16="http://schemas.microsoft.com/office/drawing/2014/main" id="{ED8946B9-AD5E-43D1-A491-5DF85E7ABF5F}"/>
              </a:ext>
            </a:extLst>
          </p:cNvPr>
          <p:cNvSpPr>
            <a:spLocks xmlns:a="http://schemas.openxmlformats.org/drawingml/2006/main" noGrp="1"/>
          </p:cNvSpPr>
          <p:nvPr/>
        </p:nvSpPr>
        <p:spPr>
          <a:xfrm xmlns:a="http://schemas.openxmlformats.org/drawingml/2006/main">
            <a:off x="3619500" y="4714875"/>
            <a:ext cx="4953000" cy="400050"/>
          </a:xfrm>
          <a:prstGeom xmlns:a="http://schemas.openxmlformats.org/drawingml/2006/main" prst="roundRect">
            <a:avLst>
              <a:gd name="adj" fmla="val 19048"/>
            </a:avLst>
          </a:prstGeom>
          <a:solidFill xmlns:a="http://schemas.openxmlformats.org/drawingml/2006/main">
            <a:srgbClr val="0D251E"/>
          </a:solidFill>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75" b="1">
                <a:solidFill>
                  <a:srgbClr val="F5B84B"/>
                </a:solidFill>
                <a:latin typeface="Segoe UI"/>
                <a:ea typeface="Segoe UI"/>
                <a:cs typeface="Segoe UI"/>
              </a:defRPr>
            </a:pPr>
            <a:r>
              <a:rPr sz="1575" b="1">
                <a:solidFill>
                  <a:srgbClr val="F5B84B"/>
                </a:solidFill>
                <a:latin typeface="Segoe UI"/>
                <a:ea typeface="Segoe UI"/>
                <a:cs typeface="Segoe UI"/>
              </a:rPr>
              <a:t>Relevant measurement</a:t>
            </a:r>
          </a:p>
        </p:txBody>
      </p:sp>
      <p:sp>
        <p:nvSpPr>
          <p:cNvPr id="11" name="">
            <a:extLst xmlns:a="http://schemas.openxmlformats.org/drawingml/2006/main">
              <a:ext uri="{FF2B5EF4-FFF2-40B4-BE49-F238E27FC236}">
                <a16:creationId xmlns:a16="http://schemas.microsoft.com/office/drawing/2014/main" id="{5FB8F18E-D0DA-436D-A676-56DC802E0EBC}"/>
              </a:ext>
            </a:extLst>
          </p:cNvPr>
          <p:cNvSpPr>
            <a:spLocks xmlns:a="http://schemas.openxmlformats.org/drawingml/2006/main" noGrp="1"/>
          </p:cNvSpPr>
          <p:nvPr/>
        </p:nvSpPr>
        <p:spPr>
          <a:xfrm xmlns:a="http://schemas.openxmlformats.org/drawingml/2006/main">
            <a:off x="1809750" y="5619750"/>
            <a:ext cx="857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0">
                <a:solidFill>
                  <a:srgbClr val="C6D5CF"/>
                </a:solidFill>
                <a:latin typeface="Consolas"/>
                <a:ea typeface="Consolas"/>
                <a:cs typeface="Consolas"/>
              </a:defRPr>
            </a:pPr>
            <a:r>
              <a:rPr sz="1650" b="0">
                <a:solidFill>
                  <a:srgbClr val="C6D5CF"/>
                </a:solidFill>
                <a:latin typeface="Consolas"/>
                <a:ea typeface="Consolas"/>
                <a:cs typeface="Consolas"/>
              </a:rPr>
              <a:t>this evidence supports this property under these conditions</a:t>
            </a:r>
          </a:p>
        </p:txBody>
      </p:sp>
    </p:spTree>
    <p:extLst>
      <p:ext uri="{BB962C8B-B14F-4D97-AF65-F5344CB8AC3E}">
        <p14:creationId xmlns:p14="http://schemas.microsoft.com/office/powerpoint/2010/main" val="980275664"/>
      </p:ext>
    </p:extLst>
  </p:cSld>
</p:sld>
</file>

<file path=ppt/slides/slide20.xml><?xml version="1.0" encoding="utf-8"?>
<p:sld xmlns:p="http://schemas.openxmlformats.org/presentationml/2006/main">
  <p:cSld>
    <p:bg>
      <p:bgPr>
        <a:solidFill xmlns:a="http://schemas.openxmlformats.org/drawingml/2006/main">
          <a:srgbClr val="03100D"/>
        </a:solidFill>
      </p:bgPr>
    </p:bg>
    <p:spTree>
      <p:nvGrpSpPr>
        <p:cNvPr id="1" name=""/>
        <p:cNvGrpSpPr/>
        <p:nvPr/>
      </p:nvGrpSpPr>
      <p:grpSpPr>
        <a:xfrm xmlns:a="http://schemas.openxmlformats.org/drawingml/2006/main"/>
      </p:grpSpPr>
      <p:sp>
        <p:nvSpPr>
          <p:cNvPr id="28" name="chrome-section-20">
            <a:extLst xmlns:a="http://schemas.openxmlformats.org/drawingml/2006/main">
              <a:ext uri="{FF2B5EF4-FFF2-40B4-BE49-F238E27FC236}">
                <a16:creationId xmlns:a16="http://schemas.microsoft.com/office/drawing/2014/main" id="{44BD8083-7FB5-4341-8223-514975E90CD2}"/>
              </a:ext>
            </a:extLst>
          </p:cNvPr>
          <p:cNvSpPr>
            <a:spLocks xmlns:a="http://schemas.openxmlformats.org/drawingml/2006/main" noGrp="1"/>
          </p:cNvSpPr>
          <p:nvPr/>
        </p:nvSpPr>
        <p:spPr>
          <a:xfrm xmlns:a="http://schemas.openxmlformats.org/drawingml/2006/main">
            <a:off x="4362450" y="32385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975" b="1">
                <a:solidFill>
                  <a:srgbClr val="8FA59D"/>
                </a:solidFill>
                <a:latin typeface="Consolas"/>
                <a:ea typeface="Consolas"/>
                <a:cs typeface="Consolas"/>
              </a:defRPr>
            </a:pPr>
            <a:r>
              <a:rPr sz="975" b="1">
                <a:solidFill>
                  <a:srgbClr val="8FA59D"/>
                </a:solidFill>
                <a:latin typeface="Consolas"/>
                <a:ea typeface="Consolas"/>
                <a:cs typeface="Consolas"/>
              </a:rPr>
              <a:t>RETURN TO THE PROGRAMMER</a:t>
            </a:r>
          </a:p>
        </p:txBody>
      </p:sp>
      <p:sp>
        <p:nvSpPr>
          <p:cNvPr id="2" name="chrome-number-20">
            <a:extLst xmlns:a="http://schemas.openxmlformats.org/drawingml/2006/main">
              <a:ext uri="{FF2B5EF4-FFF2-40B4-BE49-F238E27FC236}">
                <a16:creationId xmlns:a16="http://schemas.microsoft.com/office/drawing/2014/main" id="{11DE19FF-CFF2-4143-8691-80390CAF2258}"/>
              </a:ext>
            </a:extLst>
          </p:cNvPr>
          <p:cNvSpPr>
            <a:spLocks xmlns:a="http://schemas.openxmlformats.org/drawingml/2006/main" noGrp="1"/>
          </p:cNvSpPr>
          <p:nvPr/>
        </p:nvSpPr>
        <p:spPr>
          <a:xfrm xmlns:a="http://schemas.openxmlformats.org/drawingml/2006/main">
            <a:off x="10668000" y="295275"/>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74D7FF"/>
                </a:solidFill>
                <a:latin typeface="Consolas"/>
                <a:ea typeface="Consolas"/>
                <a:cs typeface="Consolas"/>
              </a:defRPr>
            </a:pPr>
            <a:r>
              <a:rPr sz="1275" b="1">
                <a:solidFill>
                  <a:srgbClr val="74D7FF"/>
                </a:solidFill>
                <a:latin typeface="Consolas"/>
                <a:ea typeface="Consolas"/>
                <a:cs typeface="Consolas"/>
              </a:rPr>
              <a:t>20</a:t>
            </a:r>
          </a:p>
        </p:txBody>
      </p:sp>
      <p:sp>
        <p:nvSpPr>
          <p:cNvPr id="3" name="slide-title-20">
            <a:extLst xmlns:a="http://schemas.openxmlformats.org/drawingml/2006/main">
              <a:ext uri="{FF2B5EF4-FFF2-40B4-BE49-F238E27FC236}">
                <a16:creationId xmlns:a16="http://schemas.microsoft.com/office/drawing/2014/main" id="{1825B40D-745E-4AF6-B2BB-F5307FA49BB8}"/>
              </a:ext>
            </a:extLst>
          </p:cNvPr>
          <p:cNvSpPr>
            <a:spLocks xmlns:a="http://schemas.openxmlformats.org/drawingml/2006/main" noGrp="1"/>
          </p:cNvSpPr>
          <p:nvPr/>
        </p:nvSpPr>
        <p:spPr>
          <a:xfrm xmlns:a="http://schemas.openxmlformats.org/drawingml/2006/main">
            <a:off x="609600" y="933450"/>
            <a:ext cx="10668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150" b="1">
                <a:solidFill>
                  <a:srgbClr val="F3FBF7"/>
                </a:solidFill>
                <a:latin typeface="Georgia"/>
                <a:ea typeface="Georgia"/>
                <a:cs typeface="Georgia"/>
              </a:defRPr>
            </a:pPr>
            <a:r>
              <a:rPr sz="3150" b="1">
                <a:solidFill>
                  <a:srgbClr val="F3FBF7"/>
                </a:solidFill>
                <a:latin typeface="Georgia"/>
                <a:ea typeface="Georgia"/>
                <a:cs typeface="Georgia"/>
              </a:rPr>
              <a:t>The seven rules after the trace</a:t>
            </a:r>
          </a:p>
        </p:txBody>
      </p:sp>
      <p:sp>
        <p:nvSpPr>
          <p:cNvPr id="4" name="title-rule-20">
            <a:extLst xmlns:a="http://schemas.openxmlformats.org/drawingml/2006/main">
              <a:ext uri="{FF2B5EF4-FFF2-40B4-BE49-F238E27FC236}">
                <a16:creationId xmlns:a16="http://schemas.microsoft.com/office/drawing/2014/main" id="{B78C0AE1-B9A8-4DF6-9788-B519125EC17A}"/>
              </a:ext>
            </a:extLst>
          </p:cNvPr>
          <p:cNvSpPr>
            <a:spLocks xmlns:a="http://schemas.openxmlformats.org/drawingml/2006/main" noGrp="1"/>
          </p:cNvSpPr>
          <p:nvPr/>
        </p:nvSpPr>
        <p:spPr>
          <a:xfrm xmlns:a="http://schemas.openxmlformats.org/drawingml/2006/main">
            <a:off x="609600" y="1695450"/>
            <a:ext cx="1257300" cy="47625"/>
          </a:xfrm>
          <a:prstGeom xmlns:a="http://schemas.openxmlformats.org/drawingml/2006/main" prst="rect">
            <a:avLst/>
          </a:prstGeom>
          <a:solidFill xmlns:a="http://schemas.openxmlformats.org/drawingml/2006/main">
            <a:srgbClr val="74D7FF"/>
          </a:solidFill>
          <a:ln xmlns:a="http://schemas.openxmlformats.org/drawingml/2006/main" w="0">
            <a:noFill/>
            <a:prstDash val="solid"/>
          </a:ln>
        </p:spPr>
      </p:sp>
      <p:sp>
        <p:nvSpPr>
          <p:cNvPr id="5" name="slide-subtitle-20">
            <a:extLst xmlns:a="http://schemas.openxmlformats.org/drawingml/2006/main">
              <a:ext uri="{FF2B5EF4-FFF2-40B4-BE49-F238E27FC236}">
                <a16:creationId xmlns:a16="http://schemas.microsoft.com/office/drawing/2014/main" id="{D9777684-152F-49F4-A83B-56DA913A6F6D}"/>
              </a:ext>
            </a:extLst>
          </p:cNvPr>
          <p:cNvSpPr>
            <a:spLocks xmlns:a="http://schemas.openxmlformats.org/drawingml/2006/main" noGrp="1"/>
          </p:cNvSpPr>
          <p:nvPr/>
        </p:nvSpPr>
        <p:spPr>
          <a:xfrm xmlns:a="http://schemas.openxmlformats.org/drawingml/2006/main">
            <a:off x="609600" y="18573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650" b="0">
                <a:solidFill>
                  <a:srgbClr val="C6D5CF"/>
                </a:solidFill>
                <a:latin typeface="Segoe UI"/>
                <a:ea typeface="Segoe UI"/>
                <a:cs typeface="Segoe UI"/>
              </a:defRPr>
            </a:pPr>
            <a:r>
              <a:rPr sz="1650" b="0">
                <a:solidFill>
                  <a:srgbClr val="C6D5CF"/>
                </a:solidFill>
                <a:latin typeface="Segoe UI"/>
                <a:ea typeface="Segoe UI"/>
                <a:cs typeface="Segoe UI"/>
              </a:rPr>
              <a:t>Responsibility remains with the programmer, whoever produced the code.</a:t>
            </a:r>
          </a:p>
        </p:txBody>
      </p:sp>
      <p:sp>
        <p:nvSpPr>
          <p:cNvPr id="6" name="">
            <a:extLst xmlns:a="http://schemas.openxmlformats.org/drawingml/2006/main">
              <a:ext uri="{FF2B5EF4-FFF2-40B4-BE49-F238E27FC236}">
                <a16:creationId xmlns:a16="http://schemas.microsoft.com/office/drawing/2014/main" id="{52412014-F992-4AEF-871B-F21E05CEFC74}"/>
              </a:ext>
            </a:extLst>
          </p:cNvPr>
          <p:cNvSpPr>
            <a:spLocks xmlns:a="http://schemas.openxmlformats.org/drawingml/2006/main" noGrp="1"/>
          </p:cNvSpPr>
          <p:nvPr/>
        </p:nvSpPr>
        <p:spPr>
          <a:xfrm xmlns:a="http://schemas.openxmlformats.org/drawingml/2006/main">
            <a:off x="781050" y="24003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1</a:t>
            </a:r>
          </a:p>
        </p:txBody>
      </p:sp>
      <p:sp>
        <p:nvSpPr>
          <p:cNvPr id="7" name="">
            <a:extLst xmlns:a="http://schemas.openxmlformats.org/drawingml/2006/main">
              <a:ext uri="{FF2B5EF4-FFF2-40B4-BE49-F238E27FC236}">
                <a16:creationId xmlns:a16="http://schemas.microsoft.com/office/drawing/2014/main" id="{8812DDC2-FF7C-4B23-B98E-F6C98DE1C5FB}"/>
              </a:ext>
            </a:extLst>
          </p:cNvPr>
          <p:cNvSpPr>
            <a:spLocks xmlns:a="http://schemas.openxmlformats.org/drawingml/2006/main" noGrp="1"/>
          </p:cNvSpPr>
          <p:nvPr/>
        </p:nvSpPr>
        <p:spPr>
          <a:xfrm xmlns:a="http://schemas.openxmlformats.org/drawingml/2006/main">
            <a:off x="1333500" y="24003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budget</a:t>
            </a:r>
          </a:p>
        </p:txBody>
      </p:sp>
      <p:sp>
        <p:nvSpPr>
          <p:cNvPr id="8" name="">
            <a:extLst xmlns:a="http://schemas.openxmlformats.org/drawingml/2006/main">
              <a:ext uri="{FF2B5EF4-FFF2-40B4-BE49-F238E27FC236}">
                <a16:creationId xmlns:a16="http://schemas.microsoft.com/office/drawing/2014/main" id="{2B78CA06-17BF-477C-BCEC-8E81F90EEDA6}"/>
              </a:ext>
            </a:extLst>
          </p:cNvPr>
          <p:cNvSpPr>
            <a:spLocks xmlns:a="http://schemas.openxmlformats.org/drawingml/2006/main" noGrp="1"/>
          </p:cNvSpPr>
          <p:nvPr/>
        </p:nvSpPr>
        <p:spPr>
          <a:xfrm xmlns:a="http://schemas.openxmlformats.org/drawingml/2006/main">
            <a:off x="3619500" y="240030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measure only a stated risk</a:t>
            </a:r>
          </a:p>
        </p:txBody>
      </p:sp>
      <p:sp>
        <p:nvSpPr>
          <p:cNvPr id="9" name="">
            <a:extLst xmlns:a="http://schemas.openxmlformats.org/drawingml/2006/main">
              <a:ext uri="{FF2B5EF4-FFF2-40B4-BE49-F238E27FC236}">
                <a16:creationId xmlns:a16="http://schemas.microsoft.com/office/drawing/2014/main" id="{0B3D2AC4-7F58-49E1-91EC-2250DC70224D}"/>
              </a:ext>
            </a:extLst>
          </p:cNvPr>
          <p:cNvSpPr>
            <a:spLocks xmlns:a="http://schemas.openxmlformats.org/drawingml/2006/main" noGrp="1"/>
          </p:cNvSpPr>
          <p:nvPr/>
        </p:nvSpPr>
        <p:spPr>
          <a:xfrm xmlns:a="http://schemas.openxmlformats.org/drawingml/2006/main">
            <a:off x="781050" y="290512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2</a:t>
            </a:r>
          </a:p>
        </p:txBody>
      </p:sp>
      <p:sp>
        <p:nvSpPr>
          <p:cNvPr id="10" name="">
            <a:extLst xmlns:a="http://schemas.openxmlformats.org/drawingml/2006/main">
              <a:ext uri="{FF2B5EF4-FFF2-40B4-BE49-F238E27FC236}">
                <a16:creationId xmlns:a16="http://schemas.microsoft.com/office/drawing/2014/main" id="{4B021679-1CFF-4116-AE23-E80B48D914F5}"/>
              </a:ext>
            </a:extLst>
          </p:cNvPr>
          <p:cNvSpPr>
            <a:spLocks xmlns:a="http://schemas.openxmlformats.org/drawingml/2006/main" noGrp="1"/>
          </p:cNvSpPr>
          <p:nvPr/>
        </p:nvSpPr>
        <p:spPr>
          <a:xfrm xmlns:a="http://schemas.openxmlformats.org/drawingml/2006/main">
            <a:off x="1333500" y="290512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state</a:t>
            </a:r>
          </a:p>
        </p:txBody>
      </p:sp>
      <p:sp>
        <p:nvSpPr>
          <p:cNvPr id="11" name="">
            <a:extLst xmlns:a="http://schemas.openxmlformats.org/drawingml/2006/main">
              <a:ext uri="{FF2B5EF4-FFF2-40B4-BE49-F238E27FC236}">
                <a16:creationId xmlns:a16="http://schemas.microsoft.com/office/drawing/2014/main" id="{E880C5A7-9775-4666-94F0-8CBAF5DD50E9}"/>
              </a:ext>
            </a:extLst>
          </p:cNvPr>
          <p:cNvSpPr>
            <a:spLocks xmlns:a="http://schemas.openxmlformats.org/drawingml/2006/main" noGrp="1"/>
          </p:cNvSpPr>
          <p:nvPr/>
        </p:nvSpPr>
        <p:spPr>
          <a:xfrm xmlns:a="http://schemas.openxmlformats.org/drawingml/2006/main">
            <a:off x="3619500" y="2905125"/>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account for every transition</a:t>
            </a:r>
          </a:p>
        </p:txBody>
      </p:sp>
      <p:sp>
        <p:nvSpPr>
          <p:cNvPr id="12" name="">
            <a:extLst xmlns:a="http://schemas.openxmlformats.org/drawingml/2006/main">
              <a:ext uri="{FF2B5EF4-FFF2-40B4-BE49-F238E27FC236}">
                <a16:creationId xmlns:a16="http://schemas.microsoft.com/office/drawing/2014/main" id="{E980C4BD-B0E5-4F8E-A977-4AF074038962}"/>
              </a:ext>
            </a:extLst>
          </p:cNvPr>
          <p:cNvSpPr>
            <a:spLocks xmlns:a="http://schemas.openxmlformats.org/drawingml/2006/main" noGrp="1"/>
          </p:cNvSpPr>
          <p:nvPr/>
        </p:nvSpPr>
        <p:spPr>
          <a:xfrm xmlns:a="http://schemas.openxmlformats.org/drawingml/2006/main">
            <a:off x="781050" y="340995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3</a:t>
            </a:r>
          </a:p>
        </p:txBody>
      </p:sp>
      <p:sp>
        <p:nvSpPr>
          <p:cNvPr id="13" name="">
            <a:extLst xmlns:a="http://schemas.openxmlformats.org/drawingml/2006/main">
              <a:ext uri="{FF2B5EF4-FFF2-40B4-BE49-F238E27FC236}">
                <a16:creationId xmlns:a16="http://schemas.microsoft.com/office/drawing/2014/main" id="{FC625F9B-9159-4F77-B737-49BA093E6F88}"/>
              </a:ext>
            </a:extLst>
          </p:cNvPr>
          <p:cNvSpPr>
            <a:spLocks xmlns:a="http://schemas.openxmlformats.org/drawingml/2006/main" noGrp="1"/>
          </p:cNvSpPr>
          <p:nvPr/>
        </p:nvSpPr>
        <p:spPr>
          <a:xfrm xmlns:a="http://schemas.openxmlformats.org/drawingml/2006/main">
            <a:off x="1333500" y="34099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evidence</a:t>
            </a:r>
          </a:p>
        </p:txBody>
      </p:sp>
      <p:sp>
        <p:nvSpPr>
          <p:cNvPr id="14" name="">
            <a:extLst xmlns:a="http://schemas.openxmlformats.org/drawingml/2006/main">
              <a:ext uri="{FF2B5EF4-FFF2-40B4-BE49-F238E27FC236}">
                <a16:creationId xmlns:a16="http://schemas.microsoft.com/office/drawing/2014/main" id="{001470D7-669A-4C21-98F7-E5EC44200E86}"/>
              </a:ext>
            </a:extLst>
          </p:cNvPr>
          <p:cNvSpPr>
            <a:spLocks xmlns:a="http://schemas.openxmlformats.org/drawingml/2006/main" noGrp="1"/>
          </p:cNvSpPr>
          <p:nvPr/>
        </p:nvSpPr>
        <p:spPr>
          <a:xfrm xmlns:a="http://schemas.openxmlformats.org/drawingml/2006/main">
            <a:off x="3619500" y="340995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keep the claim bounded</a:t>
            </a:r>
          </a:p>
        </p:txBody>
      </p:sp>
      <p:sp>
        <p:nvSpPr>
          <p:cNvPr id="15" name="">
            <a:extLst xmlns:a="http://schemas.openxmlformats.org/drawingml/2006/main">
              <a:ext uri="{FF2B5EF4-FFF2-40B4-BE49-F238E27FC236}">
                <a16:creationId xmlns:a16="http://schemas.microsoft.com/office/drawing/2014/main" id="{02F51211-0BD3-4EE8-A803-1B6BC5939150}"/>
              </a:ext>
            </a:extLst>
          </p:cNvPr>
          <p:cNvSpPr>
            <a:spLocks xmlns:a="http://schemas.openxmlformats.org/drawingml/2006/main" noGrp="1"/>
          </p:cNvSpPr>
          <p:nvPr/>
        </p:nvSpPr>
        <p:spPr>
          <a:xfrm xmlns:a="http://schemas.openxmlformats.org/drawingml/2006/main">
            <a:off x="781050" y="391477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4</a:t>
            </a:r>
          </a:p>
        </p:txBody>
      </p:sp>
      <p:sp>
        <p:nvSpPr>
          <p:cNvPr id="16" name="">
            <a:extLst xmlns:a="http://schemas.openxmlformats.org/drawingml/2006/main">
              <a:ext uri="{FF2B5EF4-FFF2-40B4-BE49-F238E27FC236}">
                <a16:creationId xmlns:a16="http://schemas.microsoft.com/office/drawing/2014/main" id="{ACB60596-83F6-4F06-B33B-5350A17E8F82}"/>
              </a:ext>
            </a:extLst>
          </p:cNvPr>
          <p:cNvSpPr>
            <a:spLocks xmlns:a="http://schemas.openxmlformats.org/drawingml/2006/main" noGrp="1"/>
          </p:cNvSpPr>
          <p:nvPr/>
        </p:nvSpPr>
        <p:spPr>
          <a:xfrm xmlns:a="http://schemas.openxmlformats.org/drawingml/2006/main">
            <a:off x="1333500" y="391477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expertise</a:t>
            </a:r>
          </a:p>
        </p:txBody>
      </p:sp>
      <p:sp>
        <p:nvSpPr>
          <p:cNvPr id="17" name="">
            <a:extLst xmlns:a="http://schemas.openxmlformats.org/drawingml/2006/main">
              <a:ext uri="{FF2B5EF4-FFF2-40B4-BE49-F238E27FC236}">
                <a16:creationId xmlns:a16="http://schemas.microsoft.com/office/drawing/2014/main" id="{4CDD456C-A34A-4C4C-9867-008C2DF71469}"/>
              </a:ext>
            </a:extLst>
          </p:cNvPr>
          <p:cNvSpPr>
            <a:spLocks xmlns:a="http://schemas.openxmlformats.org/drawingml/2006/main" noGrp="1"/>
          </p:cNvSpPr>
          <p:nvPr/>
        </p:nvSpPr>
        <p:spPr>
          <a:xfrm xmlns:a="http://schemas.openxmlformats.org/drawingml/2006/main">
            <a:off x="3619500" y="3914775"/>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rely on an understood contract</a:t>
            </a:r>
          </a:p>
        </p:txBody>
      </p:sp>
      <p:sp>
        <p:nvSpPr>
          <p:cNvPr id="18" name="">
            <a:extLst xmlns:a="http://schemas.openxmlformats.org/drawingml/2006/main">
              <a:ext uri="{FF2B5EF4-FFF2-40B4-BE49-F238E27FC236}">
                <a16:creationId xmlns:a16="http://schemas.microsoft.com/office/drawing/2014/main" id="{71101821-E9C5-44D0-8210-9F8192DC88D0}"/>
              </a:ext>
            </a:extLst>
          </p:cNvPr>
          <p:cNvSpPr>
            <a:spLocks xmlns:a="http://schemas.openxmlformats.org/drawingml/2006/main" noGrp="1"/>
          </p:cNvSpPr>
          <p:nvPr/>
        </p:nvSpPr>
        <p:spPr>
          <a:xfrm xmlns:a="http://schemas.openxmlformats.org/drawingml/2006/main">
            <a:off x="781050" y="44196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5</a:t>
            </a:r>
          </a:p>
        </p:txBody>
      </p:sp>
      <p:sp>
        <p:nvSpPr>
          <p:cNvPr id="19" name="">
            <a:extLst xmlns:a="http://schemas.openxmlformats.org/drawingml/2006/main">
              <a:ext uri="{FF2B5EF4-FFF2-40B4-BE49-F238E27FC236}">
                <a16:creationId xmlns:a16="http://schemas.microsoft.com/office/drawing/2014/main" id="{DADF0DB7-AE33-4F27-A03A-DB49BE827F21}"/>
              </a:ext>
            </a:extLst>
          </p:cNvPr>
          <p:cNvSpPr>
            <a:spLocks xmlns:a="http://schemas.openxmlformats.org/drawingml/2006/main" noGrp="1"/>
          </p:cNvSpPr>
          <p:nvPr/>
        </p:nvSpPr>
        <p:spPr>
          <a:xfrm xmlns:a="http://schemas.openxmlformats.org/drawingml/2006/main">
            <a:off x="1333500" y="44196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value</a:t>
            </a:r>
          </a:p>
        </p:txBody>
      </p:sp>
      <p:sp>
        <p:nvSpPr>
          <p:cNvPr id="20" name="">
            <a:extLst xmlns:a="http://schemas.openxmlformats.org/drawingml/2006/main">
              <a:ext uri="{FF2B5EF4-FFF2-40B4-BE49-F238E27FC236}">
                <a16:creationId xmlns:a16="http://schemas.microsoft.com/office/drawing/2014/main" id="{37EC19B5-3BE0-4903-A4F4-CBFD8E8AE8C1}"/>
              </a:ext>
            </a:extLst>
          </p:cNvPr>
          <p:cNvSpPr>
            <a:spLocks xmlns:a="http://schemas.openxmlformats.org/drawingml/2006/main" noGrp="1"/>
          </p:cNvSpPr>
          <p:nvPr/>
        </p:nvSpPr>
        <p:spPr>
          <a:xfrm xmlns:a="http://schemas.openxmlformats.org/drawingml/2006/main">
            <a:off x="3619500" y="441960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judge useful consequence</a:t>
            </a:r>
          </a:p>
        </p:txBody>
      </p:sp>
      <p:sp>
        <p:nvSpPr>
          <p:cNvPr id="21" name="">
            <a:extLst xmlns:a="http://schemas.openxmlformats.org/drawingml/2006/main">
              <a:ext uri="{FF2B5EF4-FFF2-40B4-BE49-F238E27FC236}">
                <a16:creationId xmlns:a16="http://schemas.microsoft.com/office/drawing/2014/main" id="{6EE0C3AB-2E22-478B-8B49-D485929E9470}"/>
              </a:ext>
            </a:extLst>
          </p:cNvPr>
          <p:cNvSpPr>
            <a:spLocks xmlns:a="http://schemas.openxmlformats.org/drawingml/2006/main" noGrp="1"/>
          </p:cNvSpPr>
          <p:nvPr/>
        </p:nvSpPr>
        <p:spPr>
          <a:xfrm xmlns:a="http://schemas.openxmlformats.org/drawingml/2006/main">
            <a:off x="781050" y="4924425"/>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6</a:t>
            </a:r>
          </a:p>
        </p:txBody>
      </p:sp>
      <p:sp>
        <p:nvSpPr>
          <p:cNvPr id="22" name="">
            <a:extLst xmlns:a="http://schemas.openxmlformats.org/drawingml/2006/main">
              <a:ext uri="{FF2B5EF4-FFF2-40B4-BE49-F238E27FC236}">
                <a16:creationId xmlns:a16="http://schemas.microsoft.com/office/drawing/2014/main" id="{2D318738-73A6-43FD-9921-83F90510642B}"/>
              </a:ext>
            </a:extLst>
          </p:cNvPr>
          <p:cNvSpPr>
            <a:spLocks xmlns:a="http://schemas.openxmlformats.org/drawingml/2006/main" noGrp="1"/>
          </p:cNvSpPr>
          <p:nvPr/>
        </p:nvSpPr>
        <p:spPr>
          <a:xfrm xmlns:a="http://schemas.openxmlformats.org/drawingml/2006/main">
            <a:off x="1333500" y="4924425"/>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people</a:t>
            </a:r>
          </a:p>
        </p:txBody>
      </p:sp>
      <p:sp>
        <p:nvSpPr>
          <p:cNvPr id="23" name="">
            <a:extLst xmlns:a="http://schemas.openxmlformats.org/drawingml/2006/main">
              <a:ext uri="{FF2B5EF4-FFF2-40B4-BE49-F238E27FC236}">
                <a16:creationId xmlns:a16="http://schemas.microsoft.com/office/drawing/2014/main" id="{59F03AE5-050D-4DFE-9328-38C5A72323F7}"/>
              </a:ext>
            </a:extLst>
          </p:cNvPr>
          <p:cNvSpPr>
            <a:spLocks xmlns:a="http://schemas.openxmlformats.org/drawingml/2006/main" noGrp="1"/>
          </p:cNvSpPr>
          <p:nvPr/>
        </p:nvSpPr>
        <p:spPr>
          <a:xfrm xmlns:a="http://schemas.openxmlformats.org/drawingml/2006/main">
            <a:off x="3619500" y="4924425"/>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make reasoning transferable</a:t>
            </a:r>
          </a:p>
        </p:txBody>
      </p:sp>
      <p:sp>
        <p:nvSpPr>
          <p:cNvPr id="24" name="">
            <a:extLst xmlns:a="http://schemas.openxmlformats.org/drawingml/2006/main">
              <a:ext uri="{FF2B5EF4-FFF2-40B4-BE49-F238E27FC236}">
                <a16:creationId xmlns:a16="http://schemas.microsoft.com/office/drawing/2014/main" id="{2EB02EF6-2695-45E8-8983-63355CE3A89E}"/>
              </a:ext>
            </a:extLst>
          </p:cNvPr>
          <p:cNvSpPr>
            <a:spLocks xmlns:a="http://schemas.openxmlformats.org/drawingml/2006/main" noGrp="1"/>
          </p:cNvSpPr>
          <p:nvPr/>
        </p:nvSpPr>
        <p:spPr>
          <a:xfrm xmlns:a="http://schemas.openxmlformats.org/drawingml/2006/main">
            <a:off x="781050" y="542925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650" b="1">
                <a:solidFill>
                  <a:srgbClr val="F5B84B"/>
                </a:solidFill>
                <a:latin typeface="Consolas"/>
                <a:ea typeface="Consolas"/>
                <a:cs typeface="Consolas"/>
              </a:defRPr>
            </a:pPr>
            <a:r>
              <a:rPr sz="1650" b="1">
                <a:solidFill>
                  <a:srgbClr val="F5B84B"/>
                </a:solidFill>
                <a:latin typeface="Consolas"/>
                <a:ea typeface="Consolas"/>
                <a:cs typeface="Consolas"/>
              </a:rPr>
              <a:t>7</a:t>
            </a:r>
          </a:p>
        </p:txBody>
      </p:sp>
      <p:sp>
        <p:nvSpPr>
          <p:cNvPr id="25" name="">
            <a:extLst xmlns:a="http://schemas.openxmlformats.org/drawingml/2006/main">
              <a:ext uri="{FF2B5EF4-FFF2-40B4-BE49-F238E27FC236}">
                <a16:creationId xmlns:a16="http://schemas.microsoft.com/office/drawing/2014/main" id="{27F9B056-693F-47AA-B6D8-C6CFA5E81F64}"/>
              </a:ext>
            </a:extLst>
          </p:cNvPr>
          <p:cNvSpPr>
            <a:spLocks xmlns:a="http://schemas.openxmlformats.org/drawingml/2006/main" noGrp="1"/>
          </p:cNvSpPr>
          <p:nvPr/>
        </p:nvSpPr>
        <p:spPr>
          <a:xfrm xmlns:a="http://schemas.openxmlformats.org/drawingml/2006/main">
            <a:off x="1333500" y="54292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74D7FF"/>
                </a:solidFill>
                <a:latin typeface="Consolas"/>
                <a:ea typeface="Consolas"/>
                <a:cs typeface="Consolas"/>
              </a:defRPr>
            </a:pPr>
            <a:r>
              <a:rPr sz="1500" b="1">
                <a:solidFill>
                  <a:srgbClr val="74D7FF"/>
                </a:solidFill>
                <a:latin typeface="Consolas"/>
                <a:ea typeface="Consolas"/>
                <a:cs typeface="Consolas"/>
              </a:rPr>
              <a:t>learning</a:t>
            </a:r>
          </a:p>
        </p:txBody>
      </p:sp>
      <p:sp>
        <p:nvSpPr>
          <p:cNvPr id="26" name="">
            <a:extLst xmlns:a="http://schemas.openxmlformats.org/drawingml/2006/main">
              <a:ext uri="{FF2B5EF4-FFF2-40B4-BE49-F238E27FC236}">
                <a16:creationId xmlns:a16="http://schemas.microsoft.com/office/drawing/2014/main" id="{4A9399FB-AEE8-465F-8DA9-89BD962BB747}"/>
              </a:ext>
            </a:extLst>
          </p:cNvPr>
          <p:cNvSpPr>
            <a:spLocks xmlns:a="http://schemas.openxmlformats.org/drawingml/2006/main" noGrp="1"/>
          </p:cNvSpPr>
          <p:nvPr/>
        </p:nvSpPr>
        <p:spPr>
          <a:xfrm xmlns:a="http://schemas.openxmlformats.org/drawingml/2006/main">
            <a:off x="3619500" y="542925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C6D5CF"/>
                </a:solidFill>
                <a:latin typeface="Segoe UI"/>
                <a:ea typeface="Segoe UI"/>
                <a:cs typeface="Segoe UI"/>
              </a:defRPr>
            </a:pPr>
            <a:r>
              <a:rPr sz="1500" b="0">
                <a:solidFill>
                  <a:srgbClr val="C6D5CF"/>
                </a:solidFill>
                <a:latin typeface="Segoe UI"/>
                <a:ea typeface="Segoe UI"/>
                <a:cs typeface="Segoe UI"/>
              </a:rPr>
              <a:t>revise the model honestly</a:t>
            </a:r>
          </a:p>
        </p:txBody>
      </p:sp>
      <p:sp>
        <p:nvSpPr>
          <p:cNvPr id="27" name="">
            <a:extLst xmlns:a="http://schemas.openxmlformats.org/drawingml/2006/main">
              <a:ext uri="{FF2B5EF4-FFF2-40B4-BE49-F238E27FC236}">
                <a16:creationId xmlns:a16="http://schemas.microsoft.com/office/drawing/2014/main" id="{9CF43FD9-BCE3-48D2-93EF-C7235801900A}"/>
              </a:ext>
            </a:extLst>
          </p:cNvPr>
          <p:cNvSpPr>
            <a:spLocks xmlns:a="http://schemas.openxmlformats.org/drawingml/2006/main" noGrp="1"/>
          </p:cNvSpPr>
          <p:nvPr/>
        </p:nvSpPr>
        <p:spPr>
          <a:xfrm xmlns:a="http://schemas.openxmlformats.org/drawingml/2006/main">
            <a:off x="2381250" y="5772150"/>
            <a:ext cx="742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725" b="1">
                <a:solidFill>
                  <a:srgbClr val="FFD989"/>
                </a:solidFill>
                <a:latin typeface="Consolas"/>
                <a:ea typeface="Consolas"/>
                <a:cs typeface="Consolas"/>
              </a:defRPr>
            </a:pPr>
            <a:r>
              <a:rPr sz="1725" b="1">
                <a:solidFill>
                  <a:srgbClr val="FFD989"/>
                </a:solidFill>
                <a:latin typeface="Consolas"/>
                <a:ea typeface="Consolas"/>
                <a:cs typeface="Consolas"/>
              </a:rPr>
              <a:t>Library · colleague · AI → implementation proposal</a:t>
            </a:r>
          </a:p>
        </p:txBody>
      </p:sp>
    </p:spTree>
    <p:extLst>
      <p:ext uri="{BB962C8B-B14F-4D97-AF65-F5344CB8AC3E}">
        <p14:creationId xmlns:p14="http://schemas.microsoft.com/office/powerpoint/2010/main" val="1627171923"/>
      </p:ext>
    </p:extLst>
  </p:cSld>
</p:sld>
</file>

<file path=ppt/slides/slide21.xml><?xml version="1.0" encoding="utf-8"?>
<p:sld xmlns:p="http://schemas.openxmlformats.org/presentationml/2006/main">
  <p:cSld>
    <p:bg>
      <p:bgPr>
        <a:solidFill xmlns:a="http://schemas.openxmlformats.org/drawingml/2006/main">
          <a:srgbClr val="020806"/>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46c30dd196c646e8"/>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16D557-8CAE-4EC7-8C4E-516C3B31C5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20806"/>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730581-83B7-43BC-BB9F-094C6DECCADA}"/>
              </a:ext>
            </a:extLst>
          </p:cNvPr>
          <p:cNvSpPr>
            <a:spLocks xmlns:a="http://schemas.openxmlformats.org/drawingml/2006/main" noGrp="1"/>
          </p:cNvSpPr>
          <p:nvPr/>
        </p:nvSpPr>
        <p:spPr>
          <a:xfrm xmlns:a="http://schemas.openxmlformats.org/drawingml/2006/main">
            <a:off x="685800" y="5238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200" b="1">
                <a:solidFill>
                  <a:srgbClr val="F5B84B"/>
                </a:solidFill>
                <a:latin typeface="Consolas"/>
                <a:ea typeface="Consolas"/>
                <a:cs typeface="Consolas"/>
              </a:defRPr>
            </a:pPr>
            <a:r>
              <a:rPr sz="1200" b="1">
                <a:solidFill>
                  <a:srgbClr val="F5B84B"/>
                </a:solidFill>
                <a:latin typeface="Consolas"/>
                <a:ea typeface="Consolas"/>
                <a:cs typeface="Consolas"/>
              </a:rPr>
              <a:t>YOUR TURN</a:t>
            </a:r>
          </a:p>
        </p:txBody>
      </p:sp>
      <p:sp>
        <p:nvSpPr>
          <p:cNvPr id="4" name="">
            <a:extLst xmlns:a="http://schemas.openxmlformats.org/drawingml/2006/main">
              <a:ext uri="{FF2B5EF4-FFF2-40B4-BE49-F238E27FC236}">
                <a16:creationId xmlns:a16="http://schemas.microsoft.com/office/drawing/2014/main" id="{6B36A27F-CD80-42EB-B6A1-5E343B943618}"/>
              </a:ext>
            </a:extLst>
          </p:cNvPr>
          <p:cNvSpPr>
            <a:spLocks xmlns:a="http://schemas.openxmlformats.org/drawingml/2006/main" noGrp="1"/>
          </p:cNvSpPr>
          <p:nvPr/>
        </p:nvSpPr>
        <p:spPr>
          <a:xfrm xmlns:a="http://schemas.openxmlformats.org/drawingml/2006/main">
            <a:off x="685800" y="1066800"/>
            <a:ext cx="714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900" b="1">
                <a:solidFill>
                  <a:srgbClr val="F3FBF7"/>
                </a:solidFill>
                <a:latin typeface="Georgia"/>
                <a:ea typeface="Georgia"/>
                <a:cs typeface="Georgia"/>
              </a:defRPr>
            </a:pPr>
            <a:r>
              <a:rPr sz="3900" b="1">
                <a:solidFill>
                  <a:srgbClr val="F3FBF7"/>
                </a:solidFill>
                <a:latin typeface="Georgia"/>
                <a:ea typeface="Georgia"/>
                <a:cs typeface="Georgia"/>
              </a:rPr>
              <a:t>Account for the state</a:t>
            </a:r>
          </a:p>
        </p:txBody>
      </p:sp>
      <p:sp>
        <p:nvSpPr>
          <p:cNvPr id="5" name="">
            <a:extLst xmlns:a="http://schemas.openxmlformats.org/drawingml/2006/main">
              <a:ext uri="{FF2B5EF4-FFF2-40B4-BE49-F238E27FC236}">
                <a16:creationId xmlns:a16="http://schemas.microsoft.com/office/drawing/2014/main" id="{BC01DB4A-739B-46B5-AF66-74E1056EF54B}"/>
              </a:ext>
            </a:extLst>
          </p:cNvPr>
          <p:cNvSpPr>
            <a:spLocks xmlns:a="http://schemas.openxmlformats.org/drawingml/2006/main" noGrp="1"/>
          </p:cNvSpPr>
          <p:nvPr/>
        </p:nvSpPr>
        <p:spPr>
          <a:xfrm xmlns:a="http://schemas.openxmlformats.org/drawingml/2006/main">
            <a:off x="685800" y="2238375"/>
            <a:ext cx="4953000" cy="590550"/>
          </a:xfrm>
          <a:prstGeom xmlns:a="http://schemas.openxmlformats.org/drawingml/2006/main" prst="roundRect">
            <a:avLst>
              <a:gd name="adj" fmla="val 19355"/>
            </a:avLst>
          </a:prstGeom>
          <a:solidFill xmlns:a="http://schemas.openxmlformats.org/drawingml/2006/main">
            <a:srgbClr val="081B17"/>
          </a:solidFill>
          <a:ln xmlns:a="http://schemas.openxmlformats.org/drawingml/2006/main" w="0">
            <a:noFill/>
            <a:prstDash val="solid"/>
          </a:ln>
        </p:spPr>
        <p:txBody>
          <a:bodyPr xmlns:a="http://schemas.openxmlformats.org/drawingml/2006/main" wrap="square" lIns="152400" tIns="133350" rIns="152400" bIns="95250" anchor="t">
            <a:normAutofit fontScale="92174"/>
          </a:bodyPr>
          <a:lstStyle xmlns:a="http://schemas.openxmlformats.org/drawingml/2006/main"/>
          <a:p xmlns:a="http://schemas.openxmlformats.org/drawingml/2006/main">
            <a:pPr algn="l">
              <a:lnSpc>
                <a:spcPct val="100000"/>
              </a:lnSpc>
              <a:buNone/>
              <a:defRPr sz="2100" b="1">
                <a:solidFill>
                  <a:srgbClr val="74D7FF"/>
                </a:solidFill>
                <a:latin typeface="Consolas"/>
                <a:ea typeface="Consolas"/>
                <a:cs typeface="Consolas"/>
              </a:defRPr>
            </a:pPr>
            <a:r>
              <a:rPr sz="2100" b="1">
                <a:solidFill>
                  <a:srgbClr val="74D7FF"/>
                </a:solidFill>
                <a:latin typeface="Consolas"/>
                <a:ea typeface="Consolas"/>
                <a:cs typeface="Consolas"/>
              </a:rPr>
              <a:t>struct Health { int points; };</a:t>
            </a:r>
          </a:p>
        </p:txBody>
      </p:sp>
      <p:sp>
        <p:nvSpPr>
          <p:cNvPr id="6" name="">
            <a:extLst xmlns:a="http://schemas.openxmlformats.org/drawingml/2006/main">
              <a:ext uri="{FF2B5EF4-FFF2-40B4-BE49-F238E27FC236}">
                <a16:creationId xmlns:a16="http://schemas.microsoft.com/office/drawing/2014/main" id="{2A99BF71-792D-4506-BF05-046B9F9C6924}"/>
              </a:ext>
            </a:extLst>
          </p:cNvPr>
          <p:cNvSpPr>
            <a:spLocks xmlns:a="http://schemas.openxmlformats.org/drawingml/2006/main" noGrp="1"/>
          </p:cNvSpPr>
          <p:nvPr/>
        </p:nvSpPr>
        <p:spPr>
          <a:xfrm xmlns:a="http://schemas.openxmlformats.org/drawingml/2006/main">
            <a:off x="7239000" y="20764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F5B84B"/>
                </a:solidFill>
                <a:latin typeface="Consolas"/>
                <a:ea typeface="Consolas"/>
                <a:cs typeface="Consolas"/>
              </a:defRPr>
            </a:pPr>
            <a:r>
              <a:rPr sz="1875" b="1">
                <a:solidFill>
                  <a:srgbClr val="F5B84B"/>
                </a:solidFill>
                <a:latin typeface="Consolas"/>
                <a:ea typeface="Consolas"/>
                <a:cs typeface="Consolas"/>
              </a:rPr>
              <a:t>1</a:t>
            </a:r>
          </a:p>
        </p:txBody>
      </p:sp>
      <p:sp>
        <p:nvSpPr>
          <p:cNvPr id="7" name="">
            <a:extLst xmlns:a="http://schemas.openxmlformats.org/drawingml/2006/main">
              <a:ext uri="{FF2B5EF4-FFF2-40B4-BE49-F238E27FC236}">
                <a16:creationId xmlns:a16="http://schemas.microsoft.com/office/drawing/2014/main" id="{2B2A4B17-8AAA-4C9E-890E-304BEBFEF2F6}"/>
              </a:ext>
            </a:extLst>
          </p:cNvPr>
          <p:cNvSpPr>
            <a:spLocks xmlns:a="http://schemas.openxmlformats.org/drawingml/2006/main" noGrp="1"/>
          </p:cNvSpPr>
          <p:nvPr/>
        </p:nvSpPr>
        <p:spPr>
          <a:xfrm xmlns:a="http://schemas.openxmlformats.org/drawingml/2006/main">
            <a:off x="7848600" y="20764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3FBF7"/>
                </a:solidFill>
                <a:latin typeface="Segoe UI"/>
                <a:ea typeface="Segoe UI"/>
                <a:cs typeface="Segoe UI"/>
              </a:defRPr>
            </a:pPr>
            <a:r>
              <a:rPr sz="1800" b="0">
                <a:solidFill>
                  <a:srgbClr val="F3FBF7"/>
                </a:solidFill>
                <a:latin typeface="Segoe UI"/>
                <a:ea typeface="Segoe UI"/>
                <a:cs typeface="Segoe UI"/>
              </a:rPr>
              <a:t>valid-state rule</a:t>
            </a:r>
          </a:p>
        </p:txBody>
      </p:sp>
      <p:sp>
        <p:nvSpPr>
          <p:cNvPr id="8" name="">
            <a:extLst xmlns:a="http://schemas.openxmlformats.org/drawingml/2006/main">
              <a:ext uri="{FF2B5EF4-FFF2-40B4-BE49-F238E27FC236}">
                <a16:creationId xmlns:a16="http://schemas.microsoft.com/office/drawing/2014/main" id="{AF599919-88F2-458A-9F82-3938B78BD3D8}"/>
              </a:ext>
            </a:extLst>
          </p:cNvPr>
          <p:cNvSpPr>
            <a:spLocks xmlns:a="http://schemas.openxmlformats.org/drawingml/2006/main" noGrp="1"/>
          </p:cNvSpPr>
          <p:nvPr/>
        </p:nvSpPr>
        <p:spPr>
          <a:xfrm xmlns:a="http://schemas.openxmlformats.org/drawingml/2006/main">
            <a:off x="7239000" y="28575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F5B84B"/>
                </a:solidFill>
                <a:latin typeface="Consolas"/>
                <a:ea typeface="Consolas"/>
                <a:cs typeface="Consolas"/>
              </a:defRPr>
            </a:pPr>
            <a:r>
              <a:rPr sz="1875" b="1">
                <a:solidFill>
                  <a:srgbClr val="F5B84B"/>
                </a:solidFill>
                <a:latin typeface="Consolas"/>
                <a:ea typeface="Consolas"/>
                <a:cs typeface="Consolas"/>
              </a:rPr>
              <a:t>2</a:t>
            </a:r>
          </a:p>
        </p:txBody>
      </p:sp>
      <p:sp>
        <p:nvSpPr>
          <p:cNvPr id="9" name="">
            <a:extLst xmlns:a="http://schemas.openxmlformats.org/drawingml/2006/main">
              <a:ext uri="{FF2B5EF4-FFF2-40B4-BE49-F238E27FC236}">
                <a16:creationId xmlns:a16="http://schemas.microsoft.com/office/drawing/2014/main" id="{30855DF3-1779-4D53-BACE-07FC6DDFCBE7}"/>
              </a:ext>
            </a:extLst>
          </p:cNvPr>
          <p:cNvSpPr>
            <a:spLocks xmlns:a="http://schemas.openxmlformats.org/drawingml/2006/main" noGrp="1"/>
          </p:cNvSpPr>
          <p:nvPr/>
        </p:nvSpPr>
        <p:spPr>
          <a:xfrm xmlns:a="http://schemas.openxmlformats.org/drawingml/2006/main">
            <a:off x="7848600" y="28575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3FBF7"/>
                </a:solidFill>
                <a:latin typeface="Segoe UI"/>
                <a:ea typeface="Segoe UI"/>
                <a:cs typeface="Segoe UI"/>
              </a:defRPr>
            </a:pPr>
            <a:r>
              <a:rPr sz="1800" b="0">
                <a:solidFill>
                  <a:srgbClr val="F3FBF7"/>
                </a:solidFill>
                <a:latin typeface="Segoe UI"/>
                <a:ea typeface="Segoe UI"/>
                <a:cs typeface="Segoe UI"/>
              </a:rPr>
              <a:t>permitted transitions</a:t>
            </a:r>
          </a:p>
        </p:txBody>
      </p:sp>
      <p:sp>
        <p:nvSpPr>
          <p:cNvPr id="10" name="">
            <a:extLst xmlns:a="http://schemas.openxmlformats.org/drawingml/2006/main">
              <a:ext uri="{FF2B5EF4-FFF2-40B4-BE49-F238E27FC236}">
                <a16:creationId xmlns:a16="http://schemas.microsoft.com/office/drawing/2014/main" id="{BA9078CF-D1F7-4FF4-AEE3-BD7C8E9F3316}"/>
              </a:ext>
            </a:extLst>
          </p:cNvPr>
          <p:cNvSpPr>
            <a:spLocks xmlns:a="http://schemas.openxmlformats.org/drawingml/2006/main" noGrp="1"/>
          </p:cNvSpPr>
          <p:nvPr/>
        </p:nvSpPr>
        <p:spPr>
          <a:xfrm xmlns:a="http://schemas.openxmlformats.org/drawingml/2006/main">
            <a:off x="7239000" y="363855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F5B84B"/>
                </a:solidFill>
                <a:latin typeface="Consolas"/>
                <a:ea typeface="Consolas"/>
                <a:cs typeface="Consolas"/>
              </a:defRPr>
            </a:pPr>
            <a:r>
              <a:rPr sz="1875" b="1">
                <a:solidFill>
                  <a:srgbClr val="F5B84B"/>
                </a:solidFill>
                <a:latin typeface="Consolas"/>
                <a:ea typeface="Consolas"/>
                <a:cs typeface="Consolas"/>
              </a:rPr>
              <a:t>3</a:t>
            </a:r>
          </a:p>
        </p:txBody>
      </p:sp>
      <p:sp>
        <p:nvSpPr>
          <p:cNvPr id="11" name="">
            <a:extLst xmlns:a="http://schemas.openxmlformats.org/drawingml/2006/main">
              <a:ext uri="{FF2B5EF4-FFF2-40B4-BE49-F238E27FC236}">
                <a16:creationId xmlns:a16="http://schemas.microsoft.com/office/drawing/2014/main" id="{A069A4EB-9793-446D-A399-FC3B9B1794EB}"/>
              </a:ext>
            </a:extLst>
          </p:cNvPr>
          <p:cNvSpPr>
            <a:spLocks xmlns:a="http://schemas.openxmlformats.org/drawingml/2006/main" noGrp="1"/>
          </p:cNvSpPr>
          <p:nvPr/>
        </p:nvSpPr>
        <p:spPr>
          <a:xfrm xmlns:a="http://schemas.openxmlformats.org/drawingml/2006/main">
            <a:off x="7848600" y="363855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3FBF7"/>
                </a:solidFill>
                <a:latin typeface="Segoe UI"/>
                <a:ea typeface="Segoe UI"/>
                <a:cs typeface="Segoe UI"/>
              </a:defRPr>
            </a:pPr>
            <a:r>
              <a:rPr sz="1800" b="0">
                <a:solidFill>
                  <a:srgbClr val="F3FBF7"/>
                </a:solidFill>
                <a:latin typeface="Segoe UI"/>
                <a:ea typeface="Segoe UI"/>
                <a:cs typeface="Segoe UI"/>
              </a:rPr>
              <a:t>responsible component</a:t>
            </a:r>
          </a:p>
        </p:txBody>
      </p:sp>
      <p:sp>
        <p:nvSpPr>
          <p:cNvPr id="12" name="">
            <a:extLst xmlns:a="http://schemas.openxmlformats.org/drawingml/2006/main">
              <a:ext uri="{FF2B5EF4-FFF2-40B4-BE49-F238E27FC236}">
                <a16:creationId xmlns:a16="http://schemas.microsoft.com/office/drawing/2014/main" id="{5680D5B1-AC72-4632-9861-DDD581831375}"/>
              </a:ext>
            </a:extLst>
          </p:cNvPr>
          <p:cNvSpPr>
            <a:spLocks xmlns:a="http://schemas.openxmlformats.org/drawingml/2006/main" noGrp="1"/>
          </p:cNvSpPr>
          <p:nvPr/>
        </p:nvSpPr>
        <p:spPr>
          <a:xfrm xmlns:a="http://schemas.openxmlformats.org/drawingml/2006/main">
            <a:off x="7239000" y="44196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0000"/>
              </a:lnSpc>
              <a:buNone/>
              <a:defRPr sz="1875" b="1">
                <a:solidFill>
                  <a:srgbClr val="F5B84B"/>
                </a:solidFill>
                <a:latin typeface="Consolas"/>
                <a:ea typeface="Consolas"/>
                <a:cs typeface="Consolas"/>
              </a:defRPr>
            </a:pPr>
            <a:r>
              <a:rPr sz="1875" b="1">
                <a:solidFill>
                  <a:srgbClr val="F5B84B"/>
                </a:solidFill>
                <a:latin typeface="Consolas"/>
                <a:ea typeface="Consolas"/>
                <a:cs typeface="Consolas"/>
              </a:rPr>
              <a:t>4</a:t>
            </a:r>
          </a:p>
        </p:txBody>
      </p:sp>
      <p:sp>
        <p:nvSpPr>
          <p:cNvPr id="13" name="">
            <a:extLst xmlns:a="http://schemas.openxmlformats.org/drawingml/2006/main">
              <a:ext uri="{FF2B5EF4-FFF2-40B4-BE49-F238E27FC236}">
                <a16:creationId xmlns:a16="http://schemas.microsoft.com/office/drawing/2014/main" id="{1E0FB7CC-0441-4D4D-BD71-5D77B2190D77}"/>
              </a:ext>
            </a:extLst>
          </p:cNvPr>
          <p:cNvSpPr>
            <a:spLocks xmlns:a="http://schemas.openxmlformats.org/drawingml/2006/main" noGrp="1"/>
          </p:cNvSpPr>
          <p:nvPr/>
        </p:nvSpPr>
        <p:spPr>
          <a:xfrm xmlns:a="http://schemas.openxmlformats.org/drawingml/2006/main">
            <a:off x="7848600" y="4419600"/>
            <a:ext cx="342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00" b="0">
                <a:solidFill>
                  <a:srgbClr val="F3FBF7"/>
                </a:solidFill>
                <a:latin typeface="Segoe UI"/>
                <a:ea typeface="Segoe UI"/>
                <a:cs typeface="Segoe UI"/>
              </a:defRPr>
            </a:pPr>
            <a:r>
              <a:rPr sz="1800" b="0">
                <a:solidFill>
                  <a:srgbClr val="F3FBF7"/>
                </a:solidFill>
                <a:latin typeface="Segoe UI"/>
                <a:ea typeface="Segoe UI"/>
                <a:cs typeface="Segoe UI"/>
              </a:rPr>
              <a:t>evidence that challenges it</a:t>
            </a:r>
          </a:p>
        </p:txBody>
      </p:sp>
      <p:sp>
        <p:nvSpPr>
          <p:cNvPr id="14" name="">
            <a:extLst xmlns:a="http://schemas.openxmlformats.org/drawingml/2006/main">
              <a:ext uri="{FF2B5EF4-FFF2-40B4-BE49-F238E27FC236}">
                <a16:creationId xmlns:a16="http://schemas.microsoft.com/office/drawing/2014/main" id="{D3A6EBA3-2EA7-4C9B-975E-7CF7CF63490B}"/>
              </a:ext>
            </a:extLst>
          </p:cNvPr>
          <p:cNvSpPr>
            <a:spLocks xmlns:a="http://schemas.openxmlformats.org/drawingml/2006/main" noGrp="1"/>
          </p:cNvSpPr>
          <p:nvPr/>
        </p:nvSpPr>
        <p:spPr>
          <a:xfrm xmlns:a="http://schemas.openxmlformats.org/drawingml/2006/main">
            <a:off x="685800" y="4953000"/>
            <a:ext cx="4953000" cy="9525"/>
          </a:xfrm>
          <a:prstGeom xmlns:a="http://schemas.openxmlformats.org/drawingml/2006/main" prst="line">
            <a:avLst/>
          </a:prstGeom>
          <a:noFill xmlns:a="http://schemas.openxmlformats.org/drawingml/2006/main"/>
          <a:ln xmlns:a="http://schemas.openxmlformats.org/drawingml/2006/main" w="19050">
            <a:solidFill>
              <a:srgbClr val="31564B"/>
            </a:solidFill>
            <a:prstDash val="solid"/>
          </a:ln>
        </p:spPr>
      </p:sp>
      <p:sp>
        <p:nvSpPr>
          <p:cNvPr id="15" name="">
            <a:extLst xmlns:a="http://schemas.openxmlformats.org/drawingml/2006/main">
              <a:ext uri="{FF2B5EF4-FFF2-40B4-BE49-F238E27FC236}">
                <a16:creationId xmlns:a16="http://schemas.microsoft.com/office/drawing/2014/main" id="{CD501ED8-E131-4EEE-B198-7AE9594638E0}"/>
              </a:ext>
            </a:extLst>
          </p:cNvPr>
          <p:cNvSpPr>
            <a:spLocks xmlns:a="http://schemas.openxmlformats.org/drawingml/2006/main" noGrp="1"/>
          </p:cNvSpPr>
          <p:nvPr/>
        </p:nvSpPr>
        <p:spPr>
          <a:xfrm xmlns:a="http://schemas.openxmlformats.org/drawingml/2006/main">
            <a:off x="685800" y="529590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875" b="1">
                <a:solidFill>
                  <a:srgbClr val="FFD989"/>
                </a:solidFill>
                <a:latin typeface="Georgia"/>
                <a:ea typeface="Georgia"/>
                <a:cs typeface="Georgia"/>
              </a:defRPr>
            </a:pPr>
            <a:r>
              <a:rPr sz="1875" b="1">
                <a:solidFill>
                  <a:srgbClr val="FFD989"/>
                </a:solidFill>
                <a:latin typeface="Georgia"/>
                <a:ea typeface="Georgia"/>
                <a:cs typeface="Georgia"/>
              </a:rPr>
              <a:t>NEXT: What, precisely, is a variable remembering?</a:t>
            </a:r>
          </a:p>
        </p:txBody>
      </p:sp>
      <p:sp>
        <p:nvSpPr>
          <p:cNvPr id="16" name="">
            <a:extLst xmlns:a="http://schemas.openxmlformats.org/drawingml/2006/main">
              <a:ext uri="{FF2B5EF4-FFF2-40B4-BE49-F238E27FC236}">
                <a16:creationId xmlns:a16="http://schemas.microsoft.com/office/drawing/2014/main" id="{402534EB-B6FF-476F-B9A1-EC83F059BA58}"/>
              </a:ext>
            </a:extLst>
          </p:cNvPr>
          <p:cNvSpPr>
            <a:spLocks xmlns:a="http://schemas.openxmlformats.org/drawingml/2006/main" noGrp="1"/>
          </p:cNvSpPr>
          <p:nvPr/>
        </p:nvSpPr>
        <p:spPr>
          <a:xfrm xmlns:a="http://schemas.openxmlformats.org/drawingml/2006/main">
            <a:off x="685800" y="62484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050" b="1">
                <a:solidFill>
                  <a:srgbClr val="8FA59D"/>
                </a:solidFill>
                <a:latin typeface="Consolas"/>
                <a:ea typeface="Consolas"/>
                <a:cs typeface="Consolas"/>
              </a:defRPr>
            </a:pPr>
            <a:r>
              <a:rPr sz="1050" b="1">
                <a:solidFill>
                  <a:srgbClr val="8FA59D"/>
                </a:solidFill>
                <a:latin typeface="Consolas"/>
                <a:ea typeface="Consolas"/>
                <a:cs typeface="Consolas"/>
              </a:rPr>
              <a:t>C++ PROGRAMMING  ·  LECTURE 02</a:t>
            </a:r>
          </a:p>
        </p:txBody>
      </p:sp>
    </p:spTree>
    <p:extLst>
      <p:ext uri="{BB962C8B-B14F-4D97-AF65-F5344CB8AC3E}">
        <p14:creationId xmlns:p14="http://schemas.microsoft.com/office/powerpoint/2010/main" val="1653772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2026-08-15T10:06:01.3020000Z</dcterms:created>
  <dcterms:modified xsi:type="dcterms:W3CDTF">2026-08-15T10:06:01.3020000Z</dcterms:modified>
</coreProperties>
</file>